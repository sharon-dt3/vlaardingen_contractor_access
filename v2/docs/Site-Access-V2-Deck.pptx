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2 is a simpler second version of the site access demo. It answers one requirement from Renewi: the contractor must confirm that they have read and understood the life-saving rules before entering the site, and the site must be able to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manual paperwork for registering people who need site access. Version 2 automates it. The specific requirement is that a person confirms they read and understood the life-saving rules before entering, and the site can see that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invitation flow from version 1 is untouched. Version 2 adds the confirmation step to it and adds Path B for people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published diagram redrawn as slide shapes. Colours show who acts: green is Renewi staff, purple is the person, grey is the system, amber is the gate officer. The interactive version is at claude.ai/artifact/RzmApJZf5CuuPEyYRcVRaL.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A is the version 1 invitation flow. The only addition in version 2 is step 3, where the person confirms the life-saving rules, and a check at the approval step that the confirmation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entrance sign identifies the site only, never a person. Nothing is stored as a person until the email code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limits protect the public registration page from abuse. The secret in the QR is never stored in readable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requirement: the entry and exit validity of a QR is set by an administrator and adjustable, not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picture holds for both paths: an administrator sets the validity, the QR carries an entry and exit time, and the gate enforces both. After entry, both paths feed the same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gate operators and system administrators can use the kiosk. Every refusal is stored with who, when and why, whether the system or the officer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trail is the evidence that the site can see the confirmation before allowing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the real dashboard shows the actual numbers for each path. This slide shows its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text in the demo is sample wording. Renewi must supply the approved wording, including a legal review of the Dutch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decisions for Renewi rather than code gaps. The public entrance page would also need hosting on a real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3B3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aude.ai/artifact/RzmApJZf5CuuPEyYRcVRaL" TargetMode="Externa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71600"/>
            <a:ext cx="10058400" cy="365760"/>
          </a:xfrm>
          <a:prstGeom prst="rect">
            <a:avLst/>
          </a:prstGeom>
          <a:noFill/>
          <a:ln/>
        </p:spPr>
        <p:txBody>
          <a:bodyPr wrap="square" lIns="0" tIns="0" rIns="0" bIns="0" rtlCol="0" anchor="ctr"/>
          <a:lstStyle/>
          <a:p>
            <a:pPr indent="0" marL="0">
              <a:buNone/>
            </a:pPr>
            <a:r>
              <a:rPr lang="en-US" sz="1600" b="1" spc="400" kern="0" dirty="0">
                <a:solidFill>
                  <a:srgbClr val="9ACFC1"/>
                </a:solidFill>
                <a:latin typeface="Calibri" pitchFamily="34" charset="0"/>
                <a:ea typeface="Calibri" pitchFamily="34" charset="-122"/>
                <a:cs typeface="Calibri" pitchFamily="34" charset="-120"/>
              </a:rPr>
              <a:t>RENEWI · VLAARDINGEN PILOT</a:t>
            </a:r>
            <a:endParaRPr lang="en-US" sz="1600" dirty="0"/>
          </a:p>
        </p:txBody>
      </p:sp>
      <p:sp>
        <p:nvSpPr>
          <p:cNvPr id="3" name="Text 1"/>
          <p:cNvSpPr txBox="1"/>
          <p:nvPr/>
        </p:nvSpPr>
        <p:spPr>
          <a:xfrm>
            <a:off x="731520" y="1828800"/>
            <a:ext cx="1078992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Contractor &amp; Visitor Site Access</a:t>
            </a:r>
            <a:endParaRPr lang="en-US" sz="4800" dirty="0"/>
          </a:p>
        </p:txBody>
      </p:sp>
      <p:sp>
        <p:nvSpPr>
          <p:cNvPr id="4" name="Text 2"/>
          <p:cNvSpPr txBox="1"/>
          <p:nvPr/>
        </p:nvSpPr>
        <p:spPr>
          <a:xfrm>
            <a:off x="731520" y="3108960"/>
            <a:ext cx="4572000" cy="365760"/>
          </a:xfrm>
          <a:prstGeom prst="rect">
            <a:avLst/>
          </a:prstGeom>
          <a:noFill/>
          <a:ln/>
        </p:spPr>
        <p:txBody>
          <a:bodyPr wrap="square" lIns="0" tIns="0" rIns="0" bIns="0" rtlCol="0" anchor="ctr"/>
          <a:lstStyle/>
          <a:p>
            <a:pPr indent="0" marL="0">
              <a:buNone/>
            </a:pPr>
            <a:r>
              <a:rPr lang="en-US" sz="1800" dirty="0">
                <a:solidFill>
                  <a:srgbClr val="9ACFC1"/>
                </a:solidFill>
                <a:latin typeface="Calibri" pitchFamily="34" charset="0"/>
                <a:ea typeface="Calibri" pitchFamily="34" charset="-122"/>
                <a:cs typeface="Calibri" pitchFamily="34" charset="-120"/>
              </a:rPr>
              <a:t>DigitalT3</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problem we are solving</a:t>
            </a:r>
            <a:endParaRPr lang="en-US" sz="3200" dirty="0"/>
          </a:p>
        </p:txBody>
      </p:sp>
      <p:sp>
        <p:nvSpPr>
          <p:cNvPr id="3" name="Text 1"/>
          <p:cNvSpPr txBox="1"/>
          <p:nvPr/>
        </p:nvSpPr>
        <p:spPr>
          <a:xfrm>
            <a:off x="548640" y="1234440"/>
            <a:ext cx="5852160" cy="1005840"/>
          </a:xfrm>
          <a:prstGeom prst="rect">
            <a:avLst/>
          </a:prstGeom>
          <a:noFill/>
          <a:ln/>
        </p:spPr>
        <p:txBody>
          <a:bodyPr wrap="square" lIns="0" tIns="0" rIns="0" bIns="0" rtlCol="0" anchor="t"/>
          <a:lstStyle/>
          <a:p>
            <a:pPr indent="0" marL="0">
              <a:buNone/>
            </a:pPr>
            <a:r>
              <a:rPr lang="en-US" sz="2600" b="1" dirty="0">
                <a:solidFill>
                  <a:srgbClr val="0E3B3F"/>
                </a:solidFill>
                <a:latin typeface="Cambria" pitchFamily="34" charset="0"/>
                <a:ea typeface="Cambria" pitchFamily="34" charset="-122"/>
                <a:cs typeface="Cambria" pitchFamily="34" charset="-120"/>
              </a:rPr>
              <a:t>Registering people for site access is manual paperwork</a:t>
            </a:r>
            <a:endParaRPr lang="en-US" sz="2600" dirty="0"/>
          </a:p>
        </p:txBody>
      </p:sp>
      <p:sp>
        <p:nvSpPr>
          <p:cNvPr id="4" name="Text 2"/>
          <p:cNvSpPr txBox="1"/>
          <p:nvPr/>
        </p:nvSpPr>
        <p:spPr>
          <a:xfrm>
            <a:off x="548640" y="2377440"/>
            <a:ext cx="5852160" cy="1828800"/>
          </a:xfrm>
          <a:prstGeom prst="rect">
            <a:avLst/>
          </a:prstGeom>
          <a:noFill/>
          <a:ln/>
        </p:spPr>
        <p:txBody>
          <a:bodyPr wrap="square" lIns="0" tIns="0" rIns="0" bIns="0" rtlCol="0" anchor="t"/>
          <a:lstStyle/>
          <a:p>
            <a:pPr indent="0" marL="0">
              <a:buNone/>
            </a:pPr>
            <a:r>
              <a:rPr lang="en-US" sz="1800" dirty="0">
                <a:solidFill>
                  <a:srgbClr val="1B1F27"/>
                </a:solidFill>
                <a:latin typeface="Calibri" pitchFamily="34" charset="0"/>
                <a:ea typeface="Calibri" pitchFamily="34" charset="-122"/>
                <a:cs typeface="Calibri" pitchFamily="34" charset="-120"/>
              </a:rPr>
              <a:t>Every contractor, driver and visitor who enters a site has to be registered by hand. The paper forms take time to fill in, to read and to file, and the site has no quick way to see who is registered or who has confirmed the life-saving rules.</a:t>
            </a:r>
            <a:endParaRPr lang="en-US" sz="1800" dirty="0"/>
          </a:p>
        </p:txBody>
      </p:sp>
      <p:sp>
        <p:nvSpPr>
          <p:cNvPr id="5" name="Shape 3"/>
          <p:cNvSpPr/>
          <p:nvPr/>
        </p:nvSpPr>
        <p:spPr>
          <a:xfrm>
            <a:off x="548640" y="4434840"/>
            <a:ext cx="5852160" cy="1463040"/>
          </a:xfrm>
          <a:prstGeom prst="roundRect">
            <a:avLst>
              <a:gd name="adj" fmla="val 7500"/>
            </a:avLst>
          </a:prstGeom>
          <a:solidFill>
            <a:srgbClr val="E2F1EC"/>
          </a:solidFill>
          <a:ln w="12700">
            <a:solidFill>
              <a:srgbClr val="2F7F6B"/>
            </a:solidFill>
            <a:prstDash val="solid"/>
          </a:ln>
        </p:spPr>
      </p:sp>
      <p:sp>
        <p:nvSpPr>
          <p:cNvPr id="6" name="Text 4"/>
          <p:cNvSpPr txBox="1"/>
          <p:nvPr/>
        </p:nvSpPr>
        <p:spPr>
          <a:xfrm>
            <a:off x="777240" y="4553712"/>
            <a:ext cx="5394960" cy="320040"/>
          </a:xfrm>
          <a:prstGeom prst="rect">
            <a:avLst/>
          </a:prstGeom>
          <a:noFill/>
          <a:ln/>
        </p:spPr>
        <p:txBody>
          <a:bodyPr wrap="square" lIns="0" tIns="0" rIns="0" bIns="0" rtlCol="0" anchor="ctr"/>
          <a:lstStyle/>
          <a:p>
            <a:pPr indent="0" marL="0">
              <a:buNone/>
            </a:pPr>
            <a:r>
              <a:rPr lang="en-US" sz="1600" b="1" dirty="0">
                <a:solidFill>
                  <a:srgbClr val="2F7F6B"/>
                </a:solidFill>
                <a:latin typeface="Calibri" pitchFamily="34" charset="0"/>
                <a:ea typeface="Calibri" pitchFamily="34" charset="-122"/>
                <a:cs typeface="Calibri" pitchFamily="34" charset="-120"/>
              </a:rPr>
              <a:t>Our goal</a:t>
            </a:r>
            <a:endParaRPr lang="en-US" sz="1600" dirty="0"/>
          </a:p>
        </p:txBody>
      </p:sp>
      <p:sp>
        <p:nvSpPr>
          <p:cNvPr id="7" name="Text 5"/>
          <p:cNvSpPr txBox="1"/>
          <p:nvPr/>
        </p:nvSpPr>
        <p:spPr>
          <a:xfrm>
            <a:off x="777240" y="4892040"/>
            <a:ext cx="5394960" cy="960120"/>
          </a:xfrm>
          <a:prstGeom prst="rect">
            <a:avLst/>
          </a:prstGeom>
          <a:noFill/>
          <a:ln/>
        </p:spPr>
        <p:txBody>
          <a:bodyPr wrap="square" lIns="0" tIns="0" rIns="0" bIns="0" rtlCol="0" anchor="t"/>
          <a:lstStyle/>
          <a:p>
            <a:pPr indent="0" marL="0">
              <a:buNone/>
            </a:pPr>
            <a:r>
              <a:rPr lang="en-US" sz="1600" dirty="0">
                <a:solidFill>
                  <a:srgbClr val="14463B"/>
                </a:solidFill>
                <a:latin typeface="Calibri" pitchFamily="34" charset="0"/>
                <a:ea typeface="Calibri" pitchFamily="34" charset="-122"/>
                <a:cs typeface="Calibri" pitchFamily="34" charset="-120"/>
              </a:rPr>
              <a:t>Automate the process: the person registers on their phone, confirms the life-saving rules, and the gate officer sees the result on screen before letting them in.</a:t>
            </a:r>
            <a:endParaRPr lang="en-US" sz="1600" dirty="0"/>
          </a:p>
        </p:txBody>
      </p:sp>
      <p:sp>
        <p:nvSpPr>
          <p:cNvPr id="8" name="Shape 6"/>
          <p:cNvSpPr/>
          <p:nvPr/>
        </p:nvSpPr>
        <p:spPr>
          <a:xfrm>
            <a:off x="6858000" y="1234440"/>
            <a:ext cx="4754880" cy="1417320"/>
          </a:xfrm>
          <a:prstGeom prst="roundRect">
            <a:avLst>
              <a:gd name="adj" fmla="val 6452"/>
            </a:avLst>
          </a:prstGeom>
          <a:solidFill>
            <a:srgbClr val="FBE4E2"/>
          </a:solidFill>
          <a:ln w="12700">
            <a:solidFill>
              <a:srgbClr val="C0392B"/>
            </a:solidFill>
            <a:prstDash val="solid"/>
          </a:ln>
        </p:spPr>
      </p:sp>
      <p:sp>
        <p:nvSpPr>
          <p:cNvPr id="9" name="Text 7"/>
          <p:cNvSpPr txBox="1"/>
          <p:nvPr/>
        </p:nvSpPr>
        <p:spPr>
          <a:xfrm>
            <a:off x="7086600" y="13716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Slow and repetitive</a:t>
            </a:r>
            <a:endParaRPr lang="en-US" sz="1700" dirty="0"/>
          </a:p>
        </p:txBody>
      </p:sp>
      <p:sp>
        <p:nvSpPr>
          <p:cNvPr id="10" name="Text 8"/>
          <p:cNvSpPr txBox="1"/>
          <p:nvPr/>
        </p:nvSpPr>
        <p:spPr>
          <a:xfrm>
            <a:off x="7086600" y="17830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forms are filled in, read and filed by hand for every single arrival.</a:t>
            </a:r>
            <a:endParaRPr lang="en-US" sz="1400" dirty="0"/>
          </a:p>
        </p:txBody>
      </p:sp>
      <p:sp>
        <p:nvSpPr>
          <p:cNvPr id="11" name="Shape 9"/>
          <p:cNvSpPr/>
          <p:nvPr/>
        </p:nvSpPr>
        <p:spPr>
          <a:xfrm>
            <a:off x="6858000" y="2834640"/>
            <a:ext cx="4754880" cy="1417320"/>
          </a:xfrm>
          <a:prstGeom prst="roundRect">
            <a:avLst>
              <a:gd name="adj" fmla="val 6452"/>
            </a:avLst>
          </a:prstGeom>
          <a:solidFill>
            <a:srgbClr val="FBE4E2"/>
          </a:solidFill>
          <a:ln w="12700">
            <a:solidFill>
              <a:srgbClr val="C0392B"/>
            </a:solidFill>
            <a:prstDash val="solid"/>
          </a:ln>
        </p:spPr>
      </p:sp>
      <p:sp>
        <p:nvSpPr>
          <p:cNvPr id="12" name="Text 10"/>
          <p:cNvSpPr txBox="1"/>
          <p:nvPr/>
        </p:nvSpPr>
        <p:spPr>
          <a:xfrm>
            <a:off x="7086600" y="29718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check at the gate</a:t>
            </a:r>
            <a:endParaRPr lang="en-US" sz="1700" dirty="0"/>
          </a:p>
        </p:txBody>
      </p:sp>
      <p:sp>
        <p:nvSpPr>
          <p:cNvPr id="13" name="Text 11"/>
          <p:cNvSpPr txBox="1"/>
          <p:nvPr/>
        </p:nvSpPr>
        <p:spPr>
          <a:xfrm>
            <a:off x="7086600" y="33832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The officer cannot quickly see who is registered or who confirmed the life-saving rules.</a:t>
            </a:r>
            <a:endParaRPr lang="en-US" sz="1400" dirty="0"/>
          </a:p>
        </p:txBody>
      </p:sp>
      <p:sp>
        <p:nvSpPr>
          <p:cNvPr id="14" name="Shape 12"/>
          <p:cNvSpPr/>
          <p:nvPr/>
        </p:nvSpPr>
        <p:spPr>
          <a:xfrm>
            <a:off x="6858000" y="4434840"/>
            <a:ext cx="4754880" cy="1417320"/>
          </a:xfrm>
          <a:prstGeom prst="roundRect">
            <a:avLst>
              <a:gd name="adj" fmla="val 6452"/>
            </a:avLst>
          </a:prstGeom>
          <a:solidFill>
            <a:srgbClr val="FBE4E2"/>
          </a:solidFill>
          <a:ln w="12700">
            <a:solidFill>
              <a:srgbClr val="C0392B"/>
            </a:solidFill>
            <a:prstDash val="solid"/>
          </a:ln>
        </p:spPr>
      </p:sp>
      <p:sp>
        <p:nvSpPr>
          <p:cNvPr id="15" name="Text 13"/>
          <p:cNvSpPr txBox="1"/>
          <p:nvPr/>
        </p:nvSpPr>
        <p:spPr>
          <a:xfrm>
            <a:off x="7086600" y="4572000"/>
            <a:ext cx="4343400" cy="365760"/>
          </a:xfrm>
          <a:prstGeom prst="rect">
            <a:avLst/>
          </a:prstGeom>
          <a:noFill/>
          <a:ln/>
        </p:spPr>
        <p:txBody>
          <a:bodyPr wrap="square" lIns="0" tIns="0" rIns="0" bIns="0" rtlCol="0" anchor="ctr"/>
          <a:lstStyle/>
          <a:p>
            <a:pPr indent="0" marL="0">
              <a:buNone/>
            </a:pPr>
            <a:r>
              <a:rPr lang="en-US" sz="1700" b="1" dirty="0">
                <a:solidFill>
                  <a:srgbClr val="6B1A14"/>
                </a:solidFill>
                <a:latin typeface="Calibri" pitchFamily="34" charset="0"/>
                <a:ea typeface="Calibri" pitchFamily="34" charset="-122"/>
                <a:cs typeface="Calibri" pitchFamily="34" charset="-120"/>
              </a:rPr>
              <a:t>Hard to search and prove</a:t>
            </a:r>
            <a:endParaRPr lang="en-US" sz="1700" dirty="0"/>
          </a:p>
        </p:txBody>
      </p:sp>
      <p:sp>
        <p:nvSpPr>
          <p:cNvPr id="16" name="Text 14"/>
          <p:cNvSpPr txBox="1"/>
          <p:nvPr/>
        </p:nvSpPr>
        <p:spPr>
          <a:xfrm>
            <a:off x="7086600" y="4983480"/>
            <a:ext cx="4343400" cy="777240"/>
          </a:xfrm>
          <a:prstGeom prst="rect">
            <a:avLst/>
          </a:prstGeom>
          <a:noFill/>
          <a:ln/>
        </p:spPr>
        <p:txBody>
          <a:bodyPr wrap="square" lIns="0" tIns="0" rIns="0" bIns="0" rtlCol="0" anchor="t"/>
          <a:lstStyle/>
          <a:p>
            <a:pPr indent="0" marL="0">
              <a:buNone/>
            </a:pPr>
            <a:r>
              <a:rPr lang="en-US" sz="1400" dirty="0">
                <a:solidFill>
                  <a:srgbClr val="6B1A14"/>
                </a:solidFill>
                <a:latin typeface="Calibri" pitchFamily="34" charset="0"/>
                <a:ea typeface="Calibri" pitchFamily="34" charset="-122"/>
                <a:cs typeface="Calibri" pitchFamily="34" charset="-120"/>
              </a:rPr>
              <a:t>Paper records are difficult to look up later, so there is little evidence of who was on site.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version 2 delivers</a:t>
            </a:r>
            <a:endParaRPr lang="en-US" sz="3200" dirty="0"/>
          </a:p>
        </p:txBody>
      </p:sp>
      <p:sp>
        <p:nvSpPr>
          <p:cNvPr id="3" name="Shape 1"/>
          <p:cNvSpPr/>
          <p:nvPr/>
        </p:nvSpPr>
        <p:spPr>
          <a:xfrm>
            <a:off x="548640" y="1371600"/>
            <a:ext cx="3566160" cy="2743200"/>
          </a:xfrm>
          <a:prstGeom prst="roundRect">
            <a:avLst>
              <a:gd name="adj" fmla="val 4000"/>
            </a:avLst>
          </a:prstGeom>
          <a:solidFill>
            <a:srgbClr val="E2F1EC"/>
          </a:solidFill>
          <a:ln w="12700">
            <a:solidFill>
              <a:srgbClr val="2F7F6B"/>
            </a:solidFill>
            <a:prstDash val="solid"/>
          </a:ln>
        </p:spPr>
      </p:sp>
      <p:sp>
        <p:nvSpPr>
          <p:cNvPr id="4" name="Text 2"/>
          <p:cNvSpPr txBox="1"/>
          <p:nvPr/>
        </p:nvSpPr>
        <p:spPr>
          <a:xfrm>
            <a:off x="82296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Confirm</a:t>
            </a:r>
            <a:endParaRPr lang="en-US" sz="2400" dirty="0"/>
          </a:p>
        </p:txBody>
      </p:sp>
      <p:sp>
        <p:nvSpPr>
          <p:cNvPr id="6" name="Text 4"/>
          <p:cNvSpPr txBox="1"/>
          <p:nvPr/>
        </p:nvSpPr>
        <p:spPr>
          <a:xfrm>
            <a:off x="82296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person ticks one statement that they read and understood the life-saving rules. The wording, rules version and time are stored.</a:t>
            </a:r>
            <a:endParaRPr lang="en-US" sz="1500" dirty="0"/>
          </a:p>
        </p:txBody>
      </p:sp>
      <p:sp>
        <p:nvSpPr>
          <p:cNvPr id="7" name="Shape 5"/>
          <p:cNvSpPr/>
          <p:nvPr/>
        </p:nvSpPr>
        <p:spPr>
          <a:xfrm>
            <a:off x="4297680" y="1371600"/>
            <a:ext cx="3566160" cy="2743200"/>
          </a:xfrm>
          <a:prstGeom prst="roundRect">
            <a:avLst>
              <a:gd name="adj" fmla="val 4000"/>
            </a:avLst>
          </a:prstGeom>
          <a:solidFill>
            <a:srgbClr val="E2F1EC"/>
          </a:solidFill>
          <a:ln w="12700">
            <a:solidFill>
              <a:srgbClr val="2F7F6B"/>
            </a:solidFill>
            <a:prstDash val="solid"/>
          </a:ln>
        </p:spPr>
      </p:sp>
      <p:sp>
        <p:nvSpPr>
          <p:cNvPr id="8" name="Text 6"/>
          <p:cNvSpPr txBox="1"/>
          <p:nvPr/>
        </p:nvSpPr>
        <p:spPr>
          <a:xfrm>
            <a:off x="457200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57200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Show</a:t>
            </a:r>
            <a:endParaRPr lang="en-US" sz="2400" dirty="0"/>
          </a:p>
        </p:txBody>
      </p:sp>
      <p:sp>
        <p:nvSpPr>
          <p:cNvPr id="10" name="Text 8"/>
          <p:cNvSpPr txBox="1"/>
          <p:nvPr/>
        </p:nvSpPr>
        <p:spPr>
          <a:xfrm>
            <a:off x="457200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The gate kiosk checks that confirmation every time and shows the officer the result before anyone is let in.</a:t>
            </a:r>
            <a:endParaRPr lang="en-US" sz="1500" dirty="0"/>
          </a:p>
        </p:txBody>
      </p:sp>
      <p:sp>
        <p:nvSpPr>
          <p:cNvPr id="11" name="Shape 9"/>
          <p:cNvSpPr/>
          <p:nvPr/>
        </p:nvSpPr>
        <p:spPr>
          <a:xfrm>
            <a:off x="8046720" y="1371600"/>
            <a:ext cx="3566160" cy="2743200"/>
          </a:xfrm>
          <a:prstGeom prst="roundRect">
            <a:avLst>
              <a:gd name="adj" fmla="val 4000"/>
            </a:avLst>
          </a:prstGeom>
          <a:solidFill>
            <a:srgbClr val="E2F1EC"/>
          </a:solidFill>
          <a:ln w="12700">
            <a:solidFill>
              <a:srgbClr val="2F7F6B"/>
            </a:solidFill>
            <a:prstDash val="solid"/>
          </a:ln>
        </p:spPr>
      </p:sp>
      <p:sp>
        <p:nvSpPr>
          <p:cNvPr id="12" name="Text 10"/>
          <p:cNvSpPr txBox="1"/>
          <p:nvPr/>
        </p:nvSpPr>
        <p:spPr>
          <a:xfrm>
            <a:off x="8321040" y="1554480"/>
            <a:ext cx="914400" cy="822960"/>
          </a:xfrm>
          <a:prstGeom prst="rect">
            <a:avLst/>
          </a:prstGeom>
          <a:noFill/>
          <a:ln/>
        </p:spPr>
        <p:txBody>
          <a:bodyPr wrap="square" lIns="0" tIns="0" rIns="0" bIns="0" rtlCol="0" anchor="ctr"/>
          <a:lstStyle/>
          <a:p>
            <a:pPr indent="0" marL="0">
              <a:buNone/>
            </a:pPr>
            <a:r>
              <a:rPr lang="en-US" sz="4800" b="1" dirty="0">
                <a:solidFill>
                  <a:srgbClr val="2F7F6B"/>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21040" y="2423160"/>
            <a:ext cx="3017520" cy="457200"/>
          </a:xfrm>
          <a:prstGeom prst="rect">
            <a:avLst/>
          </a:prstGeom>
          <a:noFill/>
          <a:ln/>
        </p:spPr>
        <p:txBody>
          <a:bodyPr wrap="square" lIns="0" tIns="0" rIns="0" bIns="0" rtlCol="0" anchor="ctr"/>
          <a:lstStyle/>
          <a:p>
            <a:pPr indent="0" marL="0">
              <a:buNone/>
            </a:pPr>
            <a:r>
              <a:rPr lang="en-US" sz="2400" b="1" dirty="0">
                <a:solidFill>
                  <a:srgbClr val="14463B"/>
                </a:solidFill>
                <a:latin typeface="Cambria" pitchFamily="34" charset="0"/>
                <a:ea typeface="Cambria" pitchFamily="34" charset="-122"/>
                <a:cs typeface="Cambria" pitchFamily="34" charset="-120"/>
              </a:rPr>
              <a:t>Record</a:t>
            </a:r>
            <a:endParaRPr lang="en-US" sz="2400" dirty="0"/>
          </a:p>
        </p:txBody>
      </p:sp>
      <p:sp>
        <p:nvSpPr>
          <p:cNvPr id="14" name="Text 12"/>
          <p:cNvSpPr txBox="1"/>
          <p:nvPr/>
        </p:nvSpPr>
        <p:spPr>
          <a:xfrm>
            <a:off x="8321040" y="2926080"/>
            <a:ext cx="3063240" cy="1097280"/>
          </a:xfrm>
          <a:prstGeom prst="rect">
            <a:avLst/>
          </a:prstGeom>
          <a:noFill/>
          <a:ln/>
        </p:spPr>
        <p:txBody>
          <a:bodyPr wrap="square" lIns="0" tIns="0" rIns="0" bIns="0" rtlCol="0" anchor="t"/>
          <a:lstStyle/>
          <a:p>
            <a:pPr indent="0" marL="0">
              <a:buNone/>
            </a:pPr>
            <a:r>
              <a:rPr lang="en-US" sz="1500" dirty="0">
                <a:solidFill>
                  <a:srgbClr val="14463B"/>
                </a:solidFill>
                <a:latin typeface="Calibri" pitchFamily="34" charset="0"/>
                <a:ea typeface="Calibri" pitchFamily="34" charset="-122"/>
                <a:cs typeface="Calibri" pitchFamily="34" charset="-120"/>
              </a:rPr>
              <a:t>Every step goes into one audit trail, and a live dashboard shows who is on site and who is overdue.</a:t>
            </a:r>
            <a:endParaRPr lang="en-US" sz="1500" dirty="0"/>
          </a:p>
        </p:txBody>
      </p:sp>
      <p:sp>
        <p:nvSpPr>
          <p:cNvPr id="15" name="Text 13"/>
          <p:cNvSpPr txBox="1"/>
          <p:nvPr/>
        </p:nvSpPr>
        <p:spPr>
          <a:xfrm>
            <a:off x="548640" y="44348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Two ways in, one gate</a:t>
            </a:r>
            <a:endParaRPr lang="en-US" sz="1800" dirty="0"/>
          </a:p>
        </p:txBody>
      </p:sp>
      <p:sp>
        <p:nvSpPr>
          <p:cNvPr id="16" name="Text 14"/>
          <p:cNvSpPr txBox="1"/>
          <p:nvPr/>
        </p:nvSpPr>
        <p:spPr>
          <a:xfrm>
            <a:off x="548640" y="4846320"/>
            <a:ext cx="11064240" cy="1554480"/>
          </a:xfrm>
          <a:prstGeom prst="rect">
            <a:avLst/>
          </a:prstGeom>
          <a:noFill/>
          <a:ln/>
        </p:spPr>
        <p:txBody>
          <a:bodyPr wrap="square" lIns="0" tIns="0" rIns="0" bIns="0" rtlCol="0" anchor="t"/>
          <a:lstStyle/>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A, planned arrival: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Renewi invites the person, checks their ID and approves them in advance.</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Path B, unexpected arrival (new in v2):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the person scans a QR at the entrance and registers themselves.</a:t>
            </a:r>
            <a:endParaRPr lang="en-US" sz="1600" dirty="0"/>
          </a:p>
          <a:p>
            <a:pPr indent="0" marL="0">
              <a:spcAft>
                <a:spcPts val="800"/>
              </a:spcAft>
              <a:buNone/>
            </a:pPr>
            <a:r>
              <a:rPr lang="en-US" sz="1600" b="1" dirty="0">
                <a:solidFill>
                  <a:srgbClr val="1B1F27"/>
                </a:solidFill>
                <a:latin typeface="Calibri" pitchFamily="34" charset="0"/>
                <a:ea typeface="Calibri" pitchFamily="34" charset="-122"/>
                <a:cs typeface="Calibri" pitchFamily="34" charset="-120"/>
              </a:rPr>
              <a:t>Same on both: </a:t>
            </a:r>
            <a:pPr indent="0" marL="0">
              <a:spcAft>
                <a:spcPts val="800"/>
              </a:spcAft>
              <a:buNone/>
            </a:pPr>
            <a:r>
              <a:rPr lang="en-US" sz="1600" dirty="0">
                <a:solidFill>
                  <a:srgbClr val="1B1F27"/>
                </a:solidFill>
                <a:latin typeface="Calibri" pitchFamily="34" charset="0"/>
                <a:ea typeface="Calibri" pitchFamily="34" charset="-122"/>
                <a:cs typeface="Calibri" pitchFamily="34" charset="-120"/>
              </a:rPr>
              <a:t>a QR with entry and exit time, entry and exit tracking, the dashboard, and validity an administrator can change.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User flow: two paths, one gate</a:t>
            </a:r>
            <a:endParaRPr lang="en-US" sz="3200" dirty="0"/>
          </a:p>
        </p:txBody>
      </p:sp>
      <p:sp>
        <p:nvSpPr>
          <p:cNvPr id="3" name="Text 1"/>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200" dirty="0">
                <a:solidFill>
                  <a:srgbClr val="556070"/>
                </a:solidFill>
                <a:latin typeface="Calibri" pitchFamily="34" charset="0"/>
                <a:ea typeface="Calibri" pitchFamily="34" charset="-122"/>
                <a:cs typeface="Calibri" pitchFamily="34" charset="-120"/>
              </a:rPr>
              <a:t>Interactive version: </a:t>
            </a:r>
            <a:pPr indent="0" marL="0">
              <a:buNone/>
            </a:pPr>
            <a:r>
              <a:rPr lang="en-US" sz="1200" u="sng" dirty="0">
                <a:solidFill>
                  <a:srgbClr val="2F7F6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claude.ai/artifact/RzmApJZf5CuuPEyYRcVRaL</a:t>
            </a:r>
            <a:endParaRPr lang="en-US" sz="1200" dirty="0"/>
          </a:p>
        </p:txBody>
      </p:sp>
      <p:sp>
        <p:nvSpPr>
          <p:cNvPr id="4" name="Shape 2"/>
          <p:cNvSpPr/>
          <p:nvPr/>
        </p:nvSpPr>
        <p:spPr>
          <a:xfrm>
            <a:off x="548640" y="1051560"/>
            <a:ext cx="11091672" cy="384048"/>
          </a:xfrm>
          <a:prstGeom prst="roundRect">
            <a:avLst>
              <a:gd name="adj" fmla="val 19048"/>
            </a:avLst>
          </a:prstGeom>
          <a:solidFill>
            <a:srgbClr val="E1F5EE"/>
          </a:solidFill>
          <a:ln w="12700">
            <a:solidFill>
              <a:srgbClr val="0F6E56"/>
            </a:solidFill>
            <a:prstDash val="solid"/>
          </a:ln>
        </p:spPr>
      </p:sp>
      <p:sp>
        <p:nvSpPr>
          <p:cNvPr id="5" name="Text 3"/>
          <p:cNvSpPr txBox="1"/>
          <p:nvPr/>
        </p:nvSpPr>
        <p:spPr>
          <a:xfrm>
            <a:off x="731520" y="1051560"/>
            <a:ext cx="10789920" cy="384048"/>
          </a:xfrm>
          <a:prstGeom prst="rect">
            <a:avLst/>
          </a:prstGeom>
          <a:noFill/>
          <a:ln/>
        </p:spPr>
        <p:txBody>
          <a:bodyPr wrap="square" lIns="0" tIns="0" rIns="0" bIns="0" rtlCol="0" anchor="ctr"/>
          <a:lstStyle/>
          <a:p>
            <a:pPr indent="0" marL="0">
              <a:buNone/>
            </a:pPr>
            <a:r>
              <a:rPr lang="en-US" sz="1100" b="1" dirty="0">
                <a:solidFill>
                  <a:srgbClr val="0F6E56"/>
                </a:solidFill>
                <a:latin typeface="Calibri" pitchFamily="34" charset="0"/>
                <a:ea typeface="Calibri" pitchFamily="34" charset="-122"/>
                <a:cs typeface="Calibri" pitchFamily="34" charset="-120"/>
              </a:rPr>
              <a:t>BEFORE ANYONE ARRIVES  </a:t>
            </a:r>
            <a:pPr indent="0" marL="0">
              <a:buNone/>
            </a:pPr>
            <a:r>
              <a:rPr lang="en-US" sz="1400" dirty="0">
                <a:solidFill>
                  <a:srgbClr val="085041"/>
                </a:solidFill>
                <a:latin typeface="Calibri" pitchFamily="34" charset="0"/>
                <a:ea typeface="Calibri" pitchFamily="34" charset="-122"/>
                <a:cs typeface="Calibri" pitchFamily="34" charset="-120"/>
              </a:rPr>
              <a:t>Admin sets how long a QR lasts, per site, on the Settings page</a:t>
            </a:r>
            <a:endParaRPr lang="en-US" sz="1100" dirty="0"/>
          </a:p>
        </p:txBody>
      </p:sp>
      <p:sp>
        <p:nvSpPr>
          <p:cNvPr id="6" name="Shape 4"/>
          <p:cNvSpPr/>
          <p:nvPr/>
        </p:nvSpPr>
        <p:spPr>
          <a:xfrm>
            <a:off x="548640" y="1527048"/>
            <a:ext cx="5394960" cy="457200"/>
          </a:xfrm>
          <a:prstGeom prst="roundRect">
            <a:avLst>
              <a:gd name="adj" fmla="val 20000"/>
            </a:avLst>
          </a:prstGeom>
          <a:solidFill>
            <a:srgbClr val="F3F5F7"/>
          </a:solidFill>
          <a:ln w="12700">
            <a:solidFill>
              <a:srgbClr val="CBD0DA"/>
            </a:solidFill>
            <a:prstDash val="solid"/>
          </a:ln>
        </p:spPr>
      </p:sp>
      <p:sp>
        <p:nvSpPr>
          <p:cNvPr id="7" name="Text 5"/>
          <p:cNvSpPr txBox="1"/>
          <p:nvPr/>
        </p:nvSpPr>
        <p:spPr>
          <a:xfrm>
            <a:off x="685800" y="1527048"/>
            <a:ext cx="5120640" cy="45720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A · Planned arrival  </a:t>
            </a:r>
            <a:pPr indent="0" marL="0">
              <a:buNone/>
            </a:pPr>
            <a:r>
              <a:rPr lang="en-US" sz="1200" dirty="0">
                <a:solidFill>
                  <a:srgbClr val="556070"/>
                </a:solidFill>
                <a:latin typeface="Calibri" pitchFamily="34" charset="0"/>
                <a:ea typeface="Calibri" pitchFamily="34" charset="-122"/>
                <a:cs typeface="Calibri" pitchFamily="34" charset="-120"/>
              </a:rPr>
              <a:t>Renewi knows they are coming</a:t>
            </a:r>
            <a:endParaRPr lang="en-US" sz="1400" dirty="0"/>
          </a:p>
        </p:txBody>
      </p:sp>
      <p:sp>
        <p:nvSpPr>
          <p:cNvPr id="8" name="Shape 6"/>
          <p:cNvSpPr/>
          <p:nvPr/>
        </p:nvSpPr>
        <p:spPr>
          <a:xfrm>
            <a:off x="6245352" y="1527048"/>
            <a:ext cx="5394960" cy="457200"/>
          </a:xfrm>
          <a:prstGeom prst="roundRect">
            <a:avLst>
              <a:gd name="adj" fmla="val 20000"/>
            </a:avLst>
          </a:prstGeom>
          <a:solidFill>
            <a:srgbClr val="F3F5F7"/>
          </a:solidFill>
          <a:ln w="12700">
            <a:solidFill>
              <a:srgbClr val="CBD0DA"/>
            </a:solidFill>
            <a:prstDash val="solid"/>
          </a:ln>
        </p:spPr>
      </p:sp>
      <p:sp>
        <p:nvSpPr>
          <p:cNvPr id="9" name="Text 7"/>
          <p:cNvSpPr txBox="1"/>
          <p:nvPr/>
        </p:nvSpPr>
        <p:spPr>
          <a:xfrm>
            <a:off x="6382512" y="1527048"/>
            <a:ext cx="4206240" cy="457200"/>
          </a:xfrm>
          <a:prstGeom prst="rect">
            <a:avLst/>
          </a:prstGeom>
          <a:noFill/>
          <a:ln/>
        </p:spPr>
        <p:txBody>
          <a:bodyPr wrap="square" lIns="0" tIns="0" rIns="0" bIns="0" rtlCol="0" anchor="ctr"/>
          <a:lstStyle/>
          <a:p>
            <a:pPr indent="0" marL="0">
              <a:buNone/>
            </a:pPr>
            <a:r>
              <a:rPr lang="en-US" sz="1400" b="1" dirty="0">
                <a:solidFill>
                  <a:srgbClr val="1B1F27"/>
                </a:solidFill>
                <a:latin typeface="Calibri" pitchFamily="34" charset="0"/>
                <a:ea typeface="Calibri" pitchFamily="34" charset="-122"/>
                <a:cs typeface="Calibri" pitchFamily="34" charset="-120"/>
              </a:rPr>
              <a:t>Path B · Unexpected arrival  </a:t>
            </a:r>
            <a:pPr indent="0" marL="0">
              <a:buNone/>
            </a:pPr>
            <a:r>
              <a:rPr lang="en-US" sz="1200" dirty="0">
                <a:solidFill>
                  <a:srgbClr val="556070"/>
                </a:solidFill>
                <a:latin typeface="Calibri" pitchFamily="34" charset="0"/>
                <a:ea typeface="Calibri" pitchFamily="34" charset="-122"/>
                <a:cs typeface="Calibri" pitchFamily="34" charset="-120"/>
              </a:rPr>
              <a:t>They register themselves</a:t>
            </a:r>
            <a:endParaRPr lang="en-US" sz="1400" dirty="0"/>
          </a:p>
        </p:txBody>
      </p:sp>
      <p:sp>
        <p:nvSpPr>
          <p:cNvPr id="10" name="Shape 8"/>
          <p:cNvSpPr/>
          <p:nvPr/>
        </p:nvSpPr>
        <p:spPr>
          <a:xfrm>
            <a:off x="10634472" y="1655064"/>
            <a:ext cx="868680" cy="201168"/>
          </a:xfrm>
          <a:prstGeom prst="roundRect">
            <a:avLst>
              <a:gd name="adj" fmla="val 50000"/>
            </a:avLst>
          </a:prstGeom>
          <a:solidFill>
            <a:srgbClr val="FFE3D8"/>
          </a:solidFill>
          <a:ln w="9525">
            <a:solidFill>
              <a:srgbClr val="D85A30"/>
            </a:solidFill>
            <a:prstDash val="solid"/>
          </a:ln>
        </p:spPr>
      </p:sp>
      <p:sp>
        <p:nvSpPr>
          <p:cNvPr id="11" name="Text 9"/>
          <p:cNvSpPr txBox="1"/>
          <p:nvPr/>
        </p:nvSpPr>
        <p:spPr>
          <a:xfrm>
            <a:off x="10634472" y="1655064"/>
            <a:ext cx="868680" cy="201168"/>
          </a:xfrm>
          <a:prstGeom prst="rect">
            <a:avLst/>
          </a:prstGeom>
          <a:noFill/>
          <a:ln/>
        </p:spPr>
        <p:txBody>
          <a:bodyPr wrap="square" lIns="0" tIns="0" rIns="0" bIns="0" rtlCol="0" anchor="ctr"/>
          <a:lstStyle/>
          <a:p>
            <a:pPr algn="ctr" indent="0" marL="0">
              <a:buNone/>
            </a:pPr>
            <a:r>
              <a:rPr lang="en-US" sz="1000" b="1" dirty="0">
                <a:solidFill>
                  <a:srgbClr val="8A2E10"/>
                </a:solidFill>
                <a:latin typeface="Calibri" pitchFamily="34" charset="0"/>
                <a:ea typeface="Calibri" pitchFamily="34" charset="-122"/>
                <a:cs typeface="Calibri" pitchFamily="34" charset="-120"/>
              </a:rPr>
              <a:t>New in v2</a:t>
            </a:r>
            <a:endParaRPr lang="en-US" sz="1000" dirty="0"/>
          </a:p>
        </p:txBody>
      </p:sp>
      <p:sp>
        <p:nvSpPr>
          <p:cNvPr id="12" name="Shape 10"/>
          <p:cNvSpPr/>
          <p:nvPr/>
        </p:nvSpPr>
        <p:spPr>
          <a:xfrm>
            <a:off x="548640" y="2084832"/>
            <a:ext cx="5394960" cy="420624"/>
          </a:xfrm>
          <a:prstGeom prst="roundRect">
            <a:avLst>
              <a:gd name="adj" fmla="val 17391"/>
            </a:avLst>
          </a:prstGeom>
          <a:solidFill>
            <a:srgbClr val="E2F1EC"/>
          </a:solidFill>
          <a:ln w="12700">
            <a:solidFill>
              <a:srgbClr val="2F7F6B"/>
            </a:solidFill>
            <a:prstDash val="solid"/>
          </a:ln>
        </p:spPr>
      </p:sp>
      <p:sp>
        <p:nvSpPr>
          <p:cNvPr id="13" name="Shape 11"/>
          <p:cNvSpPr/>
          <p:nvPr/>
        </p:nvSpPr>
        <p:spPr>
          <a:xfrm>
            <a:off x="640080" y="2148840"/>
            <a:ext cx="292608" cy="292608"/>
          </a:xfrm>
          <a:prstGeom prst="ellipse">
            <a:avLst/>
          </a:prstGeom>
          <a:solidFill>
            <a:srgbClr val="2F7F6B"/>
          </a:solidFill>
          <a:ln w="12700">
            <a:solidFill>
              <a:srgbClr val="2F7F6B"/>
            </a:solidFill>
            <a:prstDash val="solid"/>
          </a:ln>
        </p:spPr>
      </p:sp>
      <p:sp>
        <p:nvSpPr>
          <p:cNvPr id="14" name="Text 12"/>
          <p:cNvSpPr txBox="1"/>
          <p:nvPr/>
        </p:nvSpPr>
        <p:spPr>
          <a:xfrm>
            <a:off x="640080" y="2148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1051560" y="2084832"/>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Invite: email, company, purpose, visit window</a:t>
            </a:r>
            <a:endParaRPr lang="en-US" sz="1300" dirty="0"/>
          </a:p>
        </p:txBody>
      </p:sp>
      <p:sp>
        <p:nvSpPr>
          <p:cNvPr id="16" name="Shape 14"/>
          <p:cNvSpPr/>
          <p:nvPr/>
        </p:nvSpPr>
        <p:spPr>
          <a:xfrm>
            <a:off x="548640" y="2596896"/>
            <a:ext cx="5394960" cy="420624"/>
          </a:xfrm>
          <a:prstGeom prst="roundRect">
            <a:avLst>
              <a:gd name="adj" fmla="val 17391"/>
            </a:avLst>
          </a:prstGeom>
          <a:solidFill>
            <a:srgbClr val="ECE9FA"/>
          </a:solidFill>
          <a:ln w="12700">
            <a:solidFill>
              <a:srgbClr val="6A5BC2"/>
            </a:solidFill>
            <a:prstDash val="solid"/>
          </a:ln>
        </p:spPr>
      </p:sp>
      <p:sp>
        <p:nvSpPr>
          <p:cNvPr id="17" name="Shape 15"/>
          <p:cNvSpPr/>
          <p:nvPr/>
        </p:nvSpPr>
        <p:spPr>
          <a:xfrm>
            <a:off x="640080" y="2660904"/>
            <a:ext cx="292608" cy="292608"/>
          </a:xfrm>
          <a:prstGeom prst="ellipse">
            <a:avLst/>
          </a:prstGeom>
          <a:solidFill>
            <a:srgbClr val="6A5BC2"/>
          </a:solidFill>
          <a:ln w="12700">
            <a:solidFill>
              <a:srgbClr val="6A5BC2"/>
            </a:solidFill>
            <a:prstDash val="solid"/>
          </a:ln>
        </p:spPr>
      </p:sp>
      <p:sp>
        <p:nvSpPr>
          <p:cNvPr id="18" name="Text 16"/>
          <p:cNvSpPr txBox="1"/>
          <p:nvPr/>
        </p:nvSpPr>
        <p:spPr>
          <a:xfrm>
            <a:off x="640080" y="26609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1051560" y="2596896"/>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Accept and register with an ID document</a:t>
            </a:r>
            <a:endParaRPr lang="en-US" sz="1300" dirty="0"/>
          </a:p>
        </p:txBody>
      </p:sp>
      <p:sp>
        <p:nvSpPr>
          <p:cNvPr id="20" name="Shape 18"/>
          <p:cNvSpPr/>
          <p:nvPr/>
        </p:nvSpPr>
        <p:spPr>
          <a:xfrm>
            <a:off x="548640" y="3108960"/>
            <a:ext cx="5394960" cy="420624"/>
          </a:xfrm>
          <a:prstGeom prst="roundRect">
            <a:avLst>
              <a:gd name="adj" fmla="val 17391"/>
            </a:avLst>
          </a:prstGeom>
          <a:solidFill>
            <a:srgbClr val="ECE9FA"/>
          </a:solidFill>
          <a:ln w="12700">
            <a:solidFill>
              <a:srgbClr val="6A5BC2"/>
            </a:solidFill>
            <a:prstDash val="solid"/>
          </a:ln>
        </p:spPr>
      </p:sp>
      <p:sp>
        <p:nvSpPr>
          <p:cNvPr id="21" name="Shape 19"/>
          <p:cNvSpPr/>
          <p:nvPr/>
        </p:nvSpPr>
        <p:spPr>
          <a:xfrm>
            <a:off x="640080" y="3172968"/>
            <a:ext cx="292608" cy="292608"/>
          </a:xfrm>
          <a:prstGeom prst="ellipse">
            <a:avLst/>
          </a:prstGeom>
          <a:solidFill>
            <a:srgbClr val="6A5BC2"/>
          </a:solidFill>
          <a:ln w="12700">
            <a:solidFill>
              <a:srgbClr val="6A5BC2"/>
            </a:solidFill>
            <a:prstDash val="solid"/>
          </a:ln>
        </p:spPr>
      </p:sp>
      <p:sp>
        <p:nvSpPr>
          <p:cNvPr id="22" name="Text 20"/>
          <p:cNvSpPr txBox="1"/>
          <p:nvPr/>
        </p:nvSpPr>
        <p:spPr>
          <a:xfrm>
            <a:off x="640080" y="31729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1051560" y="3108960"/>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24" name="Shape 22"/>
          <p:cNvSpPr/>
          <p:nvPr/>
        </p:nvSpPr>
        <p:spPr>
          <a:xfrm>
            <a:off x="548640" y="3621024"/>
            <a:ext cx="5394960" cy="420624"/>
          </a:xfrm>
          <a:prstGeom prst="roundRect">
            <a:avLst>
              <a:gd name="adj" fmla="val 17391"/>
            </a:avLst>
          </a:prstGeom>
          <a:solidFill>
            <a:srgbClr val="E2F1EC"/>
          </a:solidFill>
          <a:ln w="12700">
            <a:solidFill>
              <a:srgbClr val="2F7F6B"/>
            </a:solidFill>
            <a:prstDash val="solid"/>
          </a:ln>
        </p:spPr>
      </p:sp>
      <p:sp>
        <p:nvSpPr>
          <p:cNvPr id="25" name="Shape 23"/>
          <p:cNvSpPr/>
          <p:nvPr/>
        </p:nvSpPr>
        <p:spPr>
          <a:xfrm>
            <a:off x="640080" y="3685032"/>
            <a:ext cx="292608" cy="292608"/>
          </a:xfrm>
          <a:prstGeom prst="ellipse">
            <a:avLst/>
          </a:prstGeom>
          <a:solidFill>
            <a:srgbClr val="2F7F6B"/>
          </a:solidFill>
          <a:ln w="12700">
            <a:solidFill>
              <a:srgbClr val="2F7F6B"/>
            </a:solidFill>
            <a:prstDash val="solid"/>
          </a:ln>
        </p:spPr>
      </p:sp>
      <p:sp>
        <p:nvSpPr>
          <p:cNvPr id="26" name="Text 24"/>
          <p:cNvSpPr txBox="1"/>
          <p:nvPr/>
        </p:nvSpPr>
        <p:spPr>
          <a:xfrm>
            <a:off x="640080" y="3685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1051560" y="3621024"/>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Review the evidence: verify or reject the ID</a:t>
            </a:r>
            <a:endParaRPr lang="en-US" sz="1300" dirty="0"/>
          </a:p>
        </p:txBody>
      </p:sp>
      <p:sp>
        <p:nvSpPr>
          <p:cNvPr id="28" name="Shape 26"/>
          <p:cNvSpPr/>
          <p:nvPr/>
        </p:nvSpPr>
        <p:spPr>
          <a:xfrm>
            <a:off x="548640" y="4133088"/>
            <a:ext cx="5394960" cy="420624"/>
          </a:xfrm>
          <a:prstGeom prst="roundRect">
            <a:avLst>
              <a:gd name="adj" fmla="val 17391"/>
            </a:avLst>
          </a:prstGeom>
          <a:solidFill>
            <a:srgbClr val="E2F1EC"/>
          </a:solidFill>
          <a:ln w="12700">
            <a:solidFill>
              <a:srgbClr val="2F7F6B"/>
            </a:solidFill>
            <a:prstDash val="solid"/>
          </a:ln>
        </p:spPr>
      </p:sp>
      <p:sp>
        <p:nvSpPr>
          <p:cNvPr id="29" name="Shape 27"/>
          <p:cNvSpPr/>
          <p:nvPr/>
        </p:nvSpPr>
        <p:spPr>
          <a:xfrm>
            <a:off x="640080" y="4197096"/>
            <a:ext cx="292608" cy="292608"/>
          </a:xfrm>
          <a:prstGeom prst="ellipse">
            <a:avLst/>
          </a:prstGeom>
          <a:solidFill>
            <a:srgbClr val="2F7F6B"/>
          </a:solidFill>
          <a:ln w="12700">
            <a:solidFill>
              <a:srgbClr val="2F7F6B"/>
            </a:solidFill>
            <a:prstDash val="solid"/>
          </a:ln>
        </p:spPr>
      </p:sp>
      <p:sp>
        <p:nvSpPr>
          <p:cNvPr id="30" name="Text 28"/>
          <p:cNvSpPr txBox="1"/>
          <p:nvPr/>
        </p:nvSpPr>
        <p:spPr>
          <a:xfrm>
            <a:off x="640080" y="41970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1051560" y="4133088"/>
            <a:ext cx="4800600" cy="420624"/>
          </a:xfrm>
          <a:prstGeom prst="rect">
            <a:avLst/>
          </a:prstGeom>
          <a:noFill/>
          <a:ln/>
        </p:spPr>
        <p:txBody>
          <a:bodyPr wrap="square" lIns="0" tIns="0" rIns="0" bIns="0" rtlCol="0" anchor="ctr"/>
          <a:lstStyle/>
          <a:p>
            <a:pPr indent="0" marL="0">
              <a:buNone/>
            </a:pPr>
            <a:r>
              <a:rPr lang="en-US" sz="1300" dirty="0">
                <a:solidFill>
                  <a:srgbClr val="14463B"/>
                </a:solidFill>
                <a:latin typeface="Calibri" pitchFamily="34" charset="0"/>
                <a:ea typeface="Calibri" pitchFamily="34" charset="-122"/>
                <a:cs typeface="Calibri" pitchFamily="34" charset="-120"/>
              </a:rPr>
              <a:t>Training and approval</a:t>
            </a:r>
            <a:endParaRPr lang="en-US" sz="1300" dirty="0"/>
          </a:p>
        </p:txBody>
      </p:sp>
      <p:sp>
        <p:nvSpPr>
          <p:cNvPr id="32" name="Shape 30"/>
          <p:cNvSpPr/>
          <p:nvPr/>
        </p:nvSpPr>
        <p:spPr>
          <a:xfrm>
            <a:off x="548640" y="4645152"/>
            <a:ext cx="5394960" cy="420624"/>
          </a:xfrm>
          <a:prstGeom prst="roundRect">
            <a:avLst>
              <a:gd name="adj" fmla="val 17391"/>
            </a:avLst>
          </a:prstGeom>
          <a:solidFill>
            <a:srgbClr val="ECEEF2"/>
          </a:solidFill>
          <a:ln w="12700">
            <a:solidFill>
              <a:srgbClr val="6B7482"/>
            </a:solidFill>
            <a:prstDash val="solid"/>
          </a:ln>
        </p:spPr>
      </p:sp>
      <p:sp>
        <p:nvSpPr>
          <p:cNvPr id="33" name="Shape 31"/>
          <p:cNvSpPr/>
          <p:nvPr/>
        </p:nvSpPr>
        <p:spPr>
          <a:xfrm>
            <a:off x="640080" y="4709160"/>
            <a:ext cx="292608" cy="292608"/>
          </a:xfrm>
          <a:prstGeom prst="ellipse">
            <a:avLst/>
          </a:prstGeom>
          <a:solidFill>
            <a:srgbClr val="6B7482"/>
          </a:solidFill>
          <a:ln w="12700">
            <a:solidFill>
              <a:srgbClr val="6B7482"/>
            </a:solidFill>
            <a:prstDash val="solid"/>
          </a:ln>
        </p:spPr>
      </p:sp>
      <p:sp>
        <p:nvSpPr>
          <p:cNvPr id="34" name="Text 32"/>
          <p:cNvSpPr txBox="1"/>
          <p:nvPr/>
        </p:nvSpPr>
        <p:spPr>
          <a:xfrm>
            <a:off x="640080" y="47091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5" name="Text 33"/>
          <p:cNvSpPr txBox="1"/>
          <p:nvPr/>
        </p:nvSpPr>
        <p:spPr>
          <a:xfrm>
            <a:off x="1051560" y="4645152"/>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Set entry and exit time, email the QR</a:t>
            </a:r>
            <a:endParaRPr lang="en-US" sz="1300" dirty="0"/>
          </a:p>
        </p:txBody>
      </p:sp>
      <p:sp>
        <p:nvSpPr>
          <p:cNvPr id="36" name="Shape 34"/>
          <p:cNvSpPr/>
          <p:nvPr/>
        </p:nvSpPr>
        <p:spPr>
          <a:xfrm>
            <a:off x="6245352" y="2084832"/>
            <a:ext cx="5394960" cy="420624"/>
          </a:xfrm>
          <a:prstGeom prst="roundRect">
            <a:avLst>
              <a:gd name="adj" fmla="val 17391"/>
            </a:avLst>
          </a:prstGeom>
          <a:solidFill>
            <a:srgbClr val="ECE9FA"/>
          </a:solidFill>
          <a:ln w="12700">
            <a:solidFill>
              <a:srgbClr val="6A5BC2"/>
            </a:solidFill>
            <a:prstDash val="solid"/>
          </a:ln>
        </p:spPr>
      </p:sp>
      <p:sp>
        <p:nvSpPr>
          <p:cNvPr id="37" name="Shape 35"/>
          <p:cNvSpPr/>
          <p:nvPr/>
        </p:nvSpPr>
        <p:spPr>
          <a:xfrm>
            <a:off x="6336792" y="2148840"/>
            <a:ext cx="292608" cy="292608"/>
          </a:xfrm>
          <a:prstGeom prst="ellipse">
            <a:avLst/>
          </a:prstGeom>
          <a:solidFill>
            <a:srgbClr val="6A5BC2"/>
          </a:solidFill>
          <a:ln w="12700">
            <a:solidFill>
              <a:srgbClr val="6A5BC2"/>
            </a:solidFill>
            <a:prstDash val="solid"/>
          </a:ln>
        </p:spPr>
      </p:sp>
      <p:sp>
        <p:nvSpPr>
          <p:cNvPr id="38" name="Text 36"/>
          <p:cNvSpPr txBox="1"/>
          <p:nvPr/>
        </p:nvSpPr>
        <p:spPr>
          <a:xfrm>
            <a:off x="6336792" y="2148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9" name="Text 37"/>
          <p:cNvSpPr txBox="1"/>
          <p:nvPr/>
        </p:nvSpPr>
        <p:spPr>
          <a:xfrm>
            <a:off x="6748272" y="2084832"/>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Scan the entrance sign</a:t>
            </a:r>
            <a:endParaRPr lang="en-US" sz="1300" dirty="0"/>
          </a:p>
        </p:txBody>
      </p:sp>
      <p:sp>
        <p:nvSpPr>
          <p:cNvPr id="40" name="Shape 38"/>
          <p:cNvSpPr/>
          <p:nvPr/>
        </p:nvSpPr>
        <p:spPr>
          <a:xfrm>
            <a:off x="6245352" y="2596896"/>
            <a:ext cx="5394960" cy="420624"/>
          </a:xfrm>
          <a:prstGeom prst="roundRect">
            <a:avLst>
              <a:gd name="adj" fmla="val 17391"/>
            </a:avLst>
          </a:prstGeom>
          <a:solidFill>
            <a:srgbClr val="ECE9FA"/>
          </a:solidFill>
          <a:ln w="12700">
            <a:solidFill>
              <a:srgbClr val="6A5BC2"/>
            </a:solidFill>
            <a:prstDash val="solid"/>
          </a:ln>
        </p:spPr>
      </p:sp>
      <p:sp>
        <p:nvSpPr>
          <p:cNvPr id="41" name="Shape 39"/>
          <p:cNvSpPr/>
          <p:nvPr/>
        </p:nvSpPr>
        <p:spPr>
          <a:xfrm>
            <a:off x="6336792" y="2660904"/>
            <a:ext cx="292608" cy="292608"/>
          </a:xfrm>
          <a:prstGeom prst="ellipse">
            <a:avLst/>
          </a:prstGeom>
          <a:solidFill>
            <a:srgbClr val="6A5BC2"/>
          </a:solidFill>
          <a:ln w="12700">
            <a:solidFill>
              <a:srgbClr val="6A5BC2"/>
            </a:solidFill>
            <a:prstDash val="solid"/>
          </a:ln>
        </p:spPr>
      </p:sp>
      <p:sp>
        <p:nvSpPr>
          <p:cNvPr id="42" name="Text 40"/>
          <p:cNvSpPr txBox="1"/>
          <p:nvPr/>
        </p:nvSpPr>
        <p:spPr>
          <a:xfrm>
            <a:off x="6336792" y="26609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1"/>
          <p:cNvSpPr txBox="1"/>
          <p:nvPr/>
        </p:nvSpPr>
        <p:spPr>
          <a:xfrm>
            <a:off x="6748272" y="2596896"/>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Fill in the form and upload an ID with its expiry date</a:t>
            </a:r>
            <a:endParaRPr lang="en-US" sz="1300" dirty="0"/>
          </a:p>
        </p:txBody>
      </p:sp>
      <p:sp>
        <p:nvSpPr>
          <p:cNvPr id="44" name="Shape 42"/>
          <p:cNvSpPr/>
          <p:nvPr/>
        </p:nvSpPr>
        <p:spPr>
          <a:xfrm>
            <a:off x="6245352" y="3108960"/>
            <a:ext cx="5394960" cy="420624"/>
          </a:xfrm>
          <a:prstGeom prst="roundRect">
            <a:avLst>
              <a:gd name="adj" fmla="val 17391"/>
            </a:avLst>
          </a:prstGeom>
          <a:solidFill>
            <a:srgbClr val="ECE9FA"/>
          </a:solidFill>
          <a:ln w="12700">
            <a:solidFill>
              <a:srgbClr val="6A5BC2"/>
            </a:solidFill>
            <a:prstDash val="solid"/>
          </a:ln>
        </p:spPr>
      </p:sp>
      <p:sp>
        <p:nvSpPr>
          <p:cNvPr id="45" name="Shape 43"/>
          <p:cNvSpPr/>
          <p:nvPr/>
        </p:nvSpPr>
        <p:spPr>
          <a:xfrm>
            <a:off x="6336792" y="3172968"/>
            <a:ext cx="292608" cy="292608"/>
          </a:xfrm>
          <a:prstGeom prst="ellipse">
            <a:avLst/>
          </a:prstGeom>
          <a:solidFill>
            <a:srgbClr val="6A5BC2"/>
          </a:solidFill>
          <a:ln w="12700">
            <a:solidFill>
              <a:srgbClr val="6A5BC2"/>
            </a:solidFill>
            <a:prstDash val="solid"/>
          </a:ln>
        </p:spPr>
      </p:sp>
      <p:sp>
        <p:nvSpPr>
          <p:cNvPr id="46" name="Text 44"/>
          <p:cNvSpPr txBox="1"/>
          <p:nvPr/>
        </p:nvSpPr>
        <p:spPr>
          <a:xfrm>
            <a:off x="6336792" y="31729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7" name="Text 45"/>
          <p:cNvSpPr txBox="1"/>
          <p:nvPr/>
        </p:nvSpPr>
        <p:spPr>
          <a:xfrm>
            <a:off x="6748272" y="3108960"/>
            <a:ext cx="4800600" cy="420624"/>
          </a:xfrm>
          <a:prstGeom prst="rect">
            <a:avLst/>
          </a:prstGeom>
          <a:noFill/>
          <a:ln/>
        </p:spPr>
        <p:txBody>
          <a:bodyPr wrap="square" lIns="0" tIns="0" rIns="0" bIns="0" rtlCol="0" anchor="ctr"/>
          <a:lstStyle/>
          <a:p>
            <a:pPr indent="0" marL="0">
              <a:buNone/>
            </a:pPr>
            <a:r>
              <a:rPr lang="en-US" sz="1300" dirty="0">
                <a:solidFill>
                  <a:srgbClr val="2D2570"/>
                </a:solidFill>
                <a:latin typeface="Calibri" pitchFamily="34" charset="0"/>
                <a:ea typeface="Calibri" pitchFamily="34" charset="-122"/>
                <a:cs typeface="Calibri" pitchFamily="34" charset="-120"/>
              </a:rPr>
              <a:t>Confirm the life-saving rules</a:t>
            </a:r>
            <a:endParaRPr lang="en-US" sz="1300" dirty="0"/>
          </a:p>
        </p:txBody>
      </p:sp>
      <p:sp>
        <p:nvSpPr>
          <p:cNvPr id="48" name="Shape 46"/>
          <p:cNvSpPr/>
          <p:nvPr/>
        </p:nvSpPr>
        <p:spPr>
          <a:xfrm>
            <a:off x="6245352" y="3621024"/>
            <a:ext cx="5394960" cy="420624"/>
          </a:xfrm>
          <a:prstGeom prst="roundRect">
            <a:avLst>
              <a:gd name="adj" fmla="val 17391"/>
            </a:avLst>
          </a:prstGeom>
          <a:solidFill>
            <a:srgbClr val="ECEEF2"/>
          </a:solidFill>
          <a:ln w="12700">
            <a:solidFill>
              <a:srgbClr val="6B7482"/>
            </a:solidFill>
            <a:prstDash val="solid"/>
          </a:ln>
        </p:spPr>
      </p:sp>
      <p:sp>
        <p:nvSpPr>
          <p:cNvPr id="49" name="Shape 47"/>
          <p:cNvSpPr/>
          <p:nvPr/>
        </p:nvSpPr>
        <p:spPr>
          <a:xfrm>
            <a:off x="6336792" y="3685032"/>
            <a:ext cx="292608" cy="292608"/>
          </a:xfrm>
          <a:prstGeom prst="ellipse">
            <a:avLst/>
          </a:prstGeom>
          <a:solidFill>
            <a:srgbClr val="6B7482"/>
          </a:solidFill>
          <a:ln w="12700">
            <a:solidFill>
              <a:srgbClr val="6B7482"/>
            </a:solidFill>
            <a:prstDash val="solid"/>
          </a:ln>
        </p:spPr>
      </p:sp>
      <p:sp>
        <p:nvSpPr>
          <p:cNvPr id="50" name="Text 48"/>
          <p:cNvSpPr txBox="1"/>
          <p:nvPr/>
        </p:nvSpPr>
        <p:spPr>
          <a:xfrm>
            <a:off x="6336792" y="3685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6748272" y="3621024"/>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Check the email address with a 6-digit code</a:t>
            </a:r>
            <a:endParaRPr lang="en-US" sz="1300" dirty="0"/>
          </a:p>
        </p:txBody>
      </p:sp>
      <p:sp>
        <p:nvSpPr>
          <p:cNvPr id="52" name="Shape 50"/>
          <p:cNvSpPr/>
          <p:nvPr/>
        </p:nvSpPr>
        <p:spPr>
          <a:xfrm>
            <a:off x="6245352" y="4133088"/>
            <a:ext cx="5394960" cy="420624"/>
          </a:xfrm>
          <a:prstGeom prst="roundRect">
            <a:avLst>
              <a:gd name="adj" fmla="val 17391"/>
            </a:avLst>
          </a:prstGeom>
          <a:solidFill>
            <a:srgbClr val="ECEEF2"/>
          </a:solidFill>
          <a:ln w="12700">
            <a:solidFill>
              <a:srgbClr val="6B7482"/>
            </a:solidFill>
            <a:prstDash val="solid"/>
          </a:ln>
        </p:spPr>
      </p:sp>
      <p:sp>
        <p:nvSpPr>
          <p:cNvPr id="53" name="Shape 51"/>
          <p:cNvSpPr/>
          <p:nvPr/>
        </p:nvSpPr>
        <p:spPr>
          <a:xfrm>
            <a:off x="6336792" y="4197096"/>
            <a:ext cx="292608" cy="292608"/>
          </a:xfrm>
          <a:prstGeom prst="ellipse">
            <a:avLst/>
          </a:prstGeom>
          <a:solidFill>
            <a:srgbClr val="6B7482"/>
          </a:solidFill>
          <a:ln w="12700">
            <a:solidFill>
              <a:srgbClr val="6B7482"/>
            </a:solidFill>
            <a:prstDash val="solid"/>
          </a:ln>
        </p:spPr>
      </p:sp>
      <p:sp>
        <p:nvSpPr>
          <p:cNvPr id="54" name="Text 52"/>
          <p:cNvSpPr txBox="1"/>
          <p:nvPr/>
        </p:nvSpPr>
        <p:spPr>
          <a:xfrm>
            <a:off x="6336792" y="419709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55" name="Text 53"/>
          <p:cNvSpPr txBox="1"/>
          <p:nvPr/>
        </p:nvSpPr>
        <p:spPr>
          <a:xfrm>
            <a:off x="6748272" y="4133088"/>
            <a:ext cx="4800600" cy="420624"/>
          </a:xfrm>
          <a:prstGeom prst="rect">
            <a:avLst/>
          </a:prstGeom>
          <a:noFill/>
          <a:ln/>
        </p:spPr>
        <p:txBody>
          <a:bodyPr wrap="square" lIns="0" tIns="0" rIns="0" bIns="0" rtlCol="0" anchor="ctr"/>
          <a:lstStyle/>
          <a:p>
            <a:pPr indent="0" marL="0">
              <a:buNone/>
            </a:pPr>
            <a:r>
              <a:rPr lang="en-US" sz="1300" dirty="0">
                <a:solidFill>
                  <a:srgbClr val="232831"/>
                </a:solidFill>
                <a:latin typeface="Calibri" pitchFamily="34" charset="0"/>
                <a:ea typeface="Calibri" pitchFamily="34" charset="-122"/>
                <a:cs typeface="Calibri" pitchFamily="34" charset="-120"/>
              </a:rPr>
              <a:t>Entry QR, reference and validity issued</a:t>
            </a:r>
            <a:endParaRPr lang="en-US" sz="1300" dirty="0"/>
          </a:p>
        </p:txBody>
      </p:sp>
      <p:sp>
        <p:nvSpPr>
          <p:cNvPr id="56" name="Shape 54"/>
          <p:cNvSpPr/>
          <p:nvPr/>
        </p:nvSpPr>
        <p:spPr>
          <a:xfrm>
            <a:off x="6245352" y="4645152"/>
            <a:ext cx="5394960" cy="420624"/>
          </a:xfrm>
          <a:prstGeom prst="roundRect">
            <a:avLst>
              <a:gd name="adj" fmla="val 17391"/>
            </a:avLst>
          </a:prstGeom>
          <a:solidFill>
            <a:srgbClr val="FFFFFF"/>
          </a:solidFill>
          <a:ln w="12700">
            <a:solidFill>
              <a:srgbClr val="D85A30"/>
            </a:solidFill>
            <a:prstDash val="dash"/>
          </a:ln>
        </p:spPr>
      </p:sp>
      <p:sp>
        <p:nvSpPr>
          <p:cNvPr id="57" name="Text 55"/>
          <p:cNvSpPr txBox="1"/>
          <p:nvPr/>
        </p:nvSpPr>
        <p:spPr>
          <a:xfrm>
            <a:off x="6382512" y="4645152"/>
            <a:ext cx="5212080" cy="420624"/>
          </a:xfrm>
          <a:prstGeom prst="rect">
            <a:avLst/>
          </a:prstGeom>
          <a:noFill/>
          <a:ln/>
        </p:spPr>
        <p:txBody>
          <a:bodyPr wrap="square" lIns="0" tIns="0" rIns="0" bIns="0" rtlCol="0" anchor="ctr"/>
          <a:lstStyle/>
          <a:p>
            <a:pPr indent="0" marL="0">
              <a:buNone/>
            </a:pPr>
            <a:r>
              <a:rPr lang="en-US" sz="1200" dirty="0">
                <a:solidFill>
                  <a:srgbClr val="8A2E10"/>
                </a:solidFill>
                <a:latin typeface="Calibri" pitchFamily="34" charset="0"/>
                <a:ea typeface="Calibri" pitchFamily="34" charset="-122"/>
                <a:cs typeface="Calibri" pitchFamily="34" charset="-120"/>
              </a:rPr>
              <a:t>Open for Renewi: who may use Path B, and how do we know they are expected?</a:t>
            </a:r>
            <a:endParaRPr lang="en-US" sz="1200" dirty="0"/>
          </a:p>
        </p:txBody>
      </p:sp>
      <p:sp>
        <p:nvSpPr>
          <p:cNvPr id="58" name="Shape 56"/>
          <p:cNvSpPr/>
          <p:nvPr/>
        </p:nvSpPr>
        <p:spPr>
          <a:xfrm>
            <a:off x="548640" y="5166360"/>
            <a:ext cx="11091672" cy="457200"/>
          </a:xfrm>
          <a:prstGeom prst="roundRect">
            <a:avLst>
              <a:gd name="adj" fmla="val 16000"/>
            </a:avLst>
          </a:prstGeom>
          <a:solidFill>
            <a:srgbClr val="FBEFD9"/>
          </a:solidFill>
          <a:ln w="12700">
            <a:solidFill>
              <a:srgbClr val="B7791F"/>
            </a:solidFill>
            <a:prstDash val="solid"/>
          </a:ln>
        </p:spPr>
      </p:sp>
      <p:sp>
        <p:nvSpPr>
          <p:cNvPr id="59" name="Text 57"/>
          <p:cNvSpPr txBox="1"/>
          <p:nvPr/>
        </p:nvSpPr>
        <p:spPr>
          <a:xfrm>
            <a:off x="731520" y="5166360"/>
            <a:ext cx="10789920" cy="45720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AT THE GATE  </a:t>
            </a:r>
            <a:pPr indent="0" marL="0">
              <a:buNone/>
            </a:pPr>
            <a:r>
              <a:rPr lang="en-US" sz="1400" dirty="0">
                <a:solidFill>
                  <a:srgbClr val="573906"/>
                </a:solidFill>
                <a:latin typeface="Calibri" pitchFamily="34" charset="0"/>
                <a:ea typeface="Calibri" pitchFamily="34" charset="-122"/>
                <a:cs typeface="Calibri" pitchFamily="34" charset="-120"/>
              </a:rPr>
              <a:t>Read the code  →  Check entry and exit time and the records  →  Let in, or refuse and record why</a:t>
            </a:r>
            <a:endParaRPr lang="en-US" sz="1100" dirty="0"/>
          </a:p>
        </p:txBody>
      </p:sp>
      <p:sp>
        <p:nvSpPr>
          <p:cNvPr id="60" name="Shape 58"/>
          <p:cNvSpPr/>
          <p:nvPr/>
        </p:nvSpPr>
        <p:spPr>
          <a:xfrm>
            <a:off x="548640" y="5715000"/>
            <a:ext cx="11091672" cy="457200"/>
          </a:xfrm>
          <a:prstGeom prst="roundRect">
            <a:avLst>
              <a:gd name="adj" fmla="val 16000"/>
            </a:avLst>
          </a:prstGeom>
          <a:solidFill>
            <a:srgbClr val="ECEEF2"/>
          </a:solidFill>
          <a:ln w="12700">
            <a:solidFill>
              <a:srgbClr val="6B7482"/>
            </a:solidFill>
            <a:prstDash val="solid"/>
          </a:ln>
        </p:spPr>
      </p:sp>
      <p:sp>
        <p:nvSpPr>
          <p:cNvPr id="61" name="Text 59"/>
          <p:cNvSpPr txBox="1"/>
          <p:nvPr/>
        </p:nvSpPr>
        <p:spPr>
          <a:xfrm>
            <a:off x="731520" y="5715000"/>
            <a:ext cx="10789920" cy="457200"/>
          </a:xfrm>
          <a:prstGeom prst="rect">
            <a:avLst/>
          </a:prstGeom>
          <a:noFill/>
          <a:ln/>
        </p:spPr>
        <p:txBody>
          <a:bodyPr wrap="square" lIns="0" tIns="0" rIns="0" bIns="0" rtlCol="0" anchor="ctr"/>
          <a:lstStyle/>
          <a:p>
            <a:pPr indent="0" marL="0">
              <a:buNone/>
            </a:pPr>
            <a:r>
              <a:rPr lang="en-US" sz="1100" b="1" dirty="0">
                <a:solidFill>
                  <a:srgbClr val="6B7482"/>
                </a:solidFill>
                <a:latin typeface="Calibri" pitchFamily="34" charset="0"/>
                <a:ea typeface="Calibri" pitchFamily="34" charset="-122"/>
                <a:cs typeface="Calibri" pitchFamily="34" charset="-120"/>
              </a:rPr>
              <a:t>ON SITE AND AFTER  </a:t>
            </a:r>
            <a:pPr indent="0" marL="0">
              <a:buNone/>
            </a:pPr>
            <a:r>
              <a:rPr lang="en-US" sz="1400" dirty="0">
                <a:solidFill>
                  <a:srgbClr val="232831"/>
                </a:solidFill>
                <a:latin typeface="Calibri" pitchFamily="34" charset="0"/>
                <a:ea typeface="Calibri" pitchFamily="34" charset="-122"/>
                <a:cs typeface="Calibri" pitchFamily="34" charset="-120"/>
              </a:rPr>
              <a:t>Live roster and dashboard, both paths  →  Overdue flagged  →  Record exit  →  Audit trail</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A: planned arrival</a:t>
            </a:r>
            <a:endParaRPr lang="en-US" sz="3200" dirty="0"/>
          </a:p>
        </p:txBody>
      </p:sp>
      <p:sp>
        <p:nvSpPr>
          <p:cNvPr id="3" name="card Invite"/>
          <p:cNvSpPr/>
          <p:nvPr/>
        </p:nvSpPr>
        <p:spPr>
          <a:xfrm>
            <a:off x="548640" y="1325880"/>
            <a:ext cx="3566160" cy="2331720"/>
          </a:xfrm>
          <a:prstGeom prst="roundRect">
            <a:avLst>
              <a:gd name="adj" fmla="val 3922"/>
            </a:avLst>
          </a:prstGeom>
          <a:solidFill>
            <a:srgbClr val="E2F1EC"/>
          </a:solidFill>
          <a:ln w="12700">
            <a:solidFill>
              <a:srgbClr val="2F7F6B"/>
            </a:solidFill>
            <a:prstDash val="solid"/>
          </a:ln>
        </p:spPr>
      </p:sp>
      <p:sp>
        <p:nvSpPr>
          <p:cNvPr id="4" name="num 1"/>
          <p:cNvSpPr/>
          <p:nvPr/>
        </p:nvSpPr>
        <p:spPr>
          <a:xfrm>
            <a:off x="731520" y="1508760"/>
            <a:ext cx="384048" cy="384048"/>
          </a:xfrm>
          <a:prstGeom prst="ellipse">
            <a:avLst/>
          </a:prstGeom>
          <a:solidFill>
            <a:srgbClr val="2F7F6B"/>
          </a:solidFill>
          <a:ln w="12700">
            <a:solidFill>
              <a:srgbClr val="2F7F6B"/>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Invite</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enter the person's email, company, purpose and visit window. An email with an accept link is sent.</a:t>
            </a:r>
            <a:endParaRPr lang="en-US" sz="1400" dirty="0"/>
          </a:p>
        </p:txBody>
      </p:sp>
      <p:sp>
        <p:nvSpPr>
          <p:cNvPr id="9" name="card Accept and register"/>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Accept and register</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person opens the link, accepts, enters their name and uploads an ID document with its expiry date.</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169164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Shape 17"/>
          <p:cNvSpPr/>
          <p:nvPr/>
        </p:nvSpPr>
        <p:spPr>
          <a:xfrm>
            <a:off x="10515600" y="1435608"/>
            <a:ext cx="914400" cy="237744"/>
          </a:xfrm>
          <a:prstGeom prst="roundRect">
            <a:avLst>
              <a:gd name="adj" fmla="val 50000"/>
            </a:avLst>
          </a:prstGeom>
          <a:solidFill>
            <a:srgbClr val="FFE3D8"/>
          </a:solidFill>
          <a:ln w="9525">
            <a:solidFill>
              <a:srgbClr val="D85A30"/>
            </a:solidFill>
            <a:prstDash val="solid"/>
          </a:ln>
        </p:spPr>
      </p:sp>
      <p:sp>
        <p:nvSpPr>
          <p:cNvPr id="20" name="Text 18"/>
          <p:cNvSpPr txBox="1"/>
          <p:nvPr/>
        </p:nvSpPr>
        <p:spPr>
          <a:xfrm>
            <a:off x="1051560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2" name="Text 20"/>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They tick one statement that they read and understood the rules. Wording, version and time are stored.</a:t>
            </a:r>
            <a:endParaRPr lang="en-US" sz="1400" dirty="0"/>
          </a:p>
        </p:txBody>
      </p:sp>
      <p:sp>
        <p:nvSpPr>
          <p:cNvPr id="23" name="card Review the evidence"/>
          <p:cNvSpPr/>
          <p:nvPr/>
        </p:nvSpPr>
        <p:spPr>
          <a:xfrm>
            <a:off x="548640" y="3840480"/>
            <a:ext cx="3566160" cy="2331720"/>
          </a:xfrm>
          <a:prstGeom prst="roundRect">
            <a:avLst>
              <a:gd name="adj" fmla="val 3922"/>
            </a:avLst>
          </a:prstGeom>
          <a:solidFill>
            <a:srgbClr val="E2F1EC"/>
          </a:solidFill>
          <a:ln w="12700">
            <a:solidFill>
              <a:srgbClr val="2F7F6B"/>
            </a:solidFill>
            <a:prstDash val="solid"/>
          </a:ln>
        </p:spPr>
      </p:sp>
      <p:sp>
        <p:nvSpPr>
          <p:cNvPr id="24" name="num 4"/>
          <p:cNvSpPr/>
          <p:nvPr/>
        </p:nvSpPr>
        <p:spPr>
          <a:xfrm>
            <a:off x="731520" y="4023360"/>
            <a:ext cx="384048" cy="384048"/>
          </a:xfrm>
          <a:prstGeom prst="ellipse">
            <a:avLst/>
          </a:prstGeom>
          <a:solidFill>
            <a:srgbClr val="2F7F6B"/>
          </a:solidFill>
          <a:ln w="12700">
            <a:solidFill>
              <a:srgbClr val="2F7F6B"/>
            </a:solidFill>
            <a:prstDash val="solid"/>
          </a:ln>
        </p:spPr>
      </p:sp>
      <p:sp>
        <p:nvSpPr>
          <p:cNvPr id="25" name="Text 23"/>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27" name="Text 25"/>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Review the evidence</a:t>
            </a:r>
            <a:endParaRPr lang="en-US" sz="1600" dirty="0"/>
          </a:p>
        </p:txBody>
      </p:sp>
      <p:sp>
        <p:nvSpPr>
          <p:cNvPr id="28" name="Text 26"/>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Staff compare the ID with what was entered, then verify or reject it. Nothing moves on until it is verified.</a:t>
            </a:r>
            <a:endParaRPr lang="en-US" sz="1400" dirty="0"/>
          </a:p>
        </p:txBody>
      </p:sp>
      <p:sp>
        <p:nvSpPr>
          <p:cNvPr id="29" name="card Training and approval"/>
          <p:cNvSpPr/>
          <p:nvPr/>
        </p:nvSpPr>
        <p:spPr>
          <a:xfrm>
            <a:off x="4297680" y="3840480"/>
            <a:ext cx="3566160" cy="2331720"/>
          </a:xfrm>
          <a:prstGeom prst="roundRect">
            <a:avLst>
              <a:gd name="adj" fmla="val 3922"/>
            </a:avLst>
          </a:prstGeom>
          <a:solidFill>
            <a:srgbClr val="E2F1EC"/>
          </a:solidFill>
          <a:ln w="12700">
            <a:solidFill>
              <a:srgbClr val="2F7F6B"/>
            </a:solidFill>
            <a:prstDash val="solid"/>
          </a:ln>
        </p:spPr>
      </p:sp>
      <p:sp>
        <p:nvSpPr>
          <p:cNvPr id="30" name="num 5"/>
          <p:cNvSpPr/>
          <p:nvPr/>
        </p:nvSpPr>
        <p:spPr>
          <a:xfrm>
            <a:off x="4480560" y="4023360"/>
            <a:ext cx="384048" cy="384048"/>
          </a:xfrm>
          <a:prstGeom prst="ellipse">
            <a:avLst/>
          </a:prstGeom>
          <a:solidFill>
            <a:srgbClr val="2F7F6B"/>
          </a:solidFill>
          <a:ln w="12700">
            <a:solidFill>
              <a:srgbClr val="2F7F6B"/>
            </a:solidFill>
            <a:prstDash val="solid"/>
          </a:ln>
        </p:spPr>
      </p:sp>
      <p:sp>
        <p:nvSpPr>
          <p:cNvPr id="31" name="Text 29"/>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2" name="Text 30"/>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33" name="Text 31"/>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Training and approval</a:t>
            </a:r>
            <a:endParaRPr lang="en-US" sz="1600" dirty="0"/>
          </a:p>
        </p:txBody>
      </p:sp>
      <p:sp>
        <p:nvSpPr>
          <p:cNvPr id="34" name="Text 32"/>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An administrator confirms the training, then staff approve. Blacklist, compliance and the confirmation are checked.</a:t>
            </a:r>
            <a:endParaRPr lang="en-US" sz="1400" dirty="0"/>
          </a:p>
        </p:txBody>
      </p:sp>
      <p:sp>
        <p:nvSpPr>
          <p:cNvPr id="35" name="card Set times, issue QR"/>
          <p:cNvSpPr/>
          <p:nvPr/>
        </p:nvSpPr>
        <p:spPr>
          <a:xfrm>
            <a:off x="8046720" y="3840480"/>
            <a:ext cx="3566160" cy="2331720"/>
          </a:xfrm>
          <a:prstGeom prst="roundRect">
            <a:avLst>
              <a:gd name="adj" fmla="val 3922"/>
            </a:avLst>
          </a:prstGeom>
          <a:solidFill>
            <a:srgbClr val="ECEEF2"/>
          </a:solidFill>
          <a:ln w="12700">
            <a:solidFill>
              <a:srgbClr val="6B7482"/>
            </a:solidFill>
            <a:prstDash val="solid"/>
          </a:ln>
        </p:spPr>
      </p:sp>
      <p:sp>
        <p:nvSpPr>
          <p:cNvPr id="36" name="num 6"/>
          <p:cNvSpPr/>
          <p:nvPr/>
        </p:nvSpPr>
        <p:spPr>
          <a:xfrm>
            <a:off x="8229600" y="4023360"/>
            <a:ext cx="384048" cy="384048"/>
          </a:xfrm>
          <a:prstGeom prst="ellipse">
            <a:avLst/>
          </a:prstGeom>
          <a:solidFill>
            <a:srgbClr val="6B7482"/>
          </a:solidFill>
          <a:ln w="12700">
            <a:solidFill>
              <a:srgbClr val="6B7482"/>
            </a:solidFill>
            <a:prstDash val="solid"/>
          </a:ln>
        </p:spPr>
      </p:sp>
      <p:sp>
        <p:nvSpPr>
          <p:cNvPr id="37" name="Text 35"/>
          <p:cNvSpPr txBox="1"/>
          <p:nvPr/>
        </p:nvSpPr>
        <p:spPr>
          <a:xfrm>
            <a:off x="822960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8" name="Text 36"/>
          <p:cNvSpPr txBox="1"/>
          <p:nvPr/>
        </p:nvSpPr>
        <p:spPr>
          <a:xfrm>
            <a:off x="873252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9" name="Text 37"/>
          <p:cNvSpPr txBox="1"/>
          <p:nvPr/>
        </p:nvSpPr>
        <p:spPr>
          <a:xfrm>
            <a:off x="873252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Set times, issue QR</a:t>
            </a:r>
            <a:endParaRPr lang="en-US" sz="1600" dirty="0"/>
          </a:p>
        </p:txBody>
      </p:sp>
      <p:sp>
        <p:nvSpPr>
          <p:cNvPr id="40" name="Text 38"/>
          <p:cNvSpPr txBox="1"/>
          <p:nvPr/>
        </p:nvSpPr>
        <p:spPr>
          <a:xfrm>
            <a:off x="873252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Staff set when the QR opens and stops, within the visit and the site's longest allowed time. It is emailed with both times.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Path B: unexpected arrival, new in v2</a:t>
            </a:r>
            <a:endParaRPr lang="en-US" sz="3200" dirty="0"/>
          </a:p>
        </p:txBody>
      </p:sp>
      <p:sp>
        <p:nvSpPr>
          <p:cNvPr id="3" name="card Scan the entrance sign"/>
          <p:cNvSpPr/>
          <p:nvPr/>
        </p:nvSpPr>
        <p:spPr>
          <a:xfrm>
            <a:off x="548640" y="1325880"/>
            <a:ext cx="3566160" cy="2331720"/>
          </a:xfrm>
          <a:prstGeom prst="roundRect">
            <a:avLst>
              <a:gd name="adj" fmla="val 3922"/>
            </a:avLst>
          </a:prstGeom>
          <a:solidFill>
            <a:srgbClr val="ECE9FA"/>
          </a:solidFill>
          <a:ln w="12700">
            <a:solidFill>
              <a:srgbClr val="6A5BC2"/>
            </a:solidFill>
            <a:prstDash val="solid"/>
          </a:ln>
        </p:spPr>
      </p:sp>
      <p:sp>
        <p:nvSpPr>
          <p:cNvPr id="4" name="num 1"/>
          <p:cNvSpPr/>
          <p:nvPr/>
        </p:nvSpPr>
        <p:spPr>
          <a:xfrm>
            <a:off x="731520" y="1508760"/>
            <a:ext cx="384048" cy="384048"/>
          </a:xfrm>
          <a:prstGeom prst="ellipse">
            <a:avLst/>
          </a:prstGeom>
          <a:solidFill>
            <a:srgbClr val="6A5BC2"/>
          </a:solidFill>
          <a:ln w="12700">
            <a:solidFill>
              <a:srgbClr val="6A5BC2"/>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Scan the entrance sign</a:t>
            </a:r>
            <a:endParaRPr lang="en-US" sz="1600" dirty="0"/>
          </a:p>
        </p:txBody>
      </p:sp>
      <p:sp>
        <p:nvSpPr>
          <p:cNvPr id="8" name="Text 6"/>
          <p:cNvSpPr txBox="1"/>
          <p:nvPr/>
        </p:nvSpPr>
        <p:spPr>
          <a:xfrm>
            <a:off x="123444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A fixed QR at the entrance opens the registration page. No app and no invitation are needed.</a:t>
            </a:r>
            <a:endParaRPr lang="en-US" sz="1400" dirty="0"/>
          </a:p>
        </p:txBody>
      </p:sp>
      <p:sp>
        <p:nvSpPr>
          <p:cNvPr id="9" name="card Fill in the form and ID"/>
          <p:cNvSpPr/>
          <p:nvPr/>
        </p:nvSpPr>
        <p:spPr>
          <a:xfrm>
            <a:off x="4297680" y="1325880"/>
            <a:ext cx="3566160" cy="2331720"/>
          </a:xfrm>
          <a:prstGeom prst="roundRect">
            <a:avLst>
              <a:gd name="adj" fmla="val 3922"/>
            </a:avLst>
          </a:prstGeom>
          <a:solidFill>
            <a:srgbClr val="ECE9FA"/>
          </a:solidFill>
          <a:ln w="12700">
            <a:solidFill>
              <a:srgbClr val="6A5BC2"/>
            </a:solidFill>
            <a:prstDash val="solid"/>
          </a:ln>
        </p:spPr>
      </p:sp>
      <p:sp>
        <p:nvSpPr>
          <p:cNvPr id="10" name="num 2"/>
          <p:cNvSpPr/>
          <p:nvPr/>
        </p:nvSpPr>
        <p:spPr>
          <a:xfrm>
            <a:off x="4480560" y="1508760"/>
            <a:ext cx="384048" cy="384048"/>
          </a:xfrm>
          <a:prstGeom prst="ellipse">
            <a:avLst/>
          </a:prstGeom>
          <a:solidFill>
            <a:srgbClr val="6A5BC2"/>
          </a:solidFill>
          <a:ln w="12700">
            <a:solidFill>
              <a:srgbClr val="6A5BC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3" name="Text 11"/>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Fill in the form and ID</a:t>
            </a:r>
            <a:endParaRPr lang="en-US" sz="1600" dirty="0"/>
          </a:p>
        </p:txBody>
      </p:sp>
      <p:sp>
        <p:nvSpPr>
          <p:cNvPr id="14" name="Text 12"/>
          <p:cNvSpPr txBox="1"/>
          <p:nvPr/>
        </p:nvSpPr>
        <p:spPr>
          <a:xfrm>
            <a:off x="498348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Name, company, email and category, plus a photo or scan of their ID with its expiry date. They preview it before submitting.</a:t>
            </a:r>
            <a:endParaRPr lang="en-US" sz="1400" dirty="0"/>
          </a:p>
        </p:txBody>
      </p:sp>
      <p:sp>
        <p:nvSpPr>
          <p:cNvPr id="15" name="card Confirm life-saving rules"/>
          <p:cNvSpPr/>
          <p:nvPr/>
        </p:nvSpPr>
        <p:spPr>
          <a:xfrm>
            <a:off x="8046720" y="1325880"/>
            <a:ext cx="3566160" cy="2331720"/>
          </a:xfrm>
          <a:prstGeom prst="roundRect">
            <a:avLst>
              <a:gd name="adj" fmla="val 3922"/>
            </a:avLst>
          </a:prstGeom>
          <a:solidFill>
            <a:srgbClr val="ECE9FA"/>
          </a:solidFill>
          <a:ln w="12700">
            <a:solidFill>
              <a:srgbClr val="6A5BC2"/>
            </a:solidFill>
            <a:prstDash val="solid"/>
          </a:ln>
        </p:spPr>
      </p:sp>
      <p:sp>
        <p:nvSpPr>
          <p:cNvPr id="16" name="num 3"/>
          <p:cNvSpPr/>
          <p:nvPr/>
        </p:nvSpPr>
        <p:spPr>
          <a:xfrm>
            <a:off x="8229600" y="1508760"/>
            <a:ext cx="384048" cy="384048"/>
          </a:xfrm>
          <a:prstGeom prst="ellipse">
            <a:avLst/>
          </a:prstGeom>
          <a:solidFill>
            <a:srgbClr val="6A5BC2"/>
          </a:solidFill>
          <a:ln w="12700">
            <a:solidFill>
              <a:srgbClr val="6A5BC2"/>
            </a:solidFill>
            <a:prstDash val="solid"/>
          </a:ln>
        </p:spPr>
      </p:sp>
      <p:sp>
        <p:nvSpPr>
          <p:cNvPr id="17" name="Text 15"/>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6A5BC2"/>
                </a:solidFill>
                <a:latin typeface="Calibri" pitchFamily="34" charset="0"/>
                <a:ea typeface="Calibri" pitchFamily="34" charset="-122"/>
                <a:cs typeface="Calibri" pitchFamily="34" charset="-120"/>
              </a:rPr>
              <a:t>THE PERSON</a:t>
            </a:r>
            <a:endParaRPr lang="en-US" sz="1100" dirty="0"/>
          </a:p>
        </p:txBody>
      </p:sp>
      <p:sp>
        <p:nvSpPr>
          <p:cNvPr id="19" name="Text 17"/>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2D2570"/>
                </a:solidFill>
                <a:latin typeface="Calibri" pitchFamily="34" charset="0"/>
                <a:ea typeface="Calibri" pitchFamily="34" charset="-122"/>
                <a:cs typeface="Calibri" pitchFamily="34" charset="-120"/>
              </a:rPr>
              <a:t>Confirm life-saving rules</a:t>
            </a:r>
            <a:endParaRPr lang="en-US" sz="1600" dirty="0"/>
          </a:p>
        </p:txBody>
      </p:sp>
      <p:sp>
        <p:nvSpPr>
          <p:cNvPr id="20" name="Text 18"/>
          <p:cNvSpPr txBox="1"/>
          <p:nvPr/>
        </p:nvSpPr>
        <p:spPr>
          <a:xfrm>
            <a:off x="8732520" y="2112264"/>
            <a:ext cx="2697480" cy="1463040"/>
          </a:xfrm>
          <a:prstGeom prst="rect">
            <a:avLst/>
          </a:prstGeom>
          <a:noFill/>
          <a:ln/>
        </p:spPr>
        <p:txBody>
          <a:bodyPr wrap="square" lIns="0" tIns="0" rIns="0" bIns="0" rtlCol="0" anchor="t"/>
          <a:lstStyle/>
          <a:p>
            <a:pPr indent="0" marL="0">
              <a:buNone/>
            </a:pPr>
            <a:r>
              <a:rPr lang="en-US" sz="1400" dirty="0">
                <a:solidFill>
                  <a:srgbClr val="2D2570"/>
                </a:solidFill>
                <a:latin typeface="Calibri" pitchFamily="34" charset="0"/>
                <a:ea typeface="Calibri" pitchFamily="34" charset="-122"/>
                <a:cs typeface="Calibri" pitchFamily="34" charset="-120"/>
              </a:rPr>
              <a:t>The same rules and tick box as Path A, in English or Dutch. Wording, version and time are stored.</a:t>
            </a:r>
            <a:endParaRPr lang="en-US" sz="1400" dirty="0"/>
          </a:p>
        </p:txBody>
      </p:sp>
      <p:sp>
        <p:nvSpPr>
          <p:cNvPr id="21" name="card Check the email address"/>
          <p:cNvSpPr/>
          <p:nvPr/>
        </p:nvSpPr>
        <p:spPr>
          <a:xfrm>
            <a:off x="548640" y="3840480"/>
            <a:ext cx="3566160" cy="2331720"/>
          </a:xfrm>
          <a:prstGeom prst="roundRect">
            <a:avLst>
              <a:gd name="adj" fmla="val 3922"/>
            </a:avLst>
          </a:prstGeom>
          <a:solidFill>
            <a:srgbClr val="ECEEF2"/>
          </a:solidFill>
          <a:ln w="12700">
            <a:solidFill>
              <a:srgbClr val="6B7482"/>
            </a:solidFill>
            <a:prstDash val="solid"/>
          </a:ln>
        </p:spPr>
      </p:sp>
      <p:sp>
        <p:nvSpPr>
          <p:cNvPr id="22" name="num 4"/>
          <p:cNvSpPr/>
          <p:nvPr/>
        </p:nvSpPr>
        <p:spPr>
          <a:xfrm>
            <a:off x="731520" y="4023360"/>
            <a:ext cx="384048" cy="384048"/>
          </a:xfrm>
          <a:prstGeom prst="ellipse">
            <a:avLst/>
          </a:prstGeom>
          <a:solidFill>
            <a:srgbClr val="6B7482"/>
          </a:solidFill>
          <a:ln w="12700">
            <a:solidFill>
              <a:srgbClr val="6B7482"/>
            </a:solidFill>
            <a:prstDash val="solid"/>
          </a:ln>
        </p:spPr>
      </p:sp>
      <p:sp>
        <p:nvSpPr>
          <p:cNvPr id="23" name="Text 21"/>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23444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25" name="Text 23"/>
          <p:cNvSpPr txBox="1"/>
          <p:nvPr/>
        </p:nvSpPr>
        <p:spPr>
          <a:xfrm>
            <a:off x="123444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email address</a:t>
            </a:r>
            <a:endParaRPr lang="en-US" sz="1600" dirty="0"/>
          </a:p>
        </p:txBody>
      </p:sp>
      <p:sp>
        <p:nvSpPr>
          <p:cNvPr id="26" name="Text 24"/>
          <p:cNvSpPr txBox="1"/>
          <p:nvPr/>
        </p:nvSpPr>
        <p:spPr>
          <a:xfrm>
            <a:off x="123444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A 6-digit code is emailed. Nothing is saved until it is entered.</a:t>
            </a:r>
            <a:endParaRPr lang="en-US" sz="1400" dirty="0"/>
          </a:p>
        </p:txBody>
      </p:sp>
      <p:sp>
        <p:nvSpPr>
          <p:cNvPr id="27" name="card Entry QR issued"/>
          <p:cNvSpPr/>
          <p:nvPr/>
        </p:nvSpPr>
        <p:spPr>
          <a:xfrm>
            <a:off x="4297680" y="3840480"/>
            <a:ext cx="3566160" cy="2331720"/>
          </a:xfrm>
          <a:prstGeom prst="roundRect">
            <a:avLst>
              <a:gd name="adj" fmla="val 3922"/>
            </a:avLst>
          </a:prstGeom>
          <a:solidFill>
            <a:srgbClr val="ECEEF2"/>
          </a:solidFill>
          <a:ln w="12700">
            <a:solidFill>
              <a:srgbClr val="6B7482"/>
            </a:solidFill>
            <a:prstDash val="solid"/>
          </a:ln>
        </p:spPr>
      </p:sp>
      <p:sp>
        <p:nvSpPr>
          <p:cNvPr id="28" name="num 5"/>
          <p:cNvSpPr/>
          <p:nvPr/>
        </p:nvSpPr>
        <p:spPr>
          <a:xfrm>
            <a:off x="4480560" y="4023360"/>
            <a:ext cx="384048" cy="384048"/>
          </a:xfrm>
          <a:prstGeom prst="ellipse">
            <a:avLst/>
          </a:prstGeom>
          <a:solidFill>
            <a:srgbClr val="6B7482"/>
          </a:solidFill>
          <a:ln w="12700">
            <a:solidFill>
              <a:srgbClr val="6B7482"/>
            </a:solidFill>
            <a:prstDash val="solid"/>
          </a:ln>
        </p:spPr>
      </p:sp>
      <p:sp>
        <p:nvSpPr>
          <p:cNvPr id="29" name="Text 27"/>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983480" y="3968496"/>
            <a:ext cx="26974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31" name="Text 29"/>
          <p:cNvSpPr txBox="1"/>
          <p:nvPr/>
        </p:nvSpPr>
        <p:spPr>
          <a:xfrm>
            <a:off x="4983480" y="42245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Entry QR issued</a:t>
            </a:r>
            <a:endParaRPr lang="en-US" sz="1600" dirty="0"/>
          </a:p>
        </p:txBody>
      </p:sp>
      <p:sp>
        <p:nvSpPr>
          <p:cNvPr id="32" name="Text 30"/>
          <p:cNvSpPr txBox="1"/>
          <p:nvPr/>
        </p:nvSpPr>
        <p:spPr>
          <a:xfrm>
            <a:off x="4983480" y="4626864"/>
            <a:ext cx="2697480" cy="146304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The phone shows a QR, a reference and its entry and exit time. The site sets when it opens and how long it lasts.</a:t>
            </a:r>
            <a:endParaRPr lang="en-US" sz="1400" dirty="0"/>
          </a:p>
        </p:txBody>
      </p:sp>
      <p:sp>
        <p:nvSpPr>
          <p:cNvPr id="33" name="card Open for Renewi to decide"/>
          <p:cNvSpPr/>
          <p:nvPr/>
        </p:nvSpPr>
        <p:spPr>
          <a:xfrm>
            <a:off x="8046720" y="3840480"/>
            <a:ext cx="3566160" cy="2331720"/>
          </a:xfrm>
          <a:prstGeom prst="roundRect">
            <a:avLst>
              <a:gd name="adj" fmla="val 3922"/>
            </a:avLst>
          </a:prstGeom>
          <a:solidFill>
            <a:srgbClr val="FFFFFF"/>
          </a:solidFill>
          <a:ln w="12700">
            <a:solidFill>
              <a:srgbClr val="D85A30"/>
            </a:solidFill>
            <a:prstDash val="dash"/>
          </a:ln>
        </p:spPr>
      </p:sp>
      <p:sp>
        <p:nvSpPr>
          <p:cNvPr id="34" name="Text 32"/>
          <p:cNvSpPr txBox="1"/>
          <p:nvPr/>
        </p:nvSpPr>
        <p:spPr>
          <a:xfrm>
            <a:off x="8275320" y="3968496"/>
            <a:ext cx="3154680" cy="219456"/>
          </a:xfrm>
          <a:prstGeom prst="rect">
            <a:avLst/>
          </a:prstGeom>
          <a:noFill/>
          <a:ln/>
        </p:spPr>
        <p:txBody>
          <a:bodyPr wrap="square" lIns="0" tIns="0" rIns="0" bIns="0" rtlCol="0" anchor="ctr"/>
          <a:lstStyle/>
          <a:p>
            <a:pPr indent="0" marL="0">
              <a:buNone/>
            </a:pPr>
            <a:r>
              <a:rPr lang="en-US" sz="1100" b="1" spc="200" kern="0" dirty="0">
                <a:solidFill>
                  <a:srgbClr val="D85A30"/>
                </a:solidFill>
                <a:latin typeface="Calibri" pitchFamily="34" charset="0"/>
                <a:ea typeface="Calibri" pitchFamily="34" charset="-122"/>
                <a:cs typeface="Calibri" pitchFamily="34" charset="-120"/>
              </a:rPr>
              <a:t>OPEN QUESTION</a:t>
            </a:r>
            <a:endParaRPr lang="en-US" sz="1100" dirty="0"/>
          </a:p>
        </p:txBody>
      </p:sp>
      <p:sp>
        <p:nvSpPr>
          <p:cNvPr id="35" name="Text 33"/>
          <p:cNvSpPr txBox="1"/>
          <p:nvPr/>
        </p:nvSpPr>
        <p:spPr>
          <a:xfrm>
            <a:off x="8275320" y="4224528"/>
            <a:ext cx="3154680" cy="365760"/>
          </a:xfrm>
          <a:prstGeom prst="rect">
            <a:avLst/>
          </a:prstGeom>
          <a:noFill/>
          <a:ln/>
        </p:spPr>
        <p:txBody>
          <a:bodyPr wrap="square" lIns="0" tIns="0" rIns="0" bIns="0" rtlCol="0" anchor="ctr"/>
          <a:lstStyle/>
          <a:p>
            <a:pPr indent="0" marL="0">
              <a:buNone/>
            </a:pPr>
            <a:r>
              <a:rPr lang="en-US" sz="1600" b="1" dirty="0">
                <a:solidFill>
                  <a:srgbClr val="8A2E10"/>
                </a:solidFill>
                <a:latin typeface="Calibri" pitchFamily="34" charset="0"/>
                <a:ea typeface="Calibri" pitchFamily="34" charset="-122"/>
                <a:cs typeface="Calibri" pitchFamily="34" charset="-120"/>
              </a:rPr>
              <a:t>Open for Renewi to decide</a:t>
            </a:r>
            <a:endParaRPr lang="en-US" sz="1600" dirty="0"/>
          </a:p>
        </p:txBody>
      </p:sp>
      <p:sp>
        <p:nvSpPr>
          <p:cNvPr id="36" name="Text 34"/>
          <p:cNvSpPr txBox="1"/>
          <p:nvPr/>
        </p:nvSpPr>
        <p:spPr>
          <a:xfrm>
            <a:off x="8275320" y="4626864"/>
            <a:ext cx="3154680" cy="1463040"/>
          </a:xfrm>
          <a:prstGeom prst="rect">
            <a:avLst/>
          </a:prstGeom>
          <a:noFill/>
          <a:ln/>
        </p:spPr>
        <p:txBody>
          <a:bodyPr wrap="square" lIns="0" tIns="0" rIns="0" bIns="0" rtlCol="0" anchor="t"/>
          <a:lstStyle/>
          <a:p>
            <a:pPr indent="0" marL="0">
              <a:buNone/>
            </a:pPr>
            <a:r>
              <a:rPr lang="en-US" sz="1400" dirty="0">
                <a:solidFill>
                  <a:srgbClr val="8A2E10"/>
                </a:solidFill>
                <a:latin typeface="Calibri" pitchFamily="34" charset="0"/>
                <a:ea typeface="Calibri" pitchFamily="34" charset="-122"/>
                <a:cs typeface="Calibri" pitchFamily="34" charset="-120"/>
              </a:rPr>
              <a:t>Who may use Path B, and how do we know they are expected? Today the officer's own judgment is the only check.</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email check and entry QR work</a:t>
            </a:r>
            <a:endParaRPr lang="en-US" sz="3200" dirty="0"/>
          </a:p>
        </p:txBody>
      </p:sp>
      <p:sp>
        <p:nvSpPr>
          <p:cNvPr id="3" name="Shape 1"/>
          <p:cNvSpPr/>
          <p:nvPr/>
        </p:nvSpPr>
        <p:spPr>
          <a:xfrm>
            <a:off x="548640" y="1280160"/>
            <a:ext cx="2651760" cy="1554480"/>
          </a:xfrm>
          <a:prstGeom prst="roundRect">
            <a:avLst>
              <a:gd name="adj" fmla="val 5882"/>
            </a:avLst>
          </a:prstGeom>
          <a:solidFill>
            <a:srgbClr val="ECEEF2"/>
          </a:solidFill>
          <a:ln w="12700">
            <a:solidFill>
              <a:srgbClr val="6B7482"/>
            </a:solidFill>
            <a:prstDash val="solid"/>
          </a:ln>
        </p:spPr>
      </p:sp>
      <p:sp>
        <p:nvSpPr>
          <p:cNvPr id="4" name="Text 2"/>
          <p:cNvSpPr txBox="1"/>
          <p:nvPr/>
        </p:nvSpPr>
        <p:spPr>
          <a:xfrm>
            <a:off x="548640"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10 min</a:t>
            </a:r>
            <a:endParaRPr lang="en-US" sz="4400" dirty="0"/>
          </a:p>
        </p:txBody>
      </p:sp>
      <p:sp>
        <p:nvSpPr>
          <p:cNvPr id="5" name="Text 3"/>
          <p:cNvSpPr txBox="1"/>
          <p:nvPr/>
        </p:nvSpPr>
        <p:spPr>
          <a:xfrm>
            <a:off x="548640"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code is valid</a:t>
            </a:r>
            <a:endParaRPr lang="en-US" sz="1600" dirty="0"/>
          </a:p>
        </p:txBody>
      </p:sp>
      <p:sp>
        <p:nvSpPr>
          <p:cNvPr id="6" name="Shape 4"/>
          <p:cNvSpPr/>
          <p:nvPr/>
        </p:nvSpPr>
        <p:spPr>
          <a:xfrm>
            <a:off x="3364992" y="1280160"/>
            <a:ext cx="2651760" cy="1554480"/>
          </a:xfrm>
          <a:prstGeom prst="roundRect">
            <a:avLst>
              <a:gd name="adj" fmla="val 5882"/>
            </a:avLst>
          </a:prstGeom>
          <a:solidFill>
            <a:srgbClr val="ECEEF2"/>
          </a:solidFill>
          <a:ln w="12700">
            <a:solidFill>
              <a:srgbClr val="6B7482"/>
            </a:solidFill>
            <a:prstDash val="solid"/>
          </a:ln>
        </p:spPr>
      </p:sp>
      <p:sp>
        <p:nvSpPr>
          <p:cNvPr id="7" name="Text 5"/>
          <p:cNvSpPr txBox="1"/>
          <p:nvPr/>
        </p:nvSpPr>
        <p:spPr>
          <a:xfrm>
            <a:off x="3364992"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5</a:t>
            </a:r>
            <a:endParaRPr lang="en-US" sz="4400" dirty="0"/>
          </a:p>
        </p:txBody>
      </p:sp>
      <p:sp>
        <p:nvSpPr>
          <p:cNvPr id="8" name="Text 6"/>
          <p:cNvSpPr txBox="1"/>
          <p:nvPr/>
        </p:nvSpPr>
        <p:spPr>
          <a:xfrm>
            <a:off x="3364992"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wrong tries allowed</a:t>
            </a:r>
            <a:endParaRPr lang="en-US" sz="1600" dirty="0"/>
          </a:p>
        </p:txBody>
      </p:sp>
      <p:sp>
        <p:nvSpPr>
          <p:cNvPr id="9" name="Shape 7"/>
          <p:cNvSpPr/>
          <p:nvPr/>
        </p:nvSpPr>
        <p:spPr>
          <a:xfrm>
            <a:off x="6181344" y="1280160"/>
            <a:ext cx="2651760" cy="1554480"/>
          </a:xfrm>
          <a:prstGeom prst="roundRect">
            <a:avLst>
              <a:gd name="adj" fmla="val 5882"/>
            </a:avLst>
          </a:prstGeom>
          <a:solidFill>
            <a:srgbClr val="ECEEF2"/>
          </a:solidFill>
          <a:ln w="12700">
            <a:solidFill>
              <a:srgbClr val="6B7482"/>
            </a:solidFill>
            <a:prstDash val="solid"/>
          </a:ln>
        </p:spPr>
      </p:sp>
      <p:sp>
        <p:nvSpPr>
          <p:cNvPr id="10" name="Text 8"/>
          <p:cNvSpPr txBox="1"/>
          <p:nvPr/>
        </p:nvSpPr>
        <p:spPr>
          <a:xfrm>
            <a:off x="6181344"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3</a:t>
            </a:r>
            <a:endParaRPr lang="en-US" sz="4400" dirty="0"/>
          </a:p>
        </p:txBody>
      </p:sp>
      <p:sp>
        <p:nvSpPr>
          <p:cNvPr id="11" name="Text 9"/>
          <p:cNvSpPr txBox="1"/>
          <p:nvPr/>
        </p:nvSpPr>
        <p:spPr>
          <a:xfrm>
            <a:off x="6181344"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sends per registration</a:t>
            </a:r>
            <a:endParaRPr lang="en-US" sz="1600" dirty="0"/>
          </a:p>
        </p:txBody>
      </p:sp>
      <p:sp>
        <p:nvSpPr>
          <p:cNvPr id="12" name="Shape 10"/>
          <p:cNvSpPr/>
          <p:nvPr/>
        </p:nvSpPr>
        <p:spPr>
          <a:xfrm>
            <a:off x="8997696" y="1280160"/>
            <a:ext cx="2651760" cy="1554480"/>
          </a:xfrm>
          <a:prstGeom prst="roundRect">
            <a:avLst>
              <a:gd name="adj" fmla="val 5882"/>
            </a:avLst>
          </a:prstGeom>
          <a:solidFill>
            <a:srgbClr val="ECEEF2"/>
          </a:solidFill>
          <a:ln w="12700">
            <a:solidFill>
              <a:srgbClr val="6B7482"/>
            </a:solidFill>
            <a:prstDash val="solid"/>
          </a:ln>
        </p:spPr>
      </p:sp>
      <p:sp>
        <p:nvSpPr>
          <p:cNvPr id="13" name="Text 11"/>
          <p:cNvSpPr txBox="1"/>
          <p:nvPr/>
        </p:nvSpPr>
        <p:spPr>
          <a:xfrm>
            <a:off x="8997696" y="1371600"/>
            <a:ext cx="2651760" cy="822960"/>
          </a:xfrm>
          <a:prstGeom prst="rect">
            <a:avLst/>
          </a:prstGeom>
          <a:noFill/>
          <a:ln/>
        </p:spPr>
        <p:txBody>
          <a:bodyPr wrap="square" lIns="0" tIns="0" rIns="0" bIns="0" rtlCol="0" anchor="ctr"/>
          <a:lstStyle/>
          <a:p>
            <a:pPr algn="ctr" indent="0" marL="0">
              <a:buNone/>
            </a:pPr>
            <a:r>
              <a:rPr lang="en-US" sz="4400" b="1" dirty="0">
                <a:solidFill>
                  <a:srgbClr val="0E3B3F"/>
                </a:solidFill>
                <a:latin typeface="Cambria" pitchFamily="34" charset="0"/>
                <a:ea typeface="Cambria" pitchFamily="34" charset="-122"/>
                <a:cs typeface="Cambria" pitchFamily="34" charset="-120"/>
              </a:rPr>
              <a:t>1 to 72 h</a:t>
            </a:r>
            <a:endParaRPr lang="en-US" sz="4400" dirty="0"/>
          </a:p>
        </p:txBody>
      </p:sp>
      <p:sp>
        <p:nvSpPr>
          <p:cNvPr id="14" name="Text 12"/>
          <p:cNvSpPr txBox="1"/>
          <p:nvPr/>
        </p:nvSpPr>
        <p:spPr>
          <a:xfrm>
            <a:off x="8997696" y="2194560"/>
            <a:ext cx="2651760" cy="457200"/>
          </a:xfrm>
          <a:prstGeom prst="rect">
            <a:avLst/>
          </a:prstGeom>
          <a:noFill/>
          <a:ln/>
        </p:spPr>
        <p:txBody>
          <a:bodyPr wrap="square" lIns="0" tIns="0" rIns="0" bIns="0" rtlCol="0" anchor="ctr"/>
          <a:lstStyle/>
          <a:p>
            <a:pPr algn="ctr" indent="0" marL="0">
              <a:buNone/>
            </a:pPr>
            <a:r>
              <a:rPr lang="en-US" sz="1600" dirty="0">
                <a:solidFill>
                  <a:srgbClr val="232831"/>
                </a:solidFill>
                <a:latin typeface="Calibri" pitchFamily="34" charset="0"/>
                <a:ea typeface="Calibri" pitchFamily="34" charset="-122"/>
                <a:cs typeface="Calibri" pitchFamily="34" charset="-120"/>
              </a:rPr>
              <a:t>QR validity, set per site</a:t>
            </a:r>
            <a:endParaRPr lang="en-US" sz="1600" dirty="0"/>
          </a:p>
        </p:txBody>
      </p:sp>
      <p:sp>
        <p:nvSpPr>
          <p:cNvPr id="15" name="Text 13"/>
          <p:cNvSpPr txBox="1"/>
          <p:nvPr/>
        </p:nvSpPr>
        <p:spPr>
          <a:xfrm>
            <a:off x="548640" y="3200400"/>
            <a:ext cx="11064240" cy="29260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Nothing is saved as a person until the code is entered, so typing someone else's email creates no record.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30-second wait applies between resends, and each email address is limited to 5 codes an hour.</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The entry QR carries the reference and a secret. The server keeps only a hash of the secret.</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If the phone cannot be scanned, the officer types the 8-character reference instead.</a:t>
            </a:r>
            <a:endParaRPr lang="en-US" sz="1800" dirty="0"/>
          </a:p>
          <a:p>
            <a:pPr marL="342900" indent="-342900">
              <a:spcAft>
                <a:spcPts val="1000"/>
              </a:spcAft>
              <a:buSzPct val="100000"/>
              <a:buChar char="•"/>
            </a:pPr>
            <a:r>
              <a:rPr lang="en-US" sz="1800" dirty="0">
                <a:solidFill>
                  <a:srgbClr val="1B1F27"/>
                </a:solidFill>
                <a:latin typeface="Calibri" pitchFamily="34" charset="0"/>
                <a:ea typeface="Calibri" pitchFamily="34" charset="-122"/>
                <a:cs typeface="Calibri" pitchFamily="34" charset="-120"/>
              </a:rPr>
              <a:t>A person who has left must register again to come back in.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Validity is configurable, per site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rgbClr val="556070"/>
                </a:solidFill>
                <a:latin typeface="Calibri" pitchFamily="34" charset="0"/>
                <a:ea typeface="Calibri" pitchFamily="34" charset="-122"/>
                <a:cs typeface="Calibri" pitchFamily="34" charset="-120"/>
              </a:rPr>
              <a:t>An administrator sets these on the Settings page. Nothing is fixed in the code, and every change is audited.</a:t>
            </a:r>
            <a:endParaRPr lang="en-US" sz="1800" dirty="0"/>
          </a:p>
        </p:txBody>
      </p:sp>
      <p:sp>
        <p:nvSpPr>
          <p:cNvPr id="4" name="Shape 2"/>
          <p:cNvSpPr/>
          <p:nvPr/>
        </p:nvSpPr>
        <p:spPr>
          <a:xfrm>
            <a:off x="548640" y="1783080"/>
            <a:ext cx="5394960" cy="3200400"/>
          </a:xfrm>
          <a:prstGeom prst="roundRect">
            <a:avLst>
              <a:gd name="adj" fmla="val 3429"/>
            </a:avLst>
          </a:prstGeom>
          <a:solidFill>
            <a:srgbClr val="ECE9FA"/>
          </a:solidFill>
          <a:ln w="12700">
            <a:solidFill>
              <a:srgbClr val="6A5BC2"/>
            </a:solidFill>
            <a:prstDash val="solid"/>
          </a:ln>
        </p:spPr>
      </p:sp>
      <p:sp>
        <p:nvSpPr>
          <p:cNvPr id="5" name="Text 3"/>
          <p:cNvSpPr txBox="1"/>
          <p:nvPr/>
        </p:nvSpPr>
        <p:spPr>
          <a:xfrm>
            <a:off x="822960" y="1920240"/>
            <a:ext cx="4846320" cy="411480"/>
          </a:xfrm>
          <a:prstGeom prst="rect">
            <a:avLst/>
          </a:prstGeom>
          <a:noFill/>
          <a:ln/>
        </p:spPr>
        <p:txBody>
          <a:bodyPr wrap="square" lIns="0" tIns="0" rIns="0" bIns="0" rtlCol="0" anchor="ctr"/>
          <a:lstStyle/>
          <a:p>
            <a:pPr indent="0" marL="0">
              <a:buNone/>
            </a:pPr>
            <a:r>
              <a:rPr lang="en-US" sz="2000" b="1" dirty="0">
                <a:solidFill>
                  <a:srgbClr val="2D2570"/>
                </a:solidFill>
                <a:latin typeface="Calibri" pitchFamily="34" charset="0"/>
                <a:ea typeface="Calibri" pitchFamily="34" charset="-122"/>
                <a:cs typeface="Calibri" pitchFamily="34" charset="-120"/>
              </a:rPr>
              <a:t>Path A: planned arrival</a:t>
            </a:r>
            <a:endParaRPr lang="en-US" sz="2000" dirty="0"/>
          </a:p>
        </p:txBody>
      </p:sp>
      <p:sp>
        <p:nvSpPr>
          <p:cNvPr id="6" name="Text 4"/>
          <p:cNvSpPr txBox="1"/>
          <p:nvPr/>
        </p:nvSpPr>
        <p:spPr>
          <a:xfrm>
            <a:off x="822960" y="2514600"/>
            <a:ext cx="484632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Default visit length</a:t>
            </a:r>
            <a:endParaRPr lang="en-US" sz="1700" dirty="0"/>
          </a:p>
        </p:txBody>
      </p:sp>
      <p:sp>
        <p:nvSpPr>
          <p:cNvPr id="7" name="Text 5"/>
          <p:cNvSpPr txBox="1"/>
          <p:nvPr/>
        </p:nvSpPr>
        <p:spPr>
          <a:xfrm>
            <a:off x="822960" y="2926080"/>
            <a:ext cx="4846320" cy="640080"/>
          </a:xfrm>
          <a:prstGeom prst="rect">
            <a:avLst/>
          </a:prstGeom>
          <a:noFill/>
          <a:ln/>
        </p:spPr>
        <p:txBody>
          <a:bodyPr wrap="square" lIns="0" tIns="0" rIns="0" bIns="0" rtlCol="0" anchor="t"/>
          <a:lstStyle/>
          <a:p>
            <a:pPr indent="0" marL="0">
              <a:buNone/>
            </a:pPr>
            <a:r>
              <a:rPr lang="en-US" sz="1500" dirty="0">
                <a:solidFill>
                  <a:srgbClr val="2D2570"/>
                </a:solidFill>
                <a:latin typeface="Calibri" pitchFamily="34" charset="0"/>
                <a:ea typeface="Calibri" pitchFamily="34" charset="-122"/>
                <a:cs typeface="Calibri" pitchFamily="34" charset="-120"/>
              </a:rPr>
              <a:t>Pre-fills the end of a new invitation (1 to 168 hours).</a:t>
            </a:r>
            <a:endParaRPr lang="en-US" sz="1500" dirty="0"/>
          </a:p>
        </p:txBody>
      </p:sp>
      <p:sp>
        <p:nvSpPr>
          <p:cNvPr id="8" name="Text 6"/>
          <p:cNvSpPr txBox="1"/>
          <p:nvPr/>
        </p:nvSpPr>
        <p:spPr>
          <a:xfrm>
            <a:off x="822960" y="3703320"/>
            <a:ext cx="484632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Longest access QR</a:t>
            </a:r>
            <a:endParaRPr lang="en-US" sz="1700" dirty="0"/>
          </a:p>
        </p:txBody>
      </p:sp>
      <p:sp>
        <p:nvSpPr>
          <p:cNvPr id="9" name="Text 7"/>
          <p:cNvSpPr txBox="1"/>
          <p:nvPr/>
        </p:nvSpPr>
        <p:spPr>
          <a:xfrm>
            <a:off x="822960" y="4114800"/>
            <a:ext cx="4846320" cy="640080"/>
          </a:xfrm>
          <a:prstGeom prst="rect">
            <a:avLst/>
          </a:prstGeom>
          <a:noFill/>
          <a:ln/>
        </p:spPr>
        <p:txBody>
          <a:bodyPr wrap="square" lIns="0" tIns="0" rIns="0" bIns="0" rtlCol="0" anchor="t"/>
          <a:lstStyle/>
          <a:p>
            <a:pPr indent="0" marL="0">
              <a:buNone/>
            </a:pPr>
            <a:r>
              <a:rPr lang="en-US" sz="1500" dirty="0">
                <a:solidFill>
                  <a:srgbClr val="2D2570"/>
                </a:solidFill>
                <a:latin typeface="Calibri" pitchFamily="34" charset="0"/>
                <a:ea typeface="Calibri" pitchFamily="34" charset="-122"/>
                <a:cs typeface="Calibri" pitchFamily="34" charset="-120"/>
              </a:rPr>
              <a:t>Staff cannot issue a QR that lasts longer (1 to 168 hours).</a:t>
            </a:r>
            <a:endParaRPr lang="en-US" sz="1500" dirty="0"/>
          </a:p>
        </p:txBody>
      </p:sp>
      <p:sp>
        <p:nvSpPr>
          <p:cNvPr id="10" name="Shape 8"/>
          <p:cNvSpPr/>
          <p:nvPr/>
        </p:nvSpPr>
        <p:spPr>
          <a:xfrm>
            <a:off x="6245352" y="1783080"/>
            <a:ext cx="5394960" cy="3200400"/>
          </a:xfrm>
          <a:prstGeom prst="roundRect">
            <a:avLst>
              <a:gd name="adj" fmla="val 3429"/>
            </a:avLst>
          </a:prstGeom>
          <a:solidFill>
            <a:srgbClr val="FFE3D8"/>
          </a:solidFill>
          <a:ln w="12700">
            <a:solidFill>
              <a:srgbClr val="D85A30"/>
            </a:solidFill>
            <a:prstDash val="solid"/>
          </a:ln>
        </p:spPr>
      </p:sp>
      <p:sp>
        <p:nvSpPr>
          <p:cNvPr id="11" name="Text 9"/>
          <p:cNvSpPr txBox="1"/>
          <p:nvPr/>
        </p:nvSpPr>
        <p:spPr>
          <a:xfrm>
            <a:off x="6519672" y="19202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Path B: unexpected arrival</a:t>
            </a:r>
            <a:endParaRPr lang="en-US" sz="2000" dirty="0"/>
          </a:p>
        </p:txBody>
      </p:sp>
      <p:sp>
        <p:nvSpPr>
          <p:cNvPr id="12" name="Text 10"/>
          <p:cNvSpPr txBox="1"/>
          <p:nvPr/>
        </p:nvSpPr>
        <p:spPr>
          <a:xfrm>
            <a:off x="6519672" y="2514600"/>
            <a:ext cx="484632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QR valid for</a:t>
            </a:r>
            <a:endParaRPr lang="en-US" sz="1700" dirty="0"/>
          </a:p>
        </p:txBody>
      </p:sp>
      <p:sp>
        <p:nvSpPr>
          <p:cNvPr id="13" name="Text 11"/>
          <p:cNvSpPr txBox="1"/>
          <p:nvPr/>
        </p:nvSpPr>
        <p:spPr>
          <a:xfrm>
            <a:off x="6519672" y="2926080"/>
            <a:ext cx="4846320" cy="640080"/>
          </a:xfrm>
          <a:prstGeom prst="rect">
            <a:avLst/>
          </a:prstGeom>
          <a:noFill/>
          <a:ln/>
        </p:spPr>
        <p:txBody>
          <a:bodyPr wrap="square" lIns="0" tIns="0" rIns="0" bIns="0" rtlCol="0" anchor="t"/>
          <a:lstStyle/>
          <a:p>
            <a:pPr indent="0" marL="0">
              <a:buNone/>
            </a:pPr>
            <a:r>
              <a:rPr lang="en-US" sz="1500" dirty="0">
                <a:solidFill>
                  <a:srgbClr val="8A2E10"/>
                </a:solidFill>
                <a:latin typeface="Calibri" pitchFamily="34" charset="0"/>
                <a:ea typeface="Calibri" pitchFamily="34" charset="-122"/>
                <a:cs typeface="Calibri" pitchFamily="34" charset="-120"/>
              </a:rPr>
              <a:t>How long a walk-up QR works once it opens (1 to 72 hours).</a:t>
            </a:r>
            <a:endParaRPr lang="en-US" sz="1500" dirty="0"/>
          </a:p>
        </p:txBody>
      </p:sp>
      <p:sp>
        <p:nvSpPr>
          <p:cNvPr id="14" name="Text 12"/>
          <p:cNvSpPr txBox="1"/>
          <p:nvPr/>
        </p:nvSpPr>
        <p:spPr>
          <a:xfrm>
            <a:off x="6519672" y="3703320"/>
            <a:ext cx="4846320" cy="365760"/>
          </a:xfrm>
          <a:prstGeom prst="rect">
            <a:avLst/>
          </a:prstGeom>
          <a:noFill/>
          <a:ln/>
        </p:spPr>
        <p:txBody>
          <a:bodyPr wrap="square" lIns="0" tIns="0" rIns="0" bIns="0" rtlCol="0" anchor="ctr"/>
          <a:lstStyle/>
          <a:p>
            <a:pPr indent="0" marL="0">
              <a:buNone/>
            </a:pPr>
            <a:r>
              <a:rPr lang="en-US" sz="1700" b="1" dirty="0">
                <a:solidFill>
                  <a:srgbClr val="8A2E10"/>
                </a:solidFill>
                <a:latin typeface="Calibri" pitchFamily="34" charset="0"/>
                <a:ea typeface="Calibri" pitchFamily="34" charset="-122"/>
                <a:cs typeface="Calibri" pitchFamily="34" charset="-120"/>
              </a:rPr>
              <a:t>Entry opens after</a:t>
            </a:r>
            <a:endParaRPr lang="en-US" sz="1700" dirty="0"/>
          </a:p>
        </p:txBody>
      </p:sp>
      <p:sp>
        <p:nvSpPr>
          <p:cNvPr id="15" name="Text 13"/>
          <p:cNvSpPr txBox="1"/>
          <p:nvPr/>
        </p:nvSpPr>
        <p:spPr>
          <a:xfrm>
            <a:off x="6519672" y="4114800"/>
            <a:ext cx="4846320" cy="640080"/>
          </a:xfrm>
          <a:prstGeom prst="rect">
            <a:avLst/>
          </a:prstGeom>
          <a:noFill/>
          <a:ln/>
        </p:spPr>
        <p:txBody>
          <a:bodyPr wrap="square" lIns="0" tIns="0" rIns="0" bIns="0" rtlCol="0" anchor="t"/>
          <a:lstStyle/>
          <a:p>
            <a:pPr indent="0" marL="0">
              <a:buNone/>
            </a:pPr>
            <a:r>
              <a:rPr lang="en-US" sz="1500" dirty="0">
                <a:solidFill>
                  <a:srgbClr val="8A2E10"/>
                </a:solidFill>
                <a:latin typeface="Calibri" pitchFamily="34" charset="0"/>
                <a:ea typeface="Calibri" pitchFamily="34" charset="-122"/>
                <a:cs typeface="Calibri" pitchFamily="34" charset="-120"/>
              </a:rPr>
              <a:t>Minutes after registering before the QR starts working (0 to 240).</a:t>
            </a:r>
            <a:endParaRPr lang="en-US" sz="1500" dirty="0"/>
          </a:p>
        </p:txBody>
      </p:sp>
      <p:sp>
        <p:nvSpPr>
          <p:cNvPr id="16" name="Text 14"/>
          <p:cNvSpPr txBox="1"/>
          <p:nvPr/>
        </p:nvSpPr>
        <p:spPr>
          <a:xfrm>
            <a:off x="548640" y="5166360"/>
            <a:ext cx="11064240" cy="1097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7"/>
                </a:solidFill>
                <a:latin typeface="Calibri" pitchFamily="34" charset="0"/>
                <a:ea typeface="Calibri" pitchFamily="34" charset="-122"/>
                <a:cs typeface="Calibri" pitchFamily="34" charset="-120"/>
              </a:rPr>
              <a:t>Staff still choose each Path A QR's entry and exit time, inside the visit and the longest allowed.</a:t>
            </a:r>
            <a:endParaRPr lang="en-US" sz="1600" dirty="0"/>
          </a:p>
          <a:p>
            <a:pPr marL="342900" indent="-342900">
              <a:spcAft>
                <a:spcPts val="600"/>
              </a:spcAft>
              <a:buSzPct val="100000"/>
              <a:buChar char="•"/>
            </a:pPr>
            <a:r>
              <a:rPr lang="en-US" sz="1600" dirty="0">
                <a:solidFill>
                  <a:srgbClr val="1B1F27"/>
                </a:solidFill>
                <a:latin typeface="Calibri" pitchFamily="34" charset="0"/>
                <a:ea typeface="Calibri" pitchFamily="34" charset="-122"/>
                <a:cs typeface="Calibri" pitchFamily="34" charset="-120"/>
              </a:rPr>
              <a:t>A change affects new invitations and new QR codes. QR codes already issued keep their times.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validity works, from setting to gate</a:t>
            </a:r>
            <a:endParaRPr lang="en-US" sz="3200" dirty="0"/>
          </a:p>
        </p:txBody>
      </p:sp>
      <p:sp>
        <p:nvSpPr>
          <p:cNvPr id="3" name="Shape 1"/>
          <p:cNvSpPr/>
          <p:nvPr/>
        </p:nvSpPr>
        <p:spPr>
          <a:xfrm>
            <a:off x="3383280" y="1097280"/>
            <a:ext cx="5394960" cy="548640"/>
          </a:xfrm>
          <a:prstGeom prst="roundRect">
            <a:avLst>
              <a:gd name="adj" fmla="val 16667"/>
            </a:avLst>
          </a:prstGeom>
          <a:solidFill>
            <a:srgbClr val="E1F5EE"/>
          </a:solidFill>
          <a:ln w="12700">
            <a:solidFill>
              <a:srgbClr val="0F6E56"/>
            </a:solidFill>
            <a:prstDash val="solid"/>
          </a:ln>
        </p:spPr>
      </p:sp>
      <p:sp>
        <p:nvSpPr>
          <p:cNvPr id="4" name="Text 2"/>
          <p:cNvSpPr txBox="1"/>
          <p:nvPr/>
        </p:nvSpPr>
        <p:spPr>
          <a:xfrm>
            <a:off x="3383280" y="1097280"/>
            <a:ext cx="5394960" cy="548640"/>
          </a:xfrm>
          <a:prstGeom prst="rect">
            <a:avLst/>
          </a:prstGeom>
          <a:noFill/>
          <a:ln/>
        </p:spPr>
        <p:txBody>
          <a:bodyPr wrap="square" lIns="0" tIns="0" rIns="0" bIns="0" rtlCol="0" anchor="ctr"/>
          <a:lstStyle/>
          <a:p>
            <a:pPr algn="ctr" indent="0" marL="0">
              <a:buNone/>
            </a:pPr>
            <a:r>
              <a:rPr lang="en-US" sz="1600" b="1" dirty="0">
                <a:solidFill>
                  <a:srgbClr val="085041"/>
                </a:solidFill>
                <a:latin typeface="Calibri" pitchFamily="34" charset="0"/>
                <a:ea typeface="Calibri" pitchFamily="34" charset="-122"/>
                <a:cs typeface="Calibri" pitchFamily="34" charset="-120"/>
              </a:rPr>
              <a:t>Admin sets validity, per site (Settings page, audited)</a:t>
            </a:r>
            <a:endParaRPr lang="en-US" sz="1600" dirty="0"/>
          </a:p>
        </p:txBody>
      </p:sp>
      <p:sp>
        <p:nvSpPr>
          <p:cNvPr id="5" name="Text 3"/>
          <p:cNvSpPr txBox="1"/>
          <p:nvPr/>
        </p:nvSpPr>
        <p:spPr>
          <a:xfrm>
            <a:off x="548640" y="1783080"/>
            <a:ext cx="5394960" cy="320040"/>
          </a:xfrm>
          <a:prstGeom prst="rect">
            <a:avLst/>
          </a:prstGeom>
          <a:noFill/>
          <a:ln/>
        </p:spPr>
        <p:txBody>
          <a:bodyPr wrap="square" lIns="0" tIns="0" rIns="0" bIns="0" rtlCol="0" anchor="ctr"/>
          <a:lstStyle/>
          <a:p>
            <a:pPr indent="0" marL="0">
              <a:buNone/>
            </a:pPr>
            <a:r>
              <a:rPr lang="en-US" sz="1500" b="1" dirty="0">
                <a:solidFill>
                  <a:srgbClr val="1B1F27"/>
                </a:solidFill>
                <a:latin typeface="Calibri" pitchFamily="34" charset="0"/>
                <a:ea typeface="Calibri" pitchFamily="34" charset="-122"/>
                <a:cs typeface="Calibri" pitchFamily="34" charset="-120"/>
              </a:rPr>
              <a:t>Path A: planned arrival</a:t>
            </a:r>
            <a:endParaRPr lang="en-US" sz="1500" dirty="0"/>
          </a:p>
        </p:txBody>
      </p:sp>
      <p:sp>
        <p:nvSpPr>
          <p:cNvPr id="6" name="Text 4"/>
          <p:cNvSpPr txBox="1"/>
          <p:nvPr/>
        </p:nvSpPr>
        <p:spPr>
          <a:xfrm>
            <a:off x="6245352" y="1783080"/>
            <a:ext cx="5394960" cy="320040"/>
          </a:xfrm>
          <a:prstGeom prst="rect">
            <a:avLst/>
          </a:prstGeom>
          <a:noFill/>
          <a:ln/>
        </p:spPr>
        <p:txBody>
          <a:bodyPr wrap="square" lIns="0" tIns="0" rIns="0" bIns="0" rtlCol="0" anchor="ctr"/>
          <a:lstStyle/>
          <a:p>
            <a:pPr indent="0" marL="0">
              <a:buNone/>
            </a:pPr>
            <a:r>
              <a:rPr lang="en-US" sz="1500" b="1" dirty="0">
                <a:solidFill>
                  <a:srgbClr val="1B1F27"/>
                </a:solidFill>
                <a:latin typeface="Calibri" pitchFamily="34" charset="0"/>
                <a:ea typeface="Calibri" pitchFamily="34" charset="-122"/>
                <a:cs typeface="Calibri" pitchFamily="34" charset="-120"/>
              </a:rPr>
              <a:t>Path B: unexpected arrival</a:t>
            </a:r>
            <a:endParaRPr lang="en-US" sz="1500" dirty="0"/>
          </a:p>
        </p:txBody>
      </p:sp>
      <p:sp>
        <p:nvSpPr>
          <p:cNvPr id="7" name="Shape 5"/>
          <p:cNvSpPr/>
          <p:nvPr/>
        </p:nvSpPr>
        <p:spPr>
          <a:xfrm>
            <a:off x="548640" y="2194560"/>
            <a:ext cx="5394960" cy="457200"/>
          </a:xfrm>
          <a:prstGeom prst="roundRect">
            <a:avLst>
              <a:gd name="adj" fmla="val 16000"/>
            </a:avLst>
          </a:prstGeom>
          <a:solidFill>
            <a:srgbClr val="F3F5F7"/>
          </a:solidFill>
          <a:ln w="12700">
            <a:solidFill>
              <a:srgbClr val="CBD0DA"/>
            </a:solidFill>
            <a:prstDash val="solid"/>
          </a:ln>
        </p:spPr>
      </p:sp>
      <p:sp>
        <p:nvSpPr>
          <p:cNvPr id="8" name="Text 6"/>
          <p:cNvSpPr txBox="1"/>
          <p:nvPr/>
        </p:nvSpPr>
        <p:spPr>
          <a:xfrm>
            <a:off x="731520" y="219456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Default visit length pre-fills the visit window</a:t>
            </a:r>
            <a:endParaRPr lang="en-US" sz="1400" dirty="0"/>
          </a:p>
        </p:txBody>
      </p:sp>
      <p:sp>
        <p:nvSpPr>
          <p:cNvPr id="9" name="Shape 7"/>
          <p:cNvSpPr/>
          <p:nvPr/>
        </p:nvSpPr>
        <p:spPr>
          <a:xfrm>
            <a:off x="3246120" y="2651760"/>
            <a:ext cx="0" cy="182880"/>
          </a:xfrm>
          <a:prstGeom prst="line">
            <a:avLst/>
          </a:prstGeom>
          <a:noFill/>
          <a:ln w="15875">
            <a:solidFill>
              <a:srgbClr val="6B7482"/>
            </a:solidFill>
            <a:prstDash val="solid"/>
            <a:tailEnd type="triangle"/>
          </a:ln>
        </p:spPr>
      </p:sp>
      <p:sp>
        <p:nvSpPr>
          <p:cNvPr id="10" name="Shape 8"/>
          <p:cNvSpPr/>
          <p:nvPr/>
        </p:nvSpPr>
        <p:spPr>
          <a:xfrm>
            <a:off x="548640" y="2834640"/>
            <a:ext cx="5394960" cy="457200"/>
          </a:xfrm>
          <a:prstGeom prst="roundRect">
            <a:avLst>
              <a:gd name="adj" fmla="val 16000"/>
            </a:avLst>
          </a:prstGeom>
          <a:solidFill>
            <a:srgbClr val="F3F5F7"/>
          </a:solidFill>
          <a:ln w="12700">
            <a:solidFill>
              <a:srgbClr val="CBD0DA"/>
            </a:solidFill>
            <a:prstDash val="solid"/>
          </a:ln>
        </p:spPr>
      </p:sp>
      <p:sp>
        <p:nvSpPr>
          <p:cNvPr id="11" name="Text 9"/>
          <p:cNvSpPr txBox="1"/>
          <p:nvPr/>
        </p:nvSpPr>
        <p:spPr>
          <a:xfrm>
            <a:off x="731520" y="283464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Staff set entry and exit, within the longest QR allowed</a:t>
            </a:r>
            <a:endParaRPr lang="en-US" sz="1400" dirty="0"/>
          </a:p>
        </p:txBody>
      </p:sp>
      <p:sp>
        <p:nvSpPr>
          <p:cNvPr id="12" name="Shape 10"/>
          <p:cNvSpPr/>
          <p:nvPr/>
        </p:nvSpPr>
        <p:spPr>
          <a:xfrm>
            <a:off x="3246120" y="3291840"/>
            <a:ext cx="0" cy="182880"/>
          </a:xfrm>
          <a:prstGeom prst="line">
            <a:avLst/>
          </a:prstGeom>
          <a:noFill/>
          <a:ln w="15875">
            <a:solidFill>
              <a:srgbClr val="6B7482"/>
            </a:solidFill>
            <a:prstDash val="solid"/>
            <a:tailEnd type="triangle"/>
          </a:ln>
        </p:spPr>
      </p:sp>
      <p:sp>
        <p:nvSpPr>
          <p:cNvPr id="13" name="Shape 11"/>
          <p:cNvSpPr/>
          <p:nvPr/>
        </p:nvSpPr>
        <p:spPr>
          <a:xfrm>
            <a:off x="548640" y="3474720"/>
            <a:ext cx="5394960" cy="457200"/>
          </a:xfrm>
          <a:prstGeom prst="roundRect">
            <a:avLst>
              <a:gd name="adj" fmla="val 16000"/>
            </a:avLst>
          </a:prstGeom>
          <a:solidFill>
            <a:srgbClr val="F3F5F7"/>
          </a:solidFill>
          <a:ln w="12700">
            <a:solidFill>
              <a:srgbClr val="CBD0DA"/>
            </a:solidFill>
            <a:prstDash val="solid"/>
          </a:ln>
        </p:spPr>
      </p:sp>
      <p:sp>
        <p:nvSpPr>
          <p:cNvPr id="14" name="Text 12"/>
          <p:cNvSpPr txBox="1"/>
          <p:nvPr/>
        </p:nvSpPr>
        <p:spPr>
          <a:xfrm>
            <a:off x="731520" y="347472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QR emailed with both times, in the site's time zone</a:t>
            </a:r>
            <a:endParaRPr lang="en-US" sz="1400" dirty="0"/>
          </a:p>
        </p:txBody>
      </p:sp>
      <p:sp>
        <p:nvSpPr>
          <p:cNvPr id="15" name="Shape 13"/>
          <p:cNvSpPr/>
          <p:nvPr/>
        </p:nvSpPr>
        <p:spPr>
          <a:xfrm>
            <a:off x="6245352" y="2194560"/>
            <a:ext cx="5394960" cy="457200"/>
          </a:xfrm>
          <a:prstGeom prst="roundRect">
            <a:avLst>
              <a:gd name="adj" fmla="val 16000"/>
            </a:avLst>
          </a:prstGeom>
          <a:solidFill>
            <a:srgbClr val="F3F5F7"/>
          </a:solidFill>
          <a:ln w="12700">
            <a:solidFill>
              <a:srgbClr val="CBD0DA"/>
            </a:solidFill>
            <a:prstDash val="solid"/>
          </a:ln>
        </p:spPr>
      </p:sp>
      <p:sp>
        <p:nvSpPr>
          <p:cNvPr id="16" name="Text 14"/>
          <p:cNvSpPr txBox="1"/>
          <p:nvPr/>
        </p:nvSpPr>
        <p:spPr>
          <a:xfrm>
            <a:off x="6428232" y="219456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Person registers, confirms the rules, enters the email code</a:t>
            </a:r>
            <a:endParaRPr lang="en-US" sz="1400" dirty="0"/>
          </a:p>
        </p:txBody>
      </p:sp>
      <p:sp>
        <p:nvSpPr>
          <p:cNvPr id="17" name="Shape 15"/>
          <p:cNvSpPr/>
          <p:nvPr/>
        </p:nvSpPr>
        <p:spPr>
          <a:xfrm>
            <a:off x="8942832" y="2651760"/>
            <a:ext cx="0" cy="182880"/>
          </a:xfrm>
          <a:prstGeom prst="line">
            <a:avLst/>
          </a:prstGeom>
          <a:noFill/>
          <a:ln w="15875">
            <a:solidFill>
              <a:srgbClr val="6B7482"/>
            </a:solidFill>
            <a:prstDash val="solid"/>
            <a:tailEnd type="triangle"/>
          </a:ln>
        </p:spPr>
      </p:sp>
      <p:sp>
        <p:nvSpPr>
          <p:cNvPr id="18" name="Shape 16"/>
          <p:cNvSpPr/>
          <p:nvPr/>
        </p:nvSpPr>
        <p:spPr>
          <a:xfrm>
            <a:off x="6245352" y="2834640"/>
            <a:ext cx="5394960" cy="457200"/>
          </a:xfrm>
          <a:prstGeom prst="roundRect">
            <a:avLst>
              <a:gd name="adj" fmla="val 16000"/>
            </a:avLst>
          </a:prstGeom>
          <a:solidFill>
            <a:srgbClr val="F3F5F7"/>
          </a:solidFill>
          <a:ln w="12700">
            <a:solidFill>
              <a:srgbClr val="CBD0DA"/>
            </a:solidFill>
            <a:prstDash val="solid"/>
          </a:ln>
        </p:spPr>
      </p:sp>
      <p:sp>
        <p:nvSpPr>
          <p:cNvPr id="19" name="Text 17"/>
          <p:cNvSpPr txBox="1"/>
          <p:nvPr/>
        </p:nvSpPr>
        <p:spPr>
          <a:xfrm>
            <a:off x="6428232" y="283464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Entry opens after the delay, then lasts the set hours</a:t>
            </a:r>
            <a:endParaRPr lang="en-US" sz="1400" dirty="0"/>
          </a:p>
        </p:txBody>
      </p:sp>
      <p:sp>
        <p:nvSpPr>
          <p:cNvPr id="20" name="Shape 18"/>
          <p:cNvSpPr/>
          <p:nvPr/>
        </p:nvSpPr>
        <p:spPr>
          <a:xfrm>
            <a:off x="8942832" y="3291840"/>
            <a:ext cx="0" cy="182880"/>
          </a:xfrm>
          <a:prstGeom prst="line">
            <a:avLst/>
          </a:prstGeom>
          <a:noFill/>
          <a:ln w="15875">
            <a:solidFill>
              <a:srgbClr val="6B7482"/>
            </a:solidFill>
            <a:prstDash val="solid"/>
            <a:tailEnd type="triangle"/>
          </a:ln>
        </p:spPr>
      </p:sp>
      <p:sp>
        <p:nvSpPr>
          <p:cNvPr id="21" name="Shape 19"/>
          <p:cNvSpPr/>
          <p:nvPr/>
        </p:nvSpPr>
        <p:spPr>
          <a:xfrm>
            <a:off x="6245352" y="3474720"/>
            <a:ext cx="5394960" cy="457200"/>
          </a:xfrm>
          <a:prstGeom prst="roundRect">
            <a:avLst>
              <a:gd name="adj" fmla="val 16000"/>
            </a:avLst>
          </a:prstGeom>
          <a:solidFill>
            <a:srgbClr val="F3F5F7"/>
          </a:solidFill>
          <a:ln w="12700">
            <a:solidFill>
              <a:srgbClr val="CBD0DA"/>
            </a:solidFill>
            <a:prstDash val="solid"/>
          </a:ln>
        </p:spPr>
      </p:sp>
      <p:sp>
        <p:nvSpPr>
          <p:cNvPr id="22" name="Text 20"/>
          <p:cNvSpPr txBox="1"/>
          <p:nvPr/>
        </p:nvSpPr>
        <p:spPr>
          <a:xfrm>
            <a:off x="6428232" y="3474720"/>
            <a:ext cx="5029200" cy="457200"/>
          </a:xfrm>
          <a:prstGeom prst="rect">
            <a:avLst/>
          </a:prstGeom>
          <a:noFill/>
          <a:ln/>
        </p:spPr>
        <p:txBody>
          <a:bodyPr wrap="square" lIns="0" tIns="0" rIns="0" bIns="0" rtlCol="0" anchor="ctr"/>
          <a:lstStyle/>
          <a:p>
            <a:pPr indent="0" marL="0">
              <a:buNone/>
            </a:pPr>
            <a:r>
              <a:rPr lang="en-US" sz="1400" dirty="0">
                <a:solidFill>
                  <a:srgbClr val="1B1F27"/>
                </a:solidFill>
                <a:latin typeface="Calibri" pitchFamily="34" charset="0"/>
                <a:ea typeface="Calibri" pitchFamily="34" charset="-122"/>
                <a:cs typeface="Calibri" pitchFamily="34" charset="-120"/>
              </a:rPr>
              <a:t>QR and reference issued, with entry and exit time</a:t>
            </a:r>
            <a:endParaRPr lang="en-US" sz="1400" dirty="0"/>
          </a:p>
        </p:txBody>
      </p:sp>
      <p:sp>
        <p:nvSpPr>
          <p:cNvPr id="23" name="Shape 21"/>
          <p:cNvSpPr/>
          <p:nvPr/>
        </p:nvSpPr>
        <p:spPr>
          <a:xfrm>
            <a:off x="3246120" y="3931920"/>
            <a:ext cx="0" cy="320040"/>
          </a:xfrm>
          <a:prstGeom prst="line">
            <a:avLst/>
          </a:prstGeom>
          <a:noFill/>
          <a:ln w="15875">
            <a:solidFill>
              <a:srgbClr val="6B7482"/>
            </a:solidFill>
            <a:prstDash val="solid"/>
            <a:tailEnd type="triangle"/>
          </a:ln>
        </p:spPr>
      </p:sp>
      <p:sp>
        <p:nvSpPr>
          <p:cNvPr id="24" name="Shape 22"/>
          <p:cNvSpPr/>
          <p:nvPr/>
        </p:nvSpPr>
        <p:spPr>
          <a:xfrm>
            <a:off x="8942832" y="3931920"/>
            <a:ext cx="0" cy="320040"/>
          </a:xfrm>
          <a:prstGeom prst="line">
            <a:avLst/>
          </a:prstGeom>
          <a:noFill/>
          <a:ln w="15875">
            <a:solidFill>
              <a:srgbClr val="6B7482"/>
            </a:solidFill>
            <a:prstDash val="solid"/>
            <a:tailEnd type="triangle"/>
          </a:ln>
        </p:spPr>
      </p:sp>
      <p:sp>
        <p:nvSpPr>
          <p:cNvPr id="25" name="Shape 23"/>
          <p:cNvSpPr/>
          <p:nvPr/>
        </p:nvSpPr>
        <p:spPr>
          <a:xfrm>
            <a:off x="548640" y="4297680"/>
            <a:ext cx="11091672" cy="502920"/>
          </a:xfrm>
          <a:prstGeom prst="roundRect">
            <a:avLst>
              <a:gd name="adj" fmla="val 18182"/>
            </a:avLst>
          </a:prstGeom>
          <a:solidFill>
            <a:srgbClr val="ECEEF2"/>
          </a:solidFill>
          <a:ln w="12700">
            <a:solidFill>
              <a:srgbClr val="6B7482"/>
            </a:solidFill>
            <a:prstDash val="solid"/>
          </a:ln>
        </p:spPr>
      </p:sp>
      <p:sp>
        <p:nvSpPr>
          <p:cNvPr id="26" name="Text 24"/>
          <p:cNvSpPr txBox="1"/>
          <p:nvPr/>
        </p:nvSpPr>
        <p:spPr>
          <a:xfrm>
            <a:off x="548640" y="4297680"/>
            <a:ext cx="11091672" cy="502920"/>
          </a:xfrm>
          <a:prstGeom prst="rect">
            <a:avLst/>
          </a:prstGeom>
          <a:noFill/>
          <a:ln/>
        </p:spPr>
        <p:txBody>
          <a:bodyPr wrap="square" lIns="0" tIns="0" rIns="0" bIns="0" rtlCol="0" anchor="ctr"/>
          <a:lstStyle/>
          <a:p>
            <a:pPr algn="ctr" indent="0" marL="0">
              <a:buNone/>
            </a:pPr>
            <a:r>
              <a:rPr lang="en-US" sz="1600" b="1" dirty="0">
                <a:solidFill>
                  <a:srgbClr val="232831"/>
                </a:solidFill>
                <a:latin typeface="Calibri" pitchFamily="34" charset="0"/>
                <a:ea typeface="Calibri" pitchFamily="34" charset="-122"/>
                <a:cs typeface="Calibri" pitchFamily="34" charset="-120"/>
              </a:rPr>
              <a:t>Gate kiosk checks the QR: entry time, exit time, then the other checks</a:t>
            </a:r>
            <a:endParaRPr lang="en-US" sz="1600" dirty="0"/>
          </a:p>
        </p:txBody>
      </p:sp>
      <p:sp>
        <p:nvSpPr>
          <p:cNvPr id="27" name="Shape 25"/>
          <p:cNvSpPr/>
          <p:nvPr/>
        </p:nvSpPr>
        <p:spPr>
          <a:xfrm>
            <a:off x="2331720" y="4800600"/>
            <a:ext cx="0" cy="274320"/>
          </a:xfrm>
          <a:prstGeom prst="line">
            <a:avLst/>
          </a:prstGeom>
          <a:noFill/>
          <a:ln w="15875">
            <a:solidFill>
              <a:srgbClr val="6B7482"/>
            </a:solidFill>
            <a:prstDash val="solid"/>
            <a:tailEnd type="triangle"/>
          </a:ln>
        </p:spPr>
      </p:sp>
      <p:sp>
        <p:nvSpPr>
          <p:cNvPr id="28" name="Shape 26"/>
          <p:cNvSpPr/>
          <p:nvPr/>
        </p:nvSpPr>
        <p:spPr>
          <a:xfrm>
            <a:off x="548640" y="5120640"/>
            <a:ext cx="3566160" cy="868680"/>
          </a:xfrm>
          <a:prstGeom prst="roundRect">
            <a:avLst>
              <a:gd name="adj" fmla="val 10526"/>
            </a:avLst>
          </a:prstGeom>
          <a:solidFill>
            <a:srgbClr val="FBE4E2"/>
          </a:solidFill>
          <a:ln w="12700">
            <a:solidFill>
              <a:srgbClr val="C0392B"/>
            </a:solidFill>
            <a:prstDash val="solid"/>
          </a:ln>
        </p:spPr>
      </p:sp>
      <p:sp>
        <p:nvSpPr>
          <p:cNvPr id="29" name="Text 27"/>
          <p:cNvSpPr txBox="1"/>
          <p:nvPr/>
        </p:nvSpPr>
        <p:spPr>
          <a:xfrm>
            <a:off x="731520" y="5175504"/>
            <a:ext cx="3200400" cy="320040"/>
          </a:xfrm>
          <a:prstGeom prst="rect">
            <a:avLst/>
          </a:prstGeom>
          <a:noFill/>
          <a:ln/>
        </p:spPr>
        <p:txBody>
          <a:bodyPr wrap="square" lIns="0" tIns="0" rIns="0" bIns="0" rtlCol="0" anchor="ctr"/>
          <a:lstStyle/>
          <a:p>
            <a:pPr indent="0" marL="0">
              <a:buNone/>
            </a:pPr>
            <a:r>
              <a:rPr lang="en-US" sz="1500" b="1" dirty="0">
                <a:solidFill>
                  <a:srgbClr val="6B1A14"/>
                </a:solidFill>
                <a:latin typeface="Calibri" pitchFamily="34" charset="0"/>
                <a:ea typeface="Calibri" pitchFamily="34" charset="-122"/>
                <a:cs typeface="Calibri" pitchFamily="34" charset="-120"/>
              </a:rPr>
              <a:t>Before entry: refused</a:t>
            </a:r>
            <a:endParaRPr lang="en-US" sz="1500" dirty="0"/>
          </a:p>
        </p:txBody>
      </p:sp>
      <p:sp>
        <p:nvSpPr>
          <p:cNvPr id="30" name="Text 28"/>
          <p:cNvSpPr txBox="1"/>
          <p:nvPr/>
        </p:nvSpPr>
        <p:spPr>
          <a:xfrm>
            <a:off x="731520" y="5504688"/>
            <a:ext cx="3200400" cy="457200"/>
          </a:xfrm>
          <a:prstGeom prst="rect">
            <a:avLst/>
          </a:prstGeom>
          <a:noFill/>
          <a:ln/>
        </p:spPr>
        <p:txBody>
          <a:bodyPr wrap="square" lIns="0" tIns="0" rIns="0" bIns="0" rtlCol="0" anchor="t"/>
          <a:lstStyle/>
          <a:p>
            <a:pPr indent="0" marL="0">
              <a:buNone/>
            </a:pPr>
            <a:r>
              <a:rPr lang="en-US" sz="1300" dirty="0">
                <a:solidFill>
                  <a:srgbClr val="6B1A14"/>
                </a:solidFill>
                <a:latin typeface="Calibri" pitchFamily="34" charset="0"/>
                <a:ea typeface="Calibri" pitchFamily="34" charset="-122"/>
                <a:cs typeface="Calibri" pitchFamily="34" charset="-120"/>
              </a:rPr>
              <a:t>Not valid yet. The reason is recorded.</a:t>
            </a:r>
            <a:endParaRPr lang="en-US" sz="1300" dirty="0"/>
          </a:p>
        </p:txBody>
      </p:sp>
      <p:sp>
        <p:nvSpPr>
          <p:cNvPr id="31" name="Shape 29"/>
          <p:cNvSpPr/>
          <p:nvPr/>
        </p:nvSpPr>
        <p:spPr>
          <a:xfrm>
            <a:off x="6080760" y="4800600"/>
            <a:ext cx="0" cy="274320"/>
          </a:xfrm>
          <a:prstGeom prst="line">
            <a:avLst/>
          </a:prstGeom>
          <a:noFill/>
          <a:ln w="15875">
            <a:solidFill>
              <a:srgbClr val="6B7482"/>
            </a:solidFill>
            <a:prstDash val="solid"/>
            <a:tailEnd type="triangle"/>
          </a:ln>
        </p:spPr>
      </p:sp>
      <p:sp>
        <p:nvSpPr>
          <p:cNvPr id="32" name="Shape 30"/>
          <p:cNvSpPr/>
          <p:nvPr/>
        </p:nvSpPr>
        <p:spPr>
          <a:xfrm>
            <a:off x="4297680" y="5120640"/>
            <a:ext cx="3566160" cy="868680"/>
          </a:xfrm>
          <a:prstGeom prst="roundRect">
            <a:avLst>
              <a:gd name="adj" fmla="val 10526"/>
            </a:avLst>
          </a:prstGeom>
          <a:solidFill>
            <a:srgbClr val="FBE4E2"/>
          </a:solidFill>
          <a:ln w="12700">
            <a:solidFill>
              <a:srgbClr val="C0392B"/>
            </a:solidFill>
            <a:prstDash val="solid"/>
          </a:ln>
        </p:spPr>
      </p:sp>
      <p:sp>
        <p:nvSpPr>
          <p:cNvPr id="33" name="Text 31"/>
          <p:cNvSpPr txBox="1"/>
          <p:nvPr/>
        </p:nvSpPr>
        <p:spPr>
          <a:xfrm>
            <a:off x="4480560" y="5175504"/>
            <a:ext cx="3200400" cy="320040"/>
          </a:xfrm>
          <a:prstGeom prst="rect">
            <a:avLst/>
          </a:prstGeom>
          <a:noFill/>
          <a:ln/>
        </p:spPr>
        <p:txBody>
          <a:bodyPr wrap="square" lIns="0" tIns="0" rIns="0" bIns="0" rtlCol="0" anchor="ctr"/>
          <a:lstStyle/>
          <a:p>
            <a:pPr indent="0" marL="0">
              <a:buNone/>
            </a:pPr>
            <a:r>
              <a:rPr lang="en-US" sz="1500" b="1" dirty="0">
                <a:solidFill>
                  <a:srgbClr val="6B1A14"/>
                </a:solidFill>
                <a:latin typeface="Calibri" pitchFamily="34" charset="0"/>
                <a:ea typeface="Calibri" pitchFamily="34" charset="-122"/>
                <a:cs typeface="Calibri" pitchFamily="34" charset="-120"/>
              </a:rPr>
              <a:t>After exit: refused</a:t>
            </a:r>
            <a:endParaRPr lang="en-US" sz="1500" dirty="0"/>
          </a:p>
        </p:txBody>
      </p:sp>
      <p:sp>
        <p:nvSpPr>
          <p:cNvPr id="34" name="Text 32"/>
          <p:cNvSpPr txBox="1"/>
          <p:nvPr/>
        </p:nvSpPr>
        <p:spPr>
          <a:xfrm>
            <a:off x="4480560" y="5504688"/>
            <a:ext cx="3200400" cy="457200"/>
          </a:xfrm>
          <a:prstGeom prst="rect">
            <a:avLst/>
          </a:prstGeom>
          <a:noFill/>
          <a:ln/>
        </p:spPr>
        <p:txBody>
          <a:bodyPr wrap="square" lIns="0" tIns="0" rIns="0" bIns="0" rtlCol="0" anchor="t"/>
          <a:lstStyle/>
          <a:p>
            <a:pPr indent="0" marL="0">
              <a:buNone/>
            </a:pPr>
            <a:r>
              <a:rPr lang="en-US" sz="1300" dirty="0">
                <a:solidFill>
                  <a:srgbClr val="6B1A14"/>
                </a:solidFill>
                <a:latin typeface="Calibri" pitchFamily="34" charset="0"/>
                <a:ea typeface="Calibri" pitchFamily="34" charset="-122"/>
                <a:cs typeface="Calibri" pitchFamily="34" charset="-120"/>
              </a:rPr>
              <a:t>The QR has expired. The reason is recorded.</a:t>
            </a:r>
            <a:endParaRPr lang="en-US" sz="1300" dirty="0"/>
          </a:p>
        </p:txBody>
      </p:sp>
      <p:sp>
        <p:nvSpPr>
          <p:cNvPr id="35" name="Shape 33"/>
          <p:cNvSpPr/>
          <p:nvPr/>
        </p:nvSpPr>
        <p:spPr>
          <a:xfrm>
            <a:off x="9829800" y="4800600"/>
            <a:ext cx="0" cy="274320"/>
          </a:xfrm>
          <a:prstGeom prst="line">
            <a:avLst/>
          </a:prstGeom>
          <a:noFill/>
          <a:ln w="15875">
            <a:solidFill>
              <a:srgbClr val="6B7482"/>
            </a:solidFill>
            <a:prstDash val="solid"/>
            <a:tailEnd type="triangle"/>
          </a:ln>
        </p:spPr>
      </p:sp>
      <p:sp>
        <p:nvSpPr>
          <p:cNvPr id="36" name="Shape 34"/>
          <p:cNvSpPr/>
          <p:nvPr/>
        </p:nvSpPr>
        <p:spPr>
          <a:xfrm>
            <a:off x="8046720" y="5120640"/>
            <a:ext cx="3566160" cy="868680"/>
          </a:xfrm>
          <a:prstGeom prst="roundRect">
            <a:avLst>
              <a:gd name="adj" fmla="val 10526"/>
            </a:avLst>
          </a:prstGeom>
          <a:solidFill>
            <a:srgbClr val="E1F5EE"/>
          </a:solidFill>
          <a:ln w="12700">
            <a:solidFill>
              <a:srgbClr val="0F6E56"/>
            </a:solidFill>
            <a:prstDash val="solid"/>
          </a:ln>
        </p:spPr>
      </p:sp>
      <p:sp>
        <p:nvSpPr>
          <p:cNvPr id="37" name="Text 35"/>
          <p:cNvSpPr txBox="1"/>
          <p:nvPr/>
        </p:nvSpPr>
        <p:spPr>
          <a:xfrm>
            <a:off x="8229600" y="5175504"/>
            <a:ext cx="3200400" cy="320040"/>
          </a:xfrm>
          <a:prstGeom prst="rect">
            <a:avLst/>
          </a:prstGeom>
          <a:noFill/>
          <a:ln/>
        </p:spPr>
        <p:txBody>
          <a:bodyPr wrap="square" lIns="0" tIns="0" rIns="0" bIns="0" rtlCol="0" anchor="ctr"/>
          <a:lstStyle/>
          <a:p>
            <a:pPr indent="0" marL="0">
              <a:buNone/>
            </a:pPr>
            <a:r>
              <a:rPr lang="en-US" sz="1500" b="1" dirty="0">
                <a:solidFill>
                  <a:srgbClr val="085041"/>
                </a:solidFill>
                <a:latin typeface="Calibri" pitchFamily="34" charset="0"/>
                <a:ea typeface="Calibri" pitchFamily="34" charset="-122"/>
                <a:cs typeface="Calibri" pitchFamily="34" charset="-120"/>
              </a:rPr>
              <a:t>Inside the window</a:t>
            </a:r>
            <a:endParaRPr lang="en-US" sz="1500" dirty="0"/>
          </a:p>
        </p:txBody>
      </p:sp>
      <p:sp>
        <p:nvSpPr>
          <p:cNvPr id="38" name="Text 36"/>
          <p:cNvSpPr txBox="1"/>
          <p:nvPr/>
        </p:nvSpPr>
        <p:spPr>
          <a:xfrm>
            <a:off x="8229600" y="5504688"/>
            <a:ext cx="3200400" cy="457200"/>
          </a:xfrm>
          <a:prstGeom prst="rect">
            <a:avLst/>
          </a:prstGeom>
          <a:noFill/>
          <a:ln/>
        </p:spPr>
        <p:txBody>
          <a:bodyPr wrap="square" lIns="0" tIns="0" rIns="0" bIns="0" rtlCol="0" anchor="t"/>
          <a:lstStyle/>
          <a:p>
            <a:pPr indent="0" marL="0">
              <a:buNone/>
            </a:pPr>
            <a:r>
              <a:rPr lang="en-US" sz="1300" dirty="0">
                <a:solidFill>
                  <a:srgbClr val="085041"/>
                </a:solidFill>
                <a:latin typeface="Calibri" pitchFamily="34" charset="0"/>
                <a:ea typeface="Calibri" pitchFamily="34" charset="-122"/>
                <a:cs typeface="Calibri" pitchFamily="34" charset="-120"/>
              </a:rPr>
              <a:t>The officer lets them in. Entry is counted on the dashboard.</a:t>
            </a:r>
            <a:endParaRPr lang="en-US" sz="1300" dirty="0"/>
          </a:p>
        </p:txBody>
      </p:sp>
      <p:sp>
        <p:nvSpPr>
          <p:cNvPr id="39" name="Text 37"/>
          <p:cNvSpPr txBox="1"/>
          <p:nvPr/>
        </p:nvSpPr>
        <p:spPr>
          <a:xfrm>
            <a:off x="548640" y="6053328"/>
            <a:ext cx="10424160" cy="320040"/>
          </a:xfrm>
          <a:prstGeom prst="rect">
            <a:avLst/>
          </a:prstGeom>
          <a:noFill/>
          <a:ln/>
        </p:spPr>
        <p:txBody>
          <a:bodyPr wrap="square" lIns="0" tIns="0" rIns="0" bIns="0" rtlCol="0" anchor="ctr"/>
          <a:lstStyle/>
          <a:p>
            <a:pPr indent="0" marL="0">
              <a:buNone/>
            </a:pPr>
            <a:r>
              <a:rPr lang="en-US" sz="1400" dirty="0">
                <a:solidFill>
                  <a:srgbClr val="556070"/>
                </a:solidFill>
                <a:latin typeface="Calibri" pitchFamily="34" charset="0"/>
                <a:ea typeface="Calibri" pitchFamily="34" charset="-122"/>
                <a:cs typeface="Calibri" pitchFamily="34" charset="-120"/>
              </a:rPr>
              <a:t>After entry, both paths: live roster and dashboard, Record exit, overdue flag, audit trail.</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At the gate: one kiosk, two panels</a:t>
            </a:r>
            <a:endParaRPr lang="en-US" sz="3200" dirty="0"/>
          </a:p>
        </p:txBody>
      </p:sp>
      <p:sp>
        <p:nvSpPr>
          <p:cNvPr id="3" name="card Read the code"/>
          <p:cNvSpPr/>
          <p:nvPr/>
        </p:nvSpPr>
        <p:spPr>
          <a:xfrm>
            <a:off x="548640" y="1325880"/>
            <a:ext cx="3566160" cy="2377440"/>
          </a:xfrm>
          <a:prstGeom prst="roundRect">
            <a:avLst>
              <a:gd name="adj" fmla="val 3846"/>
            </a:avLst>
          </a:prstGeom>
          <a:solidFill>
            <a:srgbClr val="FBEFD9"/>
          </a:solidFill>
          <a:ln w="12700">
            <a:solidFill>
              <a:srgbClr val="B7791F"/>
            </a:solidFill>
            <a:prstDash val="solid"/>
          </a:ln>
        </p:spPr>
      </p:sp>
      <p:sp>
        <p:nvSpPr>
          <p:cNvPr id="4" name="num 1"/>
          <p:cNvSpPr/>
          <p:nvPr/>
        </p:nvSpPr>
        <p:spPr>
          <a:xfrm>
            <a:off x="731520" y="1508760"/>
            <a:ext cx="384048" cy="384048"/>
          </a:xfrm>
          <a:prstGeom prst="ellipse">
            <a:avLst/>
          </a:prstGeom>
          <a:solidFill>
            <a:srgbClr val="B7791F"/>
          </a:solidFill>
          <a:ln w="12700">
            <a:solidFill>
              <a:srgbClr val="B7791F"/>
            </a:solidFill>
            <a:prstDash val="solid"/>
          </a:ln>
        </p:spPr>
      </p:sp>
      <p:sp>
        <p:nvSpPr>
          <p:cNvPr id="5" name="Text 3"/>
          <p:cNvSpPr txBox="1"/>
          <p:nvPr/>
        </p:nvSpPr>
        <p:spPr>
          <a:xfrm>
            <a:off x="7315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3444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7" name="Text 5"/>
          <p:cNvSpPr txBox="1"/>
          <p:nvPr/>
        </p:nvSpPr>
        <p:spPr>
          <a:xfrm>
            <a:off x="123444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Read the code</a:t>
            </a:r>
            <a:endParaRPr lang="en-US" sz="1600" dirty="0"/>
          </a:p>
        </p:txBody>
      </p:sp>
      <p:sp>
        <p:nvSpPr>
          <p:cNvPr id="8" name="Text 6"/>
          <p:cNvSpPr txBox="1"/>
          <p:nvPr/>
        </p:nvSpPr>
        <p:spPr>
          <a:xfrm>
            <a:off x="123444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Path A: upload the access QR. Path B: scan the entry QR or type the reference, then open the uploaded ID to compare. The kiosk shows the QR window and time left.</a:t>
            </a:r>
            <a:endParaRPr lang="en-US" sz="1400" dirty="0"/>
          </a:p>
        </p:txBody>
      </p:sp>
      <p:sp>
        <p:nvSpPr>
          <p:cNvPr id="9" name="card Check the records"/>
          <p:cNvSpPr/>
          <p:nvPr/>
        </p:nvSpPr>
        <p:spPr>
          <a:xfrm>
            <a:off x="4297680" y="1325880"/>
            <a:ext cx="3566160" cy="2377440"/>
          </a:xfrm>
          <a:prstGeom prst="roundRect">
            <a:avLst>
              <a:gd name="adj" fmla="val 3846"/>
            </a:avLst>
          </a:prstGeom>
          <a:solidFill>
            <a:srgbClr val="ECEEF2"/>
          </a:solidFill>
          <a:ln w="12700">
            <a:solidFill>
              <a:srgbClr val="6B7482"/>
            </a:solidFill>
            <a:prstDash val="solid"/>
          </a:ln>
        </p:spPr>
      </p:sp>
      <p:sp>
        <p:nvSpPr>
          <p:cNvPr id="10" name="num 2"/>
          <p:cNvSpPr/>
          <p:nvPr/>
        </p:nvSpPr>
        <p:spPr>
          <a:xfrm>
            <a:off x="4480560" y="1508760"/>
            <a:ext cx="384048" cy="384048"/>
          </a:xfrm>
          <a:prstGeom prst="ellipse">
            <a:avLst/>
          </a:prstGeom>
          <a:solidFill>
            <a:srgbClr val="6B7482"/>
          </a:solidFill>
          <a:ln w="12700">
            <a:solidFill>
              <a:srgbClr val="6B7482"/>
            </a:solidFill>
            <a:prstDash val="solid"/>
          </a:ln>
        </p:spPr>
      </p:sp>
      <p:sp>
        <p:nvSpPr>
          <p:cNvPr id="11" name="Text 9"/>
          <p:cNvSpPr txBox="1"/>
          <p:nvPr/>
        </p:nvSpPr>
        <p:spPr>
          <a:xfrm>
            <a:off x="44805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983480" y="1453896"/>
            <a:ext cx="169164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13" name="Shape 11"/>
          <p:cNvSpPr/>
          <p:nvPr/>
        </p:nvSpPr>
        <p:spPr>
          <a:xfrm>
            <a:off x="6766560" y="1435608"/>
            <a:ext cx="914400" cy="237744"/>
          </a:xfrm>
          <a:prstGeom prst="roundRect">
            <a:avLst>
              <a:gd name="adj" fmla="val 50000"/>
            </a:avLst>
          </a:prstGeom>
          <a:solidFill>
            <a:srgbClr val="FFE3D8"/>
          </a:solidFill>
          <a:ln w="9525">
            <a:solidFill>
              <a:srgbClr val="D85A30"/>
            </a:solidFill>
            <a:prstDash val="solid"/>
          </a:ln>
        </p:spPr>
      </p:sp>
      <p:sp>
        <p:nvSpPr>
          <p:cNvPr id="14" name="Text 12"/>
          <p:cNvSpPr txBox="1"/>
          <p:nvPr/>
        </p:nvSpPr>
        <p:spPr>
          <a:xfrm>
            <a:off x="6766560" y="1435608"/>
            <a:ext cx="914400" cy="237744"/>
          </a:xfrm>
          <a:prstGeom prst="rect">
            <a:avLst/>
          </a:prstGeom>
          <a:noFill/>
          <a:ln/>
        </p:spPr>
        <p:txBody>
          <a:bodyPr wrap="square" lIns="0" tIns="0" rIns="0" bIns="0" rtlCol="0" anchor="ctr"/>
          <a:lstStyle/>
          <a:p>
            <a:pPr algn="ctr" indent="0" marL="0">
              <a:buNone/>
            </a:pPr>
            <a:r>
              <a:rPr lang="en-US" sz="1100" b="1" dirty="0">
                <a:solidFill>
                  <a:srgbClr val="8A2E10"/>
                </a:solidFill>
                <a:latin typeface="Calibri" pitchFamily="34" charset="0"/>
                <a:ea typeface="Calibri" pitchFamily="34" charset="-122"/>
                <a:cs typeface="Calibri" pitchFamily="34" charset="-120"/>
              </a:rPr>
              <a:t>New in v2</a:t>
            </a:r>
            <a:endParaRPr lang="en-US" sz="1100" dirty="0"/>
          </a:p>
        </p:txBody>
      </p:sp>
      <p:sp>
        <p:nvSpPr>
          <p:cNvPr id="15" name="Text 13"/>
          <p:cNvSpPr txBox="1"/>
          <p:nvPr/>
        </p:nvSpPr>
        <p:spPr>
          <a:xfrm>
            <a:off x="4983480" y="1709928"/>
            <a:ext cx="26974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Check the records</a:t>
            </a:r>
            <a:endParaRPr lang="en-US" sz="1600" dirty="0"/>
          </a:p>
        </p:txBody>
      </p:sp>
      <p:sp>
        <p:nvSpPr>
          <p:cNvPr id="16" name="Text 14"/>
          <p:cNvSpPr txBox="1"/>
          <p:nvPr/>
        </p:nvSpPr>
        <p:spPr>
          <a:xfrm>
            <a:off x="4983480" y="2112264"/>
            <a:ext cx="2697480" cy="15087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Path A: ID verified, approval, QR open, visit window, blacklist, rules. Path B: QR open, rules current, not blocked, not already left.</a:t>
            </a:r>
            <a:endParaRPr lang="en-US" sz="1400" dirty="0"/>
          </a:p>
        </p:txBody>
      </p:sp>
      <p:sp>
        <p:nvSpPr>
          <p:cNvPr id="17" name="card Compare and decide"/>
          <p:cNvSpPr/>
          <p:nvPr/>
        </p:nvSpPr>
        <p:spPr>
          <a:xfrm>
            <a:off x="8046720" y="1325880"/>
            <a:ext cx="3566160" cy="2377440"/>
          </a:xfrm>
          <a:prstGeom prst="roundRect">
            <a:avLst>
              <a:gd name="adj" fmla="val 3846"/>
            </a:avLst>
          </a:prstGeom>
          <a:solidFill>
            <a:srgbClr val="FBEFD9"/>
          </a:solidFill>
          <a:ln w="12700">
            <a:solidFill>
              <a:srgbClr val="B7791F"/>
            </a:solidFill>
            <a:prstDash val="solid"/>
          </a:ln>
        </p:spPr>
      </p:sp>
      <p:sp>
        <p:nvSpPr>
          <p:cNvPr id="18" name="num 3"/>
          <p:cNvSpPr/>
          <p:nvPr/>
        </p:nvSpPr>
        <p:spPr>
          <a:xfrm>
            <a:off x="8229600" y="1508760"/>
            <a:ext cx="384048" cy="384048"/>
          </a:xfrm>
          <a:prstGeom prst="ellipse">
            <a:avLst/>
          </a:prstGeom>
          <a:solidFill>
            <a:srgbClr val="B7791F"/>
          </a:solidFill>
          <a:ln w="12700">
            <a:solidFill>
              <a:srgbClr val="B7791F"/>
            </a:solidFill>
            <a:prstDash val="solid"/>
          </a:ln>
        </p:spPr>
      </p:sp>
      <p:sp>
        <p:nvSpPr>
          <p:cNvPr id="19" name="Text 17"/>
          <p:cNvSpPr txBox="1"/>
          <p:nvPr/>
        </p:nvSpPr>
        <p:spPr>
          <a:xfrm>
            <a:off x="8229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732520" y="1453896"/>
            <a:ext cx="26974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21" name="Text 19"/>
          <p:cNvSpPr txBox="1"/>
          <p:nvPr/>
        </p:nvSpPr>
        <p:spPr>
          <a:xfrm>
            <a:off x="8732520" y="1709928"/>
            <a:ext cx="26974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Compare and decide</a:t>
            </a:r>
            <a:endParaRPr lang="en-US" sz="1600" dirty="0"/>
          </a:p>
        </p:txBody>
      </p:sp>
      <p:sp>
        <p:nvSpPr>
          <p:cNvPr id="22" name="Text 20"/>
          <p:cNvSpPr txBox="1"/>
          <p:nvPr/>
        </p:nvSpPr>
        <p:spPr>
          <a:xfrm>
            <a:off x="8732520" y="2112264"/>
            <a:ext cx="2697480" cy="15087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looks at the person and the screen or ID, then presses Let in or Refuse entry.</a:t>
            </a:r>
            <a:endParaRPr lang="en-US" sz="1400" dirty="0"/>
          </a:p>
        </p:txBody>
      </p:sp>
      <p:sp>
        <p:nvSpPr>
          <p:cNvPr id="23" name="card Do not admit"/>
          <p:cNvSpPr/>
          <p:nvPr/>
        </p:nvSpPr>
        <p:spPr>
          <a:xfrm>
            <a:off x="548640" y="4023360"/>
            <a:ext cx="5440680" cy="2011680"/>
          </a:xfrm>
          <a:prstGeom prst="roundRect">
            <a:avLst>
              <a:gd name="adj" fmla="val 4545"/>
            </a:avLst>
          </a:prstGeom>
          <a:solidFill>
            <a:srgbClr val="FBE4E2"/>
          </a:solidFill>
          <a:ln w="12700">
            <a:solidFill>
              <a:srgbClr val="C0392B"/>
            </a:solidFill>
            <a:prstDash val="solid"/>
          </a:ln>
        </p:spPr>
      </p:sp>
      <p:sp>
        <p:nvSpPr>
          <p:cNvPr id="24" name="Text 22"/>
          <p:cNvSpPr txBox="1"/>
          <p:nvPr/>
        </p:nvSpPr>
        <p:spPr>
          <a:xfrm>
            <a:off x="777240"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5" name="Text 23"/>
          <p:cNvSpPr txBox="1"/>
          <p:nvPr/>
        </p:nvSpPr>
        <p:spPr>
          <a:xfrm>
            <a:off x="777240"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Do not admit</a:t>
            </a:r>
            <a:endParaRPr lang="en-US" sz="1600" dirty="0"/>
          </a:p>
        </p:txBody>
      </p:sp>
      <p:sp>
        <p:nvSpPr>
          <p:cNvPr id="26" name="Text 24"/>
          <p:cNvSpPr txBox="1"/>
          <p:nvPr/>
        </p:nvSpPr>
        <p:spPr>
          <a:xfrm>
            <a:off x="777240"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records forbid entry, or the QR is not open yet or has expired. The reason is shown on screen and recorded in the audit trail.</a:t>
            </a:r>
            <a:endParaRPr lang="en-US" sz="1500" dirty="0"/>
          </a:p>
        </p:txBody>
      </p:sp>
      <p:sp>
        <p:nvSpPr>
          <p:cNvPr id="27" name="card Officer refuses entry"/>
          <p:cNvSpPr/>
          <p:nvPr/>
        </p:nvSpPr>
        <p:spPr>
          <a:xfrm>
            <a:off x="6199632" y="4023360"/>
            <a:ext cx="5440680" cy="2011680"/>
          </a:xfrm>
          <a:prstGeom prst="roundRect">
            <a:avLst>
              <a:gd name="adj" fmla="val 4545"/>
            </a:avLst>
          </a:prstGeom>
          <a:solidFill>
            <a:srgbClr val="FBE4E2"/>
          </a:solidFill>
          <a:ln w="12700">
            <a:solidFill>
              <a:srgbClr val="C0392B"/>
            </a:solidFill>
            <a:prstDash val="solid"/>
          </a:ln>
        </p:spPr>
      </p:sp>
      <p:sp>
        <p:nvSpPr>
          <p:cNvPr id="28" name="Text 26"/>
          <p:cNvSpPr txBox="1"/>
          <p:nvPr/>
        </p:nvSpPr>
        <p:spPr>
          <a:xfrm>
            <a:off x="6428232" y="4151376"/>
            <a:ext cx="5029200" cy="219456"/>
          </a:xfrm>
          <a:prstGeom prst="rect">
            <a:avLst/>
          </a:prstGeom>
          <a:noFill/>
          <a:ln/>
        </p:spPr>
        <p:txBody>
          <a:bodyPr wrap="square" lIns="0" tIns="0" rIns="0" bIns="0" rtlCol="0" anchor="ctr"/>
          <a:lstStyle/>
          <a:p>
            <a:pPr indent="0" marL="0">
              <a:buNone/>
            </a:pPr>
            <a:r>
              <a:rPr lang="en-US" sz="1100" b="1" spc="200" kern="0" dirty="0">
                <a:solidFill>
                  <a:srgbClr val="C0392B"/>
                </a:solidFill>
                <a:latin typeface="Calibri" pitchFamily="34" charset="0"/>
                <a:ea typeface="Calibri" pitchFamily="34" charset="-122"/>
                <a:cs typeface="Calibri" pitchFamily="34" charset="-120"/>
              </a:rPr>
              <a:t>RESULT</a:t>
            </a:r>
            <a:endParaRPr lang="en-US" sz="1100" dirty="0"/>
          </a:p>
        </p:txBody>
      </p:sp>
      <p:sp>
        <p:nvSpPr>
          <p:cNvPr id="29" name="Text 27"/>
          <p:cNvSpPr txBox="1"/>
          <p:nvPr/>
        </p:nvSpPr>
        <p:spPr>
          <a:xfrm>
            <a:off x="6428232" y="4407408"/>
            <a:ext cx="5029200" cy="365760"/>
          </a:xfrm>
          <a:prstGeom prst="rect">
            <a:avLst/>
          </a:prstGeom>
          <a:noFill/>
          <a:ln/>
        </p:spPr>
        <p:txBody>
          <a:bodyPr wrap="square" lIns="0" tIns="0" rIns="0" bIns="0" rtlCol="0" anchor="ctr"/>
          <a:lstStyle/>
          <a:p>
            <a:pPr indent="0" marL="0">
              <a:buNone/>
            </a:pPr>
            <a:r>
              <a:rPr lang="en-US" sz="1600" b="1" dirty="0">
                <a:solidFill>
                  <a:srgbClr val="6B1A14"/>
                </a:solidFill>
                <a:latin typeface="Calibri" pitchFamily="34" charset="0"/>
                <a:ea typeface="Calibri" pitchFamily="34" charset="-122"/>
                <a:cs typeface="Calibri" pitchFamily="34" charset="-120"/>
              </a:rPr>
              <a:t>Officer refuses entry</a:t>
            </a:r>
            <a:endParaRPr lang="en-US" sz="1600" dirty="0"/>
          </a:p>
        </p:txBody>
      </p:sp>
      <p:sp>
        <p:nvSpPr>
          <p:cNvPr id="30" name="Text 28"/>
          <p:cNvSpPr txBox="1"/>
          <p:nvPr/>
        </p:nvSpPr>
        <p:spPr>
          <a:xfrm>
            <a:off x="6428232" y="4809744"/>
            <a:ext cx="5029200" cy="1143000"/>
          </a:xfrm>
          <a:prstGeom prst="rect">
            <a:avLst/>
          </a:prstGeom>
          <a:noFill/>
          <a:ln/>
        </p:spPr>
        <p:txBody>
          <a:bodyPr wrap="square" lIns="0" tIns="0" rIns="0" bIns="0" rtlCol="0" anchor="t"/>
          <a:lstStyle/>
          <a:p>
            <a:pPr indent="0" marL="0">
              <a:buNone/>
            </a:pPr>
            <a:r>
              <a:rPr lang="en-US" sz="1500" dirty="0">
                <a:solidFill>
                  <a:srgbClr val="6B1A14"/>
                </a:solidFill>
                <a:latin typeface="Calibri" pitchFamily="34" charset="0"/>
                <a:ea typeface="Calibri" pitchFamily="34" charset="-122"/>
                <a:cs typeface="Calibri" pitchFamily="34" charset="-120"/>
              </a:rPr>
              <a:t>The person does not match their ID, or nobody can confirm they are expected. The reason is recorded. A refusal does not lock the person out.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On site, exit and the audit trail</a:t>
            </a:r>
            <a:endParaRPr lang="en-US" sz="3200" dirty="0"/>
          </a:p>
        </p:txBody>
      </p:sp>
      <p:sp>
        <p:nvSpPr>
          <p:cNvPr id="3" name="card Who is on site"/>
          <p:cNvSpPr/>
          <p:nvPr/>
        </p:nvSpPr>
        <p:spPr>
          <a:xfrm>
            <a:off x="548640" y="1325880"/>
            <a:ext cx="3566160" cy="2148840"/>
          </a:xfrm>
          <a:prstGeom prst="roundRect">
            <a:avLst>
              <a:gd name="adj" fmla="val 4255"/>
            </a:avLst>
          </a:prstGeom>
          <a:solidFill>
            <a:srgbClr val="ECEEF2"/>
          </a:solidFill>
          <a:ln w="12700">
            <a:solidFill>
              <a:srgbClr val="6B7482"/>
            </a:solidFill>
            <a:prstDash val="solid"/>
          </a:ln>
        </p:spPr>
      </p:sp>
      <p:sp>
        <p:nvSpPr>
          <p:cNvPr id="4" name="Text 2"/>
          <p:cNvSpPr txBox="1"/>
          <p:nvPr/>
        </p:nvSpPr>
        <p:spPr>
          <a:xfrm>
            <a:off x="777240" y="1453896"/>
            <a:ext cx="3154680" cy="219456"/>
          </a:xfrm>
          <a:prstGeom prst="rect">
            <a:avLst/>
          </a:prstGeom>
          <a:noFill/>
          <a:ln/>
        </p:spPr>
        <p:txBody>
          <a:bodyPr wrap="square" lIns="0" tIns="0" rIns="0" bIns="0" rtlCol="0" anchor="ctr"/>
          <a:lstStyle/>
          <a:p>
            <a:pPr indent="0" marL="0">
              <a:buNone/>
            </a:pPr>
            <a:r>
              <a:rPr lang="en-US" sz="1100" b="1" spc="200" kern="0" dirty="0">
                <a:solidFill>
                  <a:srgbClr val="6B7482"/>
                </a:solidFill>
                <a:latin typeface="Calibri" pitchFamily="34" charset="0"/>
                <a:ea typeface="Calibri" pitchFamily="34" charset="-122"/>
                <a:cs typeface="Calibri" pitchFamily="34" charset="-120"/>
              </a:rPr>
              <a:t>THE SYSTEM</a:t>
            </a:r>
            <a:endParaRPr lang="en-US" sz="1100" dirty="0"/>
          </a:p>
        </p:txBody>
      </p:sp>
      <p:sp>
        <p:nvSpPr>
          <p:cNvPr id="5" name="Text 3"/>
          <p:cNvSpPr txBox="1"/>
          <p:nvPr/>
        </p:nvSpPr>
        <p:spPr>
          <a:xfrm>
            <a:off x="777240" y="1709928"/>
            <a:ext cx="3154680" cy="365760"/>
          </a:xfrm>
          <a:prstGeom prst="rect">
            <a:avLst/>
          </a:prstGeom>
          <a:noFill/>
          <a:ln/>
        </p:spPr>
        <p:txBody>
          <a:bodyPr wrap="square" lIns="0" tIns="0" rIns="0" bIns="0" rtlCol="0" anchor="ctr"/>
          <a:lstStyle/>
          <a:p>
            <a:pPr indent="0" marL="0">
              <a:buNone/>
            </a:pPr>
            <a:r>
              <a:rPr lang="en-US" sz="1600" b="1" dirty="0">
                <a:solidFill>
                  <a:srgbClr val="232831"/>
                </a:solidFill>
                <a:latin typeface="Calibri" pitchFamily="34" charset="0"/>
                <a:ea typeface="Calibri" pitchFamily="34" charset="-122"/>
                <a:cs typeface="Calibri" pitchFamily="34" charset="-120"/>
              </a:rPr>
              <a:t>Who is on site</a:t>
            </a:r>
            <a:endParaRPr lang="en-US" sz="1600" dirty="0"/>
          </a:p>
        </p:txBody>
      </p:sp>
      <p:sp>
        <p:nvSpPr>
          <p:cNvPr id="6" name="Text 4"/>
          <p:cNvSpPr txBox="1"/>
          <p:nvPr/>
        </p:nvSpPr>
        <p:spPr>
          <a:xfrm>
            <a:off x="777240" y="2112264"/>
            <a:ext cx="3154680" cy="1280160"/>
          </a:xfrm>
          <a:prstGeom prst="rect">
            <a:avLst/>
          </a:prstGeom>
          <a:noFill/>
          <a:ln/>
        </p:spPr>
        <p:txBody>
          <a:bodyPr wrap="square" lIns="0" tIns="0" rIns="0" bIns="0" rtlCol="0" anchor="t"/>
          <a:lstStyle/>
          <a:p>
            <a:pPr indent="0" marL="0">
              <a:buNone/>
            </a:pPr>
            <a:r>
              <a:rPr lang="en-US" sz="1400" dirty="0">
                <a:solidFill>
                  <a:srgbClr val="232831"/>
                </a:solidFill>
                <a:latin typeface="Calibri" pitchFamily="34" charset="0"/>
                <a:ea typeface="Calibri" pitchFamily="34" charset="-122"/>
                <a:cs typeface="Calibri" pitchFamily="34" charset="-120"/>
              </a:rPr>
              <a:t>One live roster covers both paths, refreshed every 15 seconds. Walk-up people are marked as walk-up arrivals.</a:t>
            </a:r>
            <a:endParaRPr lang="en-US" sz="1400" dirty="0"/>
          </a:p>
        </p:txBody>
      </p:sp>
      <p:sp>
        <p:nvSpPr>
          <p:cNvPr id="7" name="card Record exit"/>
          <p:cNvSpPr/>
          <p:nvPr/>
        </p:nvSpPr>
        <p:spPr>
          <a:xfrm>
            <a:off x="4297680" y="1325880"/>
            <a:ext cx="3566160" cy="2148840"/>
          </a:xfrm>
          <a:prstGeom prst="roundRect">
            <a:avLst>
              <a:gd name="adj" fmla="val 4255"/>
            </a:avLst>
          </a:prstGeom>
          <a:solidFill>
            <a:srgbClr val="FBEFD9"/>
          </a:solidFill>
          <a:ln w="12700">
            <a:solidFill>
              <a:srgbClr val="B7791F"/>
            </a:solidFill>
            <a:prstDash val="solid"/>
          </a:ln>
        </p:spPr>
      </p:sp>
      <p:sp>
        <p:nvSpPr>
          <p:cNvPr id="8" name="Text 6"/>
          <p:cNvSpPr txBox="1"/>
          <p:nvPr/>
        </p:nvSpPr>
        <p:spPr>
          <a:xfrm>
            <a:off x="4526280" y="1453896"/>
            <a:ext cx="3154680" cy="219456"/>
          </a:xfrm>
          <a:prstGeom prst="rect">
            <a:avLst/>
          </a:prstGeom>
          <a:noFill/>
          <a:ln/>
        </p:spPr>
        <p:txBody>
          <a:bodyPr wrap="square" lIns="0" tIns="0" rIns="0" bIns="0" rtlCol="0" anchor="ctr"/>
          <a:lstStyle/>
          <a:p>
            <a:pPr indent="0" marL="0">
              <a:buNone/>
            </a:pPr>
            <a:r>
              <a:rPr lang="en-US" sz="1100" b="1" spc="200" kern="0" dirty="0">
                <a:solidFill>
                  <a:srgbClr val="B7791F"/>
                </a:solidFill>
                <a:latin typeface="Calibri" pitchFamily="34" charset="0"/>
                <a:ea typeface="Calibri" pitchFamily="34" charset="-122"/>
                <a:cs typeface="Calibri" pitchFamily="34" charset="-120"/>
              </a:rPr>
              <a:t>GATE OFFICER</a:t>
            </a:r>
            <a:endParaRPr lang="en-US" sz="1100" dirty="0"/>
          </a:p>
        </p:txBody>
      </p:sp>
      <p:sp>
        <p:nvSpPr>
          <p:cNvPr id="9" name="Text 7"/>
          <p:cNvSpPr txBox="1"/>
          <p:nvPr/>
        </p:nvSpPr>
        <p:spPr>
          <a:xfrm>
            <a:off x="4526280" y="1709928"/>
            <a:ext cx="3154680" cy="3657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Record exit</a:t>
            </a:r>
            <a:endParaRPr lang="en-US" sz="1600" dirty="0"/>
          </a:p>
        </p:txBody>
      </p:sp>
      <p:sp>
        <p:nvSpPr>
          <p:cNvPr id="10" name="Text 8"/>
          <p:cNvSpPr txBox="1"/>
          <p:nvPr/>
        </p:nvSpPr>
        <p:spPr>
          <a:xfrm>
            <a:off x="4526280" y="2112264"/>
            <a:ext cx="3154680" cy="1280160"/>
          </a:xfrm>
          <a:prstGeom prst="rect">
            <a:avLst/>
          </a:prstGeom>
          <a:noFill/>
          <a:ln/>
        </p:spPr>
        <p:txBody>
          <a:bodyPr wrap="square" lIns="0" tIns="0" rIns="0" bIns="0" rtlCol="0" anchor="t"/>
          <a:lstStyle/>
          <a:p>
            <a:pPr indent="0" marL="0">
              <a:buNone/>
            </a:pPr>
            <a:r>
              <a:rPr lang="en-US" sz="1400" dirty="0">
                <a:solidFill>
                  <a:srgbClr val="573906"/>
                </a:solidFill>
                <a:latin typeface="Calibri" pitchFamily="34" charset="0"/>
                <a:ea typeface="Calibri" pitchFamily="34" charset="-122"/>
                <a:cs typeface="Calibri" pitchFamily="34" charset="-120"/>
              </a:rPr>
              <a:t>The officer presses Record exit, on the roster or at the kiosk, for both paths. Entry and exit times stay on record.</a:t>
            </a:r>
            <a:endParaRPr lang="en-US" sz="1400" dirty="0"/>
          </a:p>
        </p:txBody>
      </p:sp>
      <p:sp>
        <p:nvSpPr>
          <p:cNvPr id="11" name="card Renewals"/>
          <p:cNvSpPr/>
          <p:nvPr/>
        </p:nvSpPr>
        <p:spPr>
          <a:xfrm>
            <a:off x="8046720" y="1325880"/>
            <a:ext cx="3566160" cy="2148840"/>
          </a:xfrm>
          <a:prstGeom prst="roundRect">
            <a:avLst>
              <a:gd name="adj" fmla="val 4255"/>
            </a:avLst>
          </a:prstGeom>
          <a:solidFill>
            <a:srgbClr val="E2F1EC"/>
          </a:solidFill>
          <a:ln w="12700">
            <a:solidFill>
              <a:srgbClr val="2F7F6B"/>
            </a:solidFill>
            <a:prstDash val="solid"/>
          </a:ln>
        </p:spPr>
      </p:sp>
      <p:sp>
        <p:nvSpPr>
          <p:cNvPr id="12" name="Text 10"/>
          <p:cNvSpPr txBox="1"/>
          <p:nvPr/>
        </p:nvSpPr>
        <p:spPr>
          <a:xfrm>
            <a:off x="8275320" y="1453896"/>
            <a:ext cx="3154680" cy="219456"/>
          </a:xfrm>
          <a:prstGeom prst="rect">
            <a:avLst/>
          </a:prstGeom>
          <a:noFill/>
          <a:ln/>
        </p:spPr>
        <p:txBody>
          <a:bodyPr wrap="square" lIns="0" tIns="0" rIns="0" bIns="0" rtlCol="0" anchor="ctr"/>
          <a:lstStyle/>
          <a:p>
            <a:pPr indent="0" marL="0">
              <a:buNone/>
            </a:pPr>
            <a:r>
              <a:rPr lang="en-US" sz="1100" b="1" spc="200" kern="0" dirty="0">
                <a:solidFill>
                  <a:srgbClr val="2F7F6B"/>
                </a:solidFill>
                <a:latin typeface="Calibri" pitchFamily="34" charset="0"/>
                <a:ea typeface="Calibri" pitchFamily="34" charset="-122"/>
                <a:cs typeface="Calibri" pitchFamily="34" charset="-120"/>
              </a:rPr>
              <a:t>RENEWI STAFF</a:t>
            </a:r>
            <a:endParaRPr lang="en-US" sz="1100" dirty="0"/>
          </a:p>
        </p:txBody>
      </p:sp>
      <p:sp>
        <p:nvSpPr>
          <p:cNvPr id="13" name="Text 11"/>
          <p:cNvSpPr txBox="1"/>
          <p:nvPr/>
        </p:nvSpPr>
        <p:spPr>
          <a:xfrm>
            <a:off x="8275320" y="1709928"/>
            <a:ext cx="3154680" cy="365760"/>
          </a:xfrm>
          <a:prstGeom prst="rect">
            <a:avLst/>
          </a:prstGeom>
          <a:noFill/>
          <a:ln/>
        </p:spPr>
        <p:txBody>
          <a:bodyPr wrap="square" lIns="0" tIns="0" rIns="0" bIns="0" rtlCol="0" anchor="ctr"/>
          <a:lstStyle/>
          <a:p>
            <a:pPr indent="0" marL="0">
              <a:buNone/>
            </a:pPr>
            <a:r>
              <a:rPr lang="en-US" sz="1600" b="1" dirty="0">
                <a:solidFill>
                  <a:srgbClr val="14463B"/>
                </a:solidFill>
                <a:latin typeface="Calibri" pitchFamily="34" charset="0"/>
                <a:ea typeface="Calibri" pitchFamily="34" charset="-122"/>
                <a:cs typeface="Calibri" pitchFamily="34" charset="-120"/>
              </a:rPr>
              <a:t>Renewals</a:t>
            </a:r>
            <a:endParaRPr lang="en-US" sz="1600" dirty="0"/>
          </a:p>
        </p:txBody>
      </p:sp>
      <p:sp>
        <p:nvSpPr>
          <p:cNvPr id="14" name="Text 12"/>
          <p:cNvSpPr txBox="1"/>
          <p:nvPr/>
        </p:nvSpPr>
        <p:spPr>
          <a:xfrm>
            <a:off x="8275320" y="2112264"/>
            <a:ext cx="3154680" cy="1280160"/>
          </a:xfrm>
          <a:prstGeom prst="rect">
            <a:avLst/>
          </a:prstGeom>
          <a:noFill/>
          <a:ln/>
        </p:spPr>
        <p:txBody>
          <a:bodyPr wrap="square" lIns="0" tIns="0" rIns="0" bIns="0" rtlCol="0" anchor="t"/>
          <a:lstStyle/>
          <a:p>
            <a:pPr indent="0" marL="0">
              <a:buNone/>
            </a:pPr>
            <a:r>
              <a:rPr lang="en-US" sz="1400" dirty="0">
                <a:solidFill>
                  <a:srgbClr val="14463B"/>
                </a:solidFill>
                <a:latin typeface="Calibri" pitchFamily="34" charset="0"/>
                <a:ea typeface="Calibri" pitchFamily="34" charset="-122"/>
                <a:cs typeface="Calibri" pitchFamily="34" charset="-120"/>
              </a:rPr>
              <a:t>Expiring IDs are flagged and re-verified for Path A. A walk-up person who has left registers again.</a:t>
            </a:r>
            <a:endParaRPr lang="en-US" sz="1400" dirty="0"/>
          </a:p>
        </p:txBody>
      </p:sp>
      <p:sp>
        <p:nvSpPr>
          <p:cNvPr id="15" name="Text 13"/>
          <p:cNvSpPr txBox="1"/>
          <p:nvPr/>
        </p:nvSpPr>
        <p:spPr>
          <a:xfrm>
            <a:off x="548640" y="3749040"/>
            <a:ext cx="10972800" cy="411480"/>
          </a:xfrm>
          <a:prstGeom prst="rect">
            <a:avLst/>
          </a:prstGeom>
          <a:noFill/>
          <a:ln/>
        </p:spPr>
        <p:txBody>
          <a:bodyPr wrap="square" lIns="0" tIns="0" rIns="0" bIns="0" rtlCol="0" anchor="ctr"/>
          <a:lstStyle/>
          <a:p>
            <a:pPr indent="0" marL="0">
              <a:buNone/>
            </a:pPr>
            <a:r>
              <a:rPr lang="en-US" sz="2000" b="1" dirty="0">
                <a:solidFill>
                  <a:srgbClr val="D85A30"/>
                </a:solidFill>
                <a:latin typeface="Calibri" pitchFamily="34" charset="0"/>
                <a:ea typeface="Calibri" pitchFamily="34" charset="-122"/>
                <a:cs typeface="Calibri" pitchFamily="34" charset="-120"/>
              </a:rPr>
              <a:t>Everything is recorded in the audit trail</a:t>
            </a:r>
            <a:endParaRPr lang="en-US" sz="2000" dirty="0"/>
          </a:p>
        </p:txBody>
      </p:sp>
      <p:sp>
        <p:nvSpPr>
          <p:cNvPr id="16" name="Shape 14"/>
          <p:cNvSpPr/>
          <p:nvPr/>
        </p:nvSpPr>
        <p:spPr>
          <a:xfrm>
            <a:off x="548640" y="4343400"/>
            <a:ext cx="1737360" cy="685800"/>
          </a:xfrm>
          <a:prstGeom prst="roundRect">
            <a:avLst>
              <a:gd name="adj" fmla="val 13333"/>
            </a:avLst>
          </a:prstGeom>
          <a:solidFill>
            <a:srgbClr val="ECEEF2"/>
          </a:solidFill>
          <a:ln w="12700">
            <a:solidFill>
              <a:srgbClr val="6B7482"/>
            </a:solidFill>
            <a:prstDash val="solid"/>
          </a:ln>
        </p:spPr>
      </p:sp>
      <p:sp>
        <p:nvSpPr>
          <p:cNvPr id="17" name="Text 15"/>
          <p:cNvSpPr txBox="1"/>
          <p:nvPr/>
        </p:nvSpPr>
        <p:spPr>
          <a:xfrm>
            <a:off x="54864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Registered</a:t>
            </a:r>
            <a:endParaRPr lang="en-US" sz="1500" dirty="0"/>
          </a:p>
        </p:txBody>
      </p:sp>
      <p:sp>
        <p:nvSpPr>
          <p:cNvPr id="18" name="Shape 16"/>
          <p:cNvSpPr/>
          <p:nvPr/>
        </p:nvSpPr>
        <p:spPr>
          <a:xfrm>
            <a:off x="2404872" y="4343400"/>
            <a:ext cx="1737360" cy="685800"/>
          </a:xfrm>
          <a:prstGeom prst="roundRect">
            <a:avLst>
              <a:gd name="adj" fmla="val 13333"/>
            </a:avLst>
          </a:prstGeom>
          <a:solidFill>
            <a:srgbClr val="ECEEF2"/>
          </a:solidFill>
          <a:ln w="12700">
            <a:solidFill>
              <a:srgbClr val="6B7482"/>
            </a:solidFill>
            <a:prstDash val="solid"/>
          </a:ln>
        </p:spPr>
      </p:sp>
      <p:sp>
        <p:nvSpPr>
          <p:cNvPr id="19" name="Text 17"/>
          <p:cNvSpPr txBox="1"/>
          <p:nvPr/>
        </p:nvSpPr>
        <p:spPr>
          <a:xfrm>
            <a:off x="2404872"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Rules confirmed</a:t>
            </a:r>
            <a:endParaRPr lang="en-US" sz="1500" dirty="0"/>
          </a:p>
        </p:txBody>
      </p:sp>
      <p:sp>
        <p:nvSpPr>
          <p:cNvPr id="20" name="Shape 18"/>
          <p:cNvSpPr/>
          <p:nvPr/>
        </p:nvSpPr>
        <p:spPr>
          <a:xfrm>
            <a:off x="4261104" y="4343400"/>
            <a:ext cx="1737360" cy="685800"/>
          </a:xfrm>
          <a:prstGeom prst="roundRect">
            <a:avLst>
              <a:gd name="adj" fmla="val 13333"/>
            </a:avLst>
          </a:prstGeom>
          <a:solidFill>
            <a:srgbClr val="ECEEF2"/>
          </a:solidFill>
          <a:ln w="12700">
            <a:solidFill>
              <a:srgbClr val="6B7482"/>
            </a:solidFill>
            <a:prstDash val="solid"/>
          </a:ln>
        </p:spPr>
      </p:sp>
      <p:sp>
        <p:nvSpPr>
          <p:cNvPr id="21" name="Text 19"/>
          <p:cNvSpPr txBox="1"/>
          <p:nvPr/>
        </p:nvSpPr>
        <p:spPr>
          <a:xfrm>
            <a:off x="4261104"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Kiosk check</a:t>
            </a:r>
            <a:endParaRPr lang="en-US" sz="1500" dirty="0"/>
          </a:p>
        </p:txBody>
      </p:sp>
      <p:sp>
        <p:nvSpPr>
          <p:cNvPr id="22" name="Shape 20"/>
          <p:cNvSpPr/>
          <p:nvPr/>
        </p:nvSpPr>
        <p:spPr>
          <a:xfrm>
            <a:off x="6117336" y="4343400"/>
            <a:ext cx="1737360" cy="685800"/>
          </a:xfrm>
          <a:prstGeom prst="roundRect">
            <a:avLst>
              <a:gd name="adj" fmla="val 13333"/>
            </a:avLst>
          </a:prstGeom>
          <a:solidFill>
            <a:srgbClr val="ECEEF2"/>
          </a:solidFill>
          <a:ln w="12700">
            <a:solidFill>
              <a:srgbClr val="6B7482"/>
            </a:solidFill>
            <a:prstDash val="solid"/>
          </a:ln>
        </p:spPr>
      </p:sp>
      <p:sp>
        <p:nvSpPr>
          <p:cNvPr id="23" name="Text 21"/>
          <p:cNvSpPr txBox="1"/>
          <p:nvPr/>
        </p:nvSpPr>
        <p:spPr>
          <a:xfrm>
            <a:off x="6117336"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Admitted</a:t>
            </a:r>
            <a:endParaRPr lang="en-US" sz="1500" dirty="0"/>
          </a:p>
        </p:txBody>
      </p:sp>
      <p:sp>
        <p:nvSpPr>
          <p:cNvPr id="24" name="Shape 22"/>
          <p:cNvSpPr/>
          <p:nvPr/>
        </p:nvSpPr>
        <p:spPr>
          <a:xfrm>
            <a:off x="7973568" y="4343400"/>
            <a:ext cx="1737360" cy="685800"/>
          </a:xfrm>
          <a:prstGeom prst="roundRect">
            <a:avLst>
              <a:gd name="adj" fmla="val 13333"/>
            </a:avLst>
          </a:prstGeom>
          <a:solidFill>
            <a:srgbClr val="ECEEF2"/>
          </a:solidFill>
          <a:ln w="12700">
            <a:solidFill>
              <a:srgbClr val="6B7482"/>
            </a:solidFill>
            <a:prstDash val="solid"/>
          </a:ln>
        </p:spPr>
      </p:sp>
      <p:sp>
        <p:nvSpPr>
          <p:cNvPr id="25" name="Text 23"/>
          <p:cNvSpPr txBox="1"/>
          <p:nvPr/>
        </p:nvSpPr>
        <p:spPr>
          <a:xfrm>
            <a:off x="7973568"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Exited</a:t>
            </a:r>
            <a:endParaRPr lang="en-US" sz="1500" dirty="0"/>
          </a:p>
        </p:txBody>
      </p:sp>
      <p:sp>
        <p:nvSpPr>
          <p:cNvPr id="26" name="Shape 24"/>
          <p:cNvSpPr/>
          <p:nvPr/>
        </p:nvSpPr>
        <p:spPr>
          <a:xfrm>
            <a:off x="9829800" y="4343400"/>
            <a:ext cx="1737360" cy="685800"/>
          </a:xfrm>
          <a:prstGeom prst="roundRect">
            <a:avLst>
              <a:gd name="adj" fmla="val 13333"/>
            </a:avLst>
          </a:prstGeom>
          <a:solidFill>
            <a:srgbClr val="ECEEF2"/>
          </a:solidFill>
          <a:ln w="12700">
            <a:solidFill>
              <a:srgbClr val="6B7482"/>
            </a:solidFill>
            <a:prstDash val="solid"/>
          </a:ln>
        </p:spPr>
      </p:sp>
      <p:sp>
        <p:nvSpPr>
          <p:cNvPr id="27" name="Text 25"/>
          <p:cNvSpPr txBox="1"/>
          <p:nvPr/>
        </p:nvSpPr>
        <p:spPr>
          <a:xfrm>
            <a:off x="9829800" y="4343400"/>
            <a:ext cx="1737360" cy="685800"/>
          </a:xfrm>
          <a:prstGeom prst="rect">
            <a:avLst/>
          </a:prstGeom>
          <a:noFill/>
          <a:ln/>
        </p:spPr>
        <p:txBody>
          <a:bodyPr wrap="square" lIns="0" tIns="0" rIns="0" bIns="0" rtlCol="0" anchor="ctr"/>
          <a:lstStyle/>
          <a:p>
            <a:pPr algn="ctr" indent="0" marL="0">
              <a:buNone/>
            </a:pPr>
            <a:r>
              <a:rPr lang="en-US" sz="1500" b="1" dirty="0">
                <a:solidFill>
                  <a:srgbClr val="232831"/>
                </a:solidFill>
                <a:latin typeface="Calibri" pitchFamily="34" charset="0"/>
                <a:ea typeface="Calibri" pitchFamily="34" charset="-122"/>
                <a:cs typeface="Calibri" pitchFamily="34" charset="-120"/>
              </a:rPr>
              <a:t>Refused</a:t>
            </a:r>
            <a:endParaRPr lang="en-US" sz="1500" dirty="0"/>
          </a:p>
        </p:txBody>
      </p:sp>
      <p:sp>
        <p:nvSpPr>
          <p:cNvPr id="28" name="Text 26"/>
          <p:cNvSpPr txBox="1"/>
          <p:nvPr/>
        </p:nvSpPr>
        <p:spPr>
          <a:xfrm>
            <a:off x="548640" y="5257800"/>
            <a:ext cx="11064240" cy="822960"/>
          </a:xfrm>
          <a:prstGeom prst="rect">
            <a:avLst/>
          </a:prstGeom>
          <a:noFill/>
          <a:ln/>
        </p:spPr>
        <p:txBody>
          <a:bodyPr wrap="square" lIns="0" tIns="0" rIns="0" bIns="0" rtlCol="0" anchor="t"/>
          <a:lstStyle/>
          <a:p>
            <a:pPr indent="0" marL="0">
              <a:buNone/>
            </a:pPr>
            <a:r>
              <a:rPr lang="en-US" sz="1600" dirty="0">
                <a:solidFill>
                  <a:srgbClr val="556070"/>
                </a:solidFill>
                <a:latin typeface="Calibri" pitchFamily="34" charset="0"/>
                <a:ea typeface="Calibri" pitchFamily="34" charset="-122"/>
                <a:cs typeface="Calibri" pitchFamily="34" charset="-120"/>
              </a:rPr>
              <a:t>Each entry shows who did it and when. Staff see it on the People and Audit pages. Failed lookups record only the kind of code, never the code itself.</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Dashboard: who is on site, live</a:t>
            </a:r>
            <a:endParaRPr lang="en-US" sz="3200" dirty="0"/>
          </a:p>
        </p:txBody>
      </p:sp>
      <p:sp>
        <p:nvSpPr>
          <p:cNvPr id="3" name="Text 1"/>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1800" dirty="0">
                <a:solidFill>
                  <a:srgbClr val="556070"/>
                </a:solidFill>
                <a:latin typeface="Calibri" pitchFamily="34" charset="0"/>
                <a:ea typeface="Calibri" pitchFamily="34" charset="-122"/>
                <a:cs typeface="Calibri" pitchFamily="34" charset="-120"/>
              </a:rPr>
              <a:t>The dashboard refreshes every 15 seconds and shows the same counts for both paths.</a:t>
            </a:r>
            <a:endParaRPr lang="en-US" sz="1800" dirty="0"/>
          </a:p>
        </p:txBody>
      </p:sp>
      <p:sp>
        <p:nvSpPr>
          <p:cNvPr id="4" name="Text 2"/>
          <p:cNvSpPr txBox="1"/>
          <p:nvPr/>
        </p:nvSpPr>
        <p:spPr>
          <a:xfrm>
            <a:off x="548640" y="1783080"/>
            <a:ext cx="4114800" cy="411480"/>
          </a:xfrm>
          <a:prstGeom prst="rect">
            <a:avLst/>
          </a:prstGeom>
          <a:noFill/>
          <a:ln/>
        </p:spPr>
        <p:txBody>
          <a:bodyPr wrap="square" lIns="0" tIns="0" rIns="0" bIns="0" rtlCol="0" anchor="ctr"/>
          <a:lstStyle/>
          <a:p>
            <a:pPr indent="0" marL="0">
              <a:buNone/>
            </a:pPr>
            <a:endParaRPr lang="en-US" sz="1500" dirty="0"/>
          </a:p>
        </p:txBody>
      </p:sp>
      <p:sp>
        <p:nvSpPr>
          <p:cNvPr id="5" name="Text 3"/>
          <p:cNvSpPr txBox="1"/>
          <p:nvPr/>
        </p:nvSpPr>
        <p:spPr>
          <a:xfrm>
            <a:off x="4754880" y="1783080"/>
            <a:ext cx="2103120" cy="41148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Planned (Path A)</a:t>
            </a:r>
            <a:endParaRPr lang="en-US" sz="1500" dirty="0"/>
          </a:p>
        </p:txBody>
      </p:sp>
      <p:sp>
        <p:nvSpPr>
          <p:cNvPr id="6" name="Text 4"/>
          <p:cNvSpPr txBox="1"/>
          <p:nvPr/>
        </p:nvSpPr>
        <p:spPr>
          <a:xfrm>
            <a:off x="6949440" y="1783080"/>
            <a:ext cx="2286000" cy="41148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Unexpected (Path B)</a:t>
            </a:r>
            <a:endParaRPr lang="en-US" sz="1500" dirty="0"/>
          </a:p>
        </p:txBody>
      </p:sp>
      <p:sp>
        <p:nvSpPr>
          <p:cNvPr id="7" name="Text 5"/>
          <p:cNvSpPr txBox="1"/>
          <p:nvPr/>
        </p:nvSpPr>
        <p:spPr>
          <a:xfrm>
            <a:off x="9326880" y="1783080"/>
            <a:ext cx="2286000" cy="411480"/>
          </a:xfrm>
          <a:prstGeom prst="rect">
            <a:avLst/>
          </a:prstGeom>
          <a:noFill/>
          <a:ln/>
        </p:spPr>
        <p:txBody>
          <a:bodyPr wrap="square" lIns="0" tIns="0" rIns="0" bIns="0" rtlCol="0" anchor="ctr"/>
          <a:lstStyle/>
          <a:p>
            <a:pPr indent="0" marL="0">
              <a:buNone/>
            </a:pPr>
            <a:r>
              <a:rPr lang="en-US" sz="1500" b="1" dirty="0">
                <a:solidFill>
                  <a:srgbClr val="556070"/>
                </a:solidFill>
                <a:latin typeface="Calibri" pitchFamily="34" charset="0"/>
                <a:ea typeface="Calibri" pitchFamily="34" charset="-122"/>
                <a:cs typeface="Calibri" pitchFamily="34" charset="-120"/>
              </a:rPr>
              <a:t>Total</a:t>
            </a:r>
            <a:endParaRPr lang="en-US" sz="1500" dirty="0"/>
          </a:p>
        </p:txBody>
      </p:sp>
      <p:sp>
        <p:nvSpPr>
          <p:cNvPr id="8" name="Shape 6"/>
          <p:cNvSpPr/>
          <p:nvPr/>
        </p:nvSpPr>
        <p:spPr>
          <a:xfrm>
            <a:off x="548640" y="2286000"/>
            <a:ext cx="11064240" cy="594360"/>
          </a:xfrm>
          <a:prstGeom prst="roundRect">
            <a:avLst>
              <a:gd name="adj" fmla="val 12308"/>
            </a:avLst>
          </a:prstGeom>
          <a:solidFill>
            <a:srgbClr val="F3F5F7"/>
          </a:solidFill>
          <a:ln w="12700">
            <a:solidFill>
              <a:srgbClr val="CBD0DA"/>
            </a:solidFill>
            <a:prstDash val="solid"/>
          </a:ln>
        </p:spPr>
      </p:sp>
      <p:sp>
        <p:nvSpPr>
          <p:cNvPr id="9" name="Text 7"/>
          <p:cNvSpPr txBox="1"/>
          <p:nvPr/>
        </p:nvSpPr>
        <p:spPr>
          <a:xfrm>
            <a:off x="731520" y="22860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On site now</a:t>
            </a:r>
            <a:endParaRPr lang="en-US" sz="1600" dirty="0"/>
          </a:p>
        </p:txBody>
      </p:sp>
      <p:sp>
        <p:nvSpPr>
          <p:cNvPr id="10" name="Text 8"/>
          <p:cNvSpPr txBox="1"/>
          <p:nvPr/>
        </p:nvSpPr>
        <p:spPr>
          <a:xfrm>
            <a:off x="4754880" y="22860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11" name="Text 9"/>
          <p:cNvSpPr txBox="1"/>
          <p:nvPr/>
        </p:nvSpPr>
        <p:spPr>
          <a:xfrm>
            <a:off x="6949440" y="22860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12" name="Text 10"/>
          <p:cNvSpPr txBox="1"/>
          <p:nvPr/>
        </p:nvSpPr>
        <p:spPr>
          <a:xfrm>
            <a:off x="9326880" y="22860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13" name="Shape 11"/>
          <p:cNvSpPr/>
          <p:nvPr/>
        </p:nvSpPr>
        <p:spPr>
          <a:xfrm>
            <a:off x="548640" y="2971800"/>
            <a:ext cx="11064240" cy="594360"/>
          </a:xfrm>
          <a:prstGeom prst="roundRect">
            <a:avLst>
              <a:gd name="adj" fmla="val 12308"/>
            </a:avLst>
          </a:prstGeom>
          <a:solidFill>
            <a:srgbClr val="F3F5F7"/>
          </a:solidFill>
          <a:ln w="12700">
            <a:solidFill>
              <a:srgbClr val="CBD0DA"/>
            </a:solidFill>
            <a:prstDash val="solid"/>
          </a:ln>
        </p:spPr>
      </p:sp>
      <p:sp>
        <p:nvSpPr>
          <p:cNvPr id="14" name="Text 12"/>
          <p:cNvSpPr txBox="1"/>
          <p:nvPr/>
        </p:nvSpPr>
        <p:spPr>
          <a:xfrm>
            <a:off x="731520" y="29718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Entered</a:t>
            </a:r>
            <a:endParaRPr lang="en-US" sz="1600" dirty="0"/>
          </a:p>
        </p:txBody>
      </p:sp>
      <p:sp>
        <p:nvSpPr>
          <p:cNvPr id="15" name="Text 13"/>
          <p:cNvSpPr txBox="1"/>
          <p:nvPr/>
        </p:nvSpPr>
        <p:spPr>
          <a:xfrm>
            <a:off x="4754880" y="29718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16" name="Text 14"/>
          <p:cNvSpPr txBox="1"/>
          <p:nvPr/>
        </p:nvSpPr>
        <p:spPr>
          <a:xfrm>
            <a:off x="6949440" y="29718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17" name="Text 15"/>
          <p:cNvSpPr txBox="1"/>
          <p:nvPr/>
        </p:nvSpPr>
        <p:spPr>
          <a:xfrm>
            <a:off x="9326880" y="29718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18" name="Shape 16"/>
          <p:cNvSpPr/>
          <p:nvPr/>
        </p:nvSpPr>
        <p:spPr>
          <a:xfrm>
            <a:off x="548640" y="3657600"/>
            <a:ext cx="11064240" cy="594360"/>
          </a:xfrm>
          <a:prstGeom prst="roundRect">
            <a:avLst>
              <a:gd name="adj" fmla="val 12308"/>
            </a:avLst>
          </a:prstGeom>
          <a:solidFill>
            <a:srgbClr val="F3F5F7"/>
          </a:solidFill>
          <a:ln w="12700">
            <a:solidFill>
              <a:srgbClr val="CBD0DA"/>
            </a:solidFill>
            <a:prstDash val="solid"/>
          </a:ln>
        </p:spPr>
      </p:sp>
      <p:sp>
        <p:nvSpPr>
          <p:cNvPr id="19" name="Text 17"/>
          <p:cNvSpPr txBox="1"/>
          <p:nvPr/>
        </p:nvSpPr>
        <p:spPr>
          <a:xfrm>
            <a:off x="731520" y="36576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Exited</a:t>
            </a:r>
            <a:endParaRPr lang="en-US" sz="1600" dirty="0"/>
          </a:p>
        </p:txBody>
      </p:sp>
      <p:sp>
        <p:nvSpPr>
          <p:cNvPr id="20" name="Text 18"/>
          <p:cNvSpPr txBox="1"/>
          <p:nvPr/>
        </p:nvSpPr>
        <p:spPr>
          <a:xfrm>
            <a:off x="4754880" y="36576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21" name="Text 19"/>
          <p:cNvSpPr txBox="1"/>
          <p:nvPr/>
        </p:nvSpPr>
        <p:spPr>
          <a:xfrm>
            <a:off x="6949440" y="36576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22" name="Text 20"/>
          <p:cNvSpPr txBox="1"/>
          <p:nvPr/>
        </p:nvSpPr>
        <p:spPr>
          <a:xfrm>
            <a:off x="9326880" y="36576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23" name="Shape 21"/>
          <p:cNvSpPr/>
          <p:nvPr/>
        </p:nvSpPr>
        <p:spPr>
          <a:xfrm>
            <a:off x="548640" y="4343400"/>
            <a:ext cx="11064240" cy="594360"/>
          </a:xfrm>
          <a:prstGeom prst="roundRect">
            <a:avLst>
              <a:gd name="adj" fmla="val 12308"/>
            </a:avLst>
          </a:prstGeom>
          <a:solidFill>
            <a:srgbClr val="F3F5F7"/>
          </a:solidFill>
          <a:ln w="12700">
            <a:solidFill>
              <a:srgbClr val="CBD0DA"/>
            </a:solidFill>
            <a:prstDash val="solid"/>
          </a:ln>
        </p:spPr>
      </p:sp>
      <p:sp>
        <p:nvSpPr>
          <p:cNvPr id="24" name="Text 22"/>
          <p:cNvSpPr txBox="1"/>
          <p:nvPr/>
        </p:nvSpPr>
        <p:spPr>
          <a:xfrm>
            <a:off x="731520" y="4343400"/>
            <a:ext cx="4023360" cy="594360"/>
          </a:xfrm>
          <a:prstGeom prst="rect">
            <a:avLst/>
          </a:prstGeom>
          <a:noFill/>
          <a:ln/>
        </p:spPr>
        <p:txBody>
          <a:bodyPr wrap="square" lIns="0" tIns="0" rIns="0" bIns="0" rtlCol="0" anchor="ctr"/>
          <a:lstStyle/>
          <a:p>
            <a:pPr indent="0" marL="0">
              <a:buNone/>
            </a:pPr>
            <a:r>
              <a:rPr lang="en-US" sz="1600" b="1" dirty="0">
                <a:solidFill>
                  <a:srgbClr val="1B1F27"/>
                </a:solidFill>
                <a:latin typeface="Calibri" pitchFamily="34" charset="0"/>
                <a:ea typeface="Calibri" pitchFamily="34" charset="-122"/>
                <a:cs typeface="Calibri" pitchFamily="34" charset="-120"/>
              </a:rPr>
              <a:t>Turned away or denied</a:t>
            </a:r>
            <a:endParaRPr lang="en-US" sz="1600" dirty="0"/>
          </a:p>
        </p:txBody>
      </p:sp>
      <p:sp>
        <p:nvSpPr>
          <p:cNvPr id="25" name="Text 23"/>
          <p:cNvSpPr txBox="1"/>
          <p:nvPr/>
        </p:nvSpPr>
        <p:spPr>
          <a:xfrm>
            <a:off x="4754880" y="4343400"/>
            <a:ext cx="210312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Invited</a:t>
            </a:r>
            <a:endParaRPr lang="en-US" sz="1500" dirty="0"/>
          </a:p>
        </p:txBody>
      </p:sp>
      <p:sp>
        <p:nvSpPr>
          <p:cNvPr id="26" name="Text 24"/>
          <p:cNvSpPr txBox="1"/>
          <p:nvPr/>
        </p:nvSpPr>
        <p:spPr>
          <a:xfrm>
            <a:off x="6949440" y="43434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Walk-up</a:t>
            </a:r>
            <a:endParaRPr lang="en-US" sz="1500" dirty="0"/>
          </a:p>
        </p:txBody>
      </p:sp>
      <p:sp>
        <p:nvSpPr>
          <p:cNvPr id="27" name="Text 25"/>
          <p:cNvSpPr txBox="1"/>
          <p:nvPr/>
        </p:nvSpPr>
        <p:spPr>
          <a:xfrm>
            <a:off x="9326880" y="4343400"/>
            <a:ext cx="2286000" cy="594360"/>
          </a:xfrm>
          <a:prstGeom prst="rect">
            <a:avLst/>
          </a:prstGeom>
          <a:noFill/>
          <a:ln/>
        </p:spPr>
        <p:txBody>
          <a:bodyPr wrap="square" lIns="0" tIns="0" rIns="0" bIns="0" rtlCol="0" anchor="ctr"/>
          <a:lstStyle/>
          <a:p>
            <a:pPr indent="0" marL="0">
              <a:buNone/>
            </a:pPr>
            <a:r>
              <a:rPr lang="en-US" sz="1500" dirty="0">
                <a:solidFill>
                  <a:srgbClr val="556070"/>
                </a:solidFill>
                <a:latin typeface="Calibri" pitchFamily="34" charset="0"/>
                <a:ea typeface="Calibri" pitchFamily="34" charset="-122"/>
                <a:cs typeface="Calibri" pitchFamily="34" charset="-120"/>
              </a:rPr>
              <a:t>Both</a:t>
            </a:r>
            <a:endParaRPr lang="en-US" sz="1500" dirty="0"/>
          </a:p>
        </p:txBody>
      </p:sp>
      <p:sp>
        <p:nvSpPr>
          <p:cNvPr id="28" name="Shape 26"/>
          <p:cNvSpPr/>
          <p:nvPr/>
        </p:nvSpPr>
        <p:spPr>
          <a:xfrm>
            <a:off x="548640" y="5029200"/>
            <a:ext cx="11064240" cy="594360"/>
          </a:xfrm>
          <a:prstGeom prst="roundRect">
            <a:avLst>
              <a:gd name="adj" fmla="val 12308"/>
            </a:avLst>
          </a:prstGeom>
          <a:solidFill>
            <a:srgbClr val="FBEFD9"/>
          </a:solidFill>
          <a:ln w="12700">
            <a:solidFill>
              <a:srgbClr val="B7791F"/>
            </a:solidFill>
            <a:prstDash val="solid"/>
          </a:ln>
        </p:spPr>
      </p:sp>
      <p:sp>
        <p:nvSpPr>
          <p:cNvPr id="29" name="Text 27"/>
          <p:cNvSpPr txBox="1"/>
          <p:nvPr/>
        </p:nvSpPr>
        <p:spPr>
          <a:xfrm>
            <a:off x="731520" y="5029200"/>
            <a:ext cx="4023360" cy="594360"/>
          </a:xfrm>
          <a:prstGeom prst="rect">
            <a:avLst/>
          </a:prstGeom>
          <a:noFill/>
          <a:ln/>
        </p:spPr>
        <p:txBody>
          <a:bodyPr wrap="square" lIns="0" tIns="0" rIns="0" bIns="0" rtlCol="0" anchor="ctr"/>
          <a:lstStyle/>
          <a:p>
            <a:pPr indent="0" marL="0">
              <a:buNone/>
            </a:pPr>
            <a:r>
              <a:rPr lang="en-US" sz="1600" b="1" dirty="0">
                <a:solidFill>
                  <a:srgbClr val="573906"/>
                </a:solidFill>
                <a:latin typeface="Calibri" pitchFamily="34" charset="0"/>
                <a:ea typeface="Calibri" pitchFamily="34" charset="-122"/>
                <a:cs typeface="Calibri" pitchFamily="34" charset="-120"/>
              </a:rPr>
              <a:t>Overdue: still on site after their exit time</a:t>
            </a:r>
            <a:endParaRPr lang="en-US" sz="1600" dirty="0"/>
          </a:p>
        </p:txBody>
      </p:sp>
      <p:sp>
        <p:nvSpPr>
          <p:cNvPr id="30" name="Text 28"/>
          <p:cNvSpPr txBox="1"/>
          <p:nvPr/>
        </p:nvSpPr>
        <p:spPr>
          <a:xfrm>
            <a:off x="4754880" y="5029200"/>
            <a:ext cx="210312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Invited</a:t>
            </a:r>
            <a:endParaRPr lang="en-US" sz="1500" dirty="0"/>
          </a:p>
        </p:txBody>
      </p:sp>
      <p:sp>
        <p:nvSpPr>
          <p:cNvPr id="31" name="Text 29"/>
          <p:cNvSpPr txBox="1"/>
          <p:nvPr/>
        </p:nvSpPr>
        <p:spPr>
          <a:xfrm>
            <a:off x="6949440" y="5029200"/>
            <a:ext cx="228600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Walk-up</a:t>
            </a:r>
            <a:endParaRPr lang="en-US" sz="1500" dirty="0"/>
          </a:p>
        </p:txBody>
      </p:sp>
      <p:sp>
        <p:nvSpPr>
          <p:cNvPr id="32" name="Text 30"/>
          <p:cNvSpPr txBox="1"/>
          <p:nvPr/>
        </p:nvSpPr>
        <p:spPr>
          <a:xfrm>
            <a:off x="9326880" y="5029200"/>
            <a:ext cx="2286000" cy="594360"/>
          </a:xfrm>
          <a:prstGeom prst="rect">
            <a:avLst/>
          </a:prstGeom>
          <a:noFill/>
          <a:ln/>
        </p:spPr>
        <p:txBody>
          <a:bodyPr wrap="square" lIns="0" tIns="0" rIns="0" bIns="0" rtlCol="0" anchor="ctr"/>
          <a:lstStyle/>
          <a:p>
            <a:pPr indent="0" marL="0">
              <a:buNone/>
            </a:pPr>
            <a:r>
              <a:rPr lang="en-US" sz="1500" dirty="0">
                <a:solidFill>
                  <a:srgbClr val="573906"/>
                </a:solidFill>
                <a:latin typeface="Calibri" pitchFamily="34" charset="0"/>
                <a:ea typeface="Calibri" pitchFamily="34" charset="-122"/>
                <a:cs typeface="Calibri" pitchFamily="34" charset="-120"/>
              </a:rPr>
              <a:t>Both</a:t>
            </a:r>
            <a:endParaRPr lang="en-US" sz="1500" dirty="0"/>
          </a:p>
        </p:txBody>
      </p:sp>
      <p:sp>
        <p:nvSpPr>
          <p:cNvPr id="33" name="Text 31"/>
          <p:cNvSpPr txBox="1"/>
          <p:nvPr/>
        </p:nvSpPr>
        <p:spPr>
          <a:xfrm>
            <a:off x="548640" y="5760720"/>
            <a:ext cx="10515600" cy="59436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rgbClr val="1B1F27"/>
                </a:solidFill>
                <a:latin typeface="Calibri" pitchFamily="34" charset="0"/>
                <a:ea typeface="Calibri" pitchFamily="34" charset="-122"/>
                <a:cs typeface="Calibri" pitchFamily="34" charset="-120"/>
              </a:rPr>
              <a:t>Overdue people stay on the roster with an "Overdue by" badge and the time they should have left, for both paths.</a:t>
            </a:r>
            <a:endParaRPr lang="en-US" sz="1400" dirty="0"/>
          </a:p>
          <a:p>
            <a:pPr marL="342900" indent="-342900">
              <a:spcAft>
                <a:spcPts val="200"/>
              </a:spcAft>
              <a:buSzPct val="100000"/>
              <a:buChar char="•"/>
            </a:pPr>
            <a:r>
              <a:rPr lang="en-US" sz="1400" dirty="0">
                <a:solidFill>
                  <a:srgbClr val="1B1F27"/>
                </a:solidFill>
                <a:latin typeface="Calibri" pitchFamily="34" charset="0"/>
                <a:ea typeface="Calibri" pitchFamily="34" charset="-122"/>
                <a:cs typeface="Calibri" pitchFamily="34" charset="-120"/>
              </a:rPr>
              <a:t>Choose a site at the top to see its own counts. Version 1's tiles, roster and site activity are unchanged.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life-saving rules confirmation</a:t>
            </a:r>
            <a:endParaRPr lang="en-US" sz="3200" dirty="0"/>
          </a:p>
        </p:txBody>
      </p:sp>
      <p:sp>
        <p:nvSpPr>
          <p:cNvPr id="3" name="Text 1"/>
          <p:cNvSpPr txBox="1"/>
          <p:nvPr/>
        </p:nvSpPr>
        <p:spPr>
          <a:xfrm>
            <a:off x="548640" y="1234440"/>
            <a:ext cx="5486400" cy="365760"/>
          </a:xfrm>
          <a:prstGeom prst="rect">
            <a:avLst/>
          </a:prstGeom>
          <a:noFill/>
          <a:ln/>
        </p:spPr>
        <p:txBody>
          <a:bodyPr wrap="square" lIns="0" tIns="0" rIns="0" bIns="0" rtlCol="0" anchor="ctr"/>
          <a:lstStyle/>
          <a:p>
            <a:pPr indent="0" marL="0">
              <a:buNone/>
            </a:pPr>
            <a:r>
              <a:rPr lang="en-US" sz="1800" b="1" dirty="0">
                <a:solidFill>
                  <a:srgbClr val="D85A30"/>
                </a:solidFill>
                <a:latin typeface="Calibri" pitchFamily="34" charset="0"/>
                <a:ea typeface="Calibri" pitchFamily="34" charset="-122"/>
                <a:cs typeface="Calibri" pitchFamily="34" charset="-120"/>
              </a:rPr>
              <a:t>What is stored when someone confirms</a:t>
            </a:r>
            <a:endParaRPr lang="en-US" sz="1800" dirty="0"/>
          </a:p>
        </p:txBody>
      </p:sp>
      <p:sp>
        <p:nvSpPr>
          <p:cNvPr id="4" name="Shape 2"/>
          <p:cNvSpPr/>
          <p:nvPr/>
        </p:nvSpPr>
        <p:spPr>
          <a:xfrm>
            <a:off x="548640" y="1737360"/>
            <a:ext cx="5852160" cy="896112"/>
          </a:xfrm>
          <a:prstGeom prst="roundRect">
            <a:avLst>
              <a:gd name="adj" fmla="val 10204"/>
            </a:avLst>
          </a:prstGeom>
          <a:solidFill>
            <a:srgbClr val="ECE9FA"/>
          </a:solidFill>
          <a:ln w="12700">
            <a:solidFill>
              <a:srgbClr val="6A5BC2"/>
            </a:solidFill>
            <a:prstDash val="solid"/>
          </a:ln>
        </p:spPr>
      </p:sp>
      <p:sp>
        <p:nvSpPr>
          <p:cNvPr id="5" name="Text 3"/>
          <p:cNvSpPr txBox="1"/>
          <p:nvPr/>
        </p:nvSpPr>
        <p:spPr>
          <a:xfrm>
            <a:off x="777240" y="182880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exact statement they ticked</a:t>
            </a:r>
            <a:endParaRPr lang="en-US" sz="1700" dirty="0"/>
          </a:p>
        </p:txBody>
      </p:sp>
      <p:sp>
        <p:nvSpPr>
          <p:cNvPr id="6" name="Text 4"/>
          <p:cNvSpPr txBox="1"/>
          <p:nvPr/>
        </p:nvSpPr>
        <p:spPr>
          <a:xfrm>
            <a:off x="777240" y="219456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the wording in English or Dutch, as shown</a:t>
            </a:r>
            <a:endParaRPr lang="en-US" sz="1400" dirty="0"/>
          </a:p>
        </p:txBody>
      </p:sp>
      <p:sp>
        <p:nvSpPr>
          <p:cNvPr id="7" name="Shape 5"/>
          <p:cNvSpPr/>
          <p:nvPr/>
        </p:nvSpPr>
        <p:spPr>
          <a:xfrm>
            <a:off x="548640" y="2788920"/>
            <a:ext cx="5852160" cy="896112"/>
          </a:xfrm>
          <a:prstGeom prst="roundRect">
            <a:avLst>
              <a:gd name="adj" fmla="val 10204"/>
            </a:avLst>
          </a:prstGeom>
          <a:solidFill>
            <a:srgbClr val="ECE9FA"/>
          </a:solidFill>
          <a:ln w="12700">
            <a:solidFill>
              <a:srgbClr val="6A5BC2"/>
            </a:solidFill>
            <a:prstDash val="solid"/>
          </a:ln>
        </p:spPr>
      </p:sp>
      <p:sp>
        <p:nvSpPr>
          <p:cNvPr id="8" name="Text 6"/>
          <p:cNvSpPr txBox="1"/>
          <p:nvPr/>
        </p:nvSpPr>
        <p:spPr>
          <a:xfrm>
            <a:off x="777240" y="288036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rules version</a:t>
            </a:r>
            <a:endParaRPr lang="en-US" sz="1700" dirty="0"/>
          </a:p>
        </p:txBody>
      </p:sp>
      <p:sp>
        <p:nvSpPr>
          <p:cNvPr id="9" name="Text 7"/>
          <p:cNvSpPr txBox="1"/>
          <p:nvPr/>
        </p:nvSpPr>
        <p:spPr>
          <a:xfrm>
            <a:off x="777240" y="324612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so a later change to the rules is visible</a:t>
            </a:r>
            <a:endParaRPr lang="en-US" sz="1400" dirty="0"/>
          </a:p>
        </p:txBody>
      </p:sp>
      <p:sp>
        <p:nvSpPr>
          <p:cNvPr id="10" name="Shape 8"/>
          <p:cNvSpPr/>
          <p:nvPr/>
        </p:nvSpPr>
        <p:spPr>
          <a:xfrm>
            <a:off x="548640" y="3840480"/>
            <a:ext cx="5852160" cy="896112"/>
          </a:xfrm>
          <a:prstGeom prst="roundRect">
            <a:avLst>
              <a:gd name="adj" fmla="val 10204"/>
            </a:avLst>
          </a:prstGeom>
          <a:solidFill>
            <a:srgbClr val="ECE9FA"/>
          </a:solidFill>
          <a:ln w="12700">
            <a:solidFill>
              <a:srgbClr val="6A5BC2"/>
            </a:solidFill>
            <a:prstDash val="solid"/>
          </a:ln>
        </p:spPr>
      </p:sp>
      <p:sp>
        <p:nvSpPr>
          <p:cNvPr id="11" name="Text 9"/>
          <p:cNvSpPr txBox="1"/>
          <p:nvPr/>
        </p:nvSpPr>
        <p:spPr>
          <a:xfrm>
            <a:off x="777240" y="393192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The time and the method</a:t>
            </a:r>
            <a:endParaRPr lang="en-US" sz="1700" dirty="0"/>
          </a:p>
        </p:txBody>
      </p:sp>
      <p:sp>
        <p:nvSpPr>
          <p:cNvPr id="12" name="Text 10"/>
          <p:cNvSpPr txBox="1"/>
          <p:nvPr/>
        </p:nvSpPr>
        <p:spPr>
          <a:xfrm>
            <a:off x="777240" y="429768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invitation or walk-up QR</a:t>
            </a:r>
            <a:endParaRPr lang="en-US" sz="1400" dirty="0"/>
          </a:p>
        </p:txBody>
      </p:sp>
      <p:sp>
        <p:nvSpPr>
          <p:cNvPr id="13" name="Shape 11"/>
          <p:cNvSpPr/>
          <p:nvPr/>
        </p:nvSpPr>
        <p:spPr>
          <a:xfrm>
            <a:off x="548640" y="4892040"/>
            <a:ext cx="5852160" cy="896112"/>
          </a:xfrm>
          <a:prstGeom prst="roundRect">
            <a:avLst>
              <a:gd name="adj" fmla="val 10204"/>
            </a:avLst>
          </a:prstGeom>
          <a:solidFill>
            <a:srgbClr val="ECE9FA"/>
          </a:solidFill>
          <a:ln w="12700">
            <a:solidFill>
              <a:srgbClr val="6A5BC2"/>
            </a:solidFill>
            <a:prstDash val="solid"/>
          </a:ln>
        </p:spPr>
      </p:sp>
      <p:sp>
        <p:nvSpPr>
          <p:cNvPr id="14" name="Text 12"/>
          <p:cNvSpPr txBox="1"/>
          <p:nvPr/>
        </p:nvSpPr>
        <p:spPr>
          <a:xfrm>
            <a:off x="777240" y="4983480"/>
            <a:ext cx="5394960" cy="365760"/>
          </a:xfrm>
          <a:prstGeom prst="rect">
            <a:avLst/>
          </a:prstGeom>
          <a:noFill/>
          <a:ln/>
        </p:spPr>
        <p:txBody>
          <a:bodyPr wrap="square" lIns="0" tIns="0" rIns="0" bIns="0" rtlCol="0" anchor="ctr"/>
          <a:lstStyle/>
          <a:p>
            <a:pPr indent="0" marL="0">
              <a:buNone/>
            </a:pPr>
            <a:r>
              <a:rPr lang="en-US" sz="1700" b="1" dirty="0">
                <a:solidFill>
                  <a:srgbClr val="2D2570"/>
                </a:solidFill>
                <a:latin typeface="Calibri" pitchFamily="34" charset="0"/>
                <a:ea typeface="Calibri" pitchFamily="34" charset="-122"/>
                <a:cs typeface="Calibri" pitchFamily="34" charset="-120"/>
              </a:rPr>
              <a:t>Who the person is</a:t>
            </a:r>
            <a:endParaRPr lang="en-US" sz="1700" dirty="0"/>
          </a:p>
        </p:txBody>
      </p:sp>
      <p:sp>
        <p:nvSpPr>
          <p:cNvPr id="15" name="Text 13"/>
          <p:cNvSpPr txBox="1"/>
          <p:nvPr/>
        </p:nvSpPr>
        <p:spPr>
          <a:xfrm>
            <a:off x="777240" y="5349240"/>
            <a:ext cx="5394960" cy="365760"/>
          </a:xfrm>
          <a:prstGeom prst="rect">
            <a:avLst/>
          </a:prstGeom>
          <a:noFill/>
          <a:ln/>
        </p:spPr>
        <p:txBody>
          <a:bodyPr wrap="square" lIns="0" tIns="0" rIns="0" bIns="0" rtlCol="0" anchor="ctr"/>
          <a:lstStyle/>
          <a:p>
            <a:pPr indent="0" marL="0">
              <a:buNone/>
            </a:pPr>
            <a:r>
              <a:rPr lang="en-US" sz="1400" dirty="0">
                <a:solidFill>
                  <a:srgbClr val="2D2570"/>
                </a:solidFill>
                <a:latin typeface="Calibri" pitchFamily="34" charset="0"/>
                <a:ea typeface="Calibri" pitchFamily="34" charset="-122"/>
                <a:cs typeface="Calibri" pitchFamily="34" charset="-120"/>
              </a:rPr>
              <a:t>linked to their person record</a:t>
            </a:r>
            <a:endParaRPr lang="en-US" sz="1400" dirty="0"/>
          </a:p>
        </p:txBody>
      </p:sp>
      <p:sp>
        <p:nvSpPr>
          <p:cNvPr id="16" name="Shape 14"/>
          <p:cNvSpPr/>
          <p:nvPr/>
        </p:nvSpPr>
        <p:spPr>
          <a:xfrm>
            <a:off x="6766560" y="1737360"/>
            <a:ext cx="4873752" cy="4069080"/>
          </a:xfrm>
          <a:prstGeom prst="roundRect">
            <a:avLst>
              <a:gd name="adj" fmla="val 2697"/>
            </a:avLst>
          </a:prstGeom>
          <a:solidFill>
            <a:srgbClr val="FBEFD9"/>
          </a:solidFill>
          <a:ln w="12700">
            <a:solidFill>
              <a:srgbClr val="B7791F"/>
            </a:solidFill>
            <a:prstDash val="solid"/>
          </a:ln>
        </p:spPr>
      </p:sp>
      <p:sp>
        <p:nvSpPr>
          <p:cNvPr id="17" name="Text 15"/>
          <p:cNvSpPr txBox="1"/>
          <p:nvPr/>
        </p:nvSpPr>
        <p:spPr>
          <a:xfrm>
            <a:off x="7040880" y="1920240"/>
            <a:ext cx="4389120" cy="411480"/>
          </a:xfrm>
          <a:prstGeom prst="rect">
            <a:avLst/>
          </a:prstGeom>
          <a:noFill/>
          <a:ln/>
        </p:spPr>
        <p:txBody>
          <a:bodyPr wrap="square" lIns="0" tIns="0" rIns="0" bIns="0" rtlCol="0" anchor="ctr"/>
          <a:lstStyle/>
          <a:p>
            <a:pPr indent="0" marL="0">
              <a:buNone/>
            </a:pPr>
            <a:r>
              <a:rPr lang="en-US" sz="2000" b="1" dirty="0">
                <a:solidFill>
                  <a:srgbClr val="573906"/>
                </a:solidFill>
                <a:latin typeface="Calibri" pitchFamily="34" charset="0"/>
                <a:ea typeface="Calibri" pitchFamily="34" charset="-122"/>
                <a:cs typeface="Calibri" pitchFamily="34" charset="-120"/>
              </a:rPr>
              <a:t>What the gate does with it</a:t>
            </a:r>
            <a:endParaRPr lang="en-US" sz="2000" dirty="0"/>
          </a:p>
        </p:txBody>
      </p:sp>
      <p:sp>
        <p:nvSpPr>
          <p:cNvPr id="18" name="Text 16"/>
          <p:cNvSpPr txBox="1"/>
          <p:nvPr/>
        </p:nvSpPr>
        <p:spPr>
          <a:xfrm>
            <a:off x="7040880" y="2468880"/>
            <a:ext cx="4389120" cy="310896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Checks it on every entry, for both paths.</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Refuses entry if it is missing or the rules have changed since.</a:t>
            </a:r>
            <a:endParaRPr lang="en-US" sz="1700" dirty="0"/>
          </a:p>
          <a:p>
            <a:pPr marL="342900" indent="-342900">
              <a:spcAft>
                <a:spcPts val="1200"/>
              </a:spcAft>
              <a:buSzPct val="100000"/>
              <a:buChar char="•"/>
            </a:pPr>
            <a:r>
              <a:rPr lang="en-US" sz="1700" dirty="0">
                <a:solidFill>
                  <a:srgbClr val="573906"/>
                </a:solidFill>
                <a:latin typeface="Calibri" pitchFamily="34" charset="0"/>
                <a:ea typeface="Calibri" pitchFamily="34" charset="-122"/>
                <a:cs typeface="Calibri" pitchFamily="34" charset="-120"/>
              </a:rPr>
              <a:t>Shows the officer the result and the reason before they decide.</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works today and what Renewi decides</a:t>
            </a:r>
            <a:endParaRPr lang="en-US" sz="3200" dirty="0"/>
          </a:p>
        </p:txBody>
      </p:sp>
      <p:sp>
        <p:nvSpPr>
          <p:cNvPr id="3" name="Shape 1"/>
          <p:cNvSpPr/>
          <p:nvPr/>
        </p:nvSpPr>
        <p:spPr>
          <a:xfrm>
            <a:off x="548640" y="1280160"/>
            <a:ext cx="5394960" cy="4754880"/>
          </a:xfrm>
          <a:prstGeom prst="roundRect">
            <a:avLst>
              <a:gd name="adj" fmla="val 2308"/>
            </a:avLst>
          </a:prstGeom>
          <a:solidFill>
            <a:srgbClr val="E2F1EC"/>
          </a:solidFill>
          <a:ln w="12700">
            <a:solidFill>
              <a:srgbClr val="2F7F6B"/>
            </a:solidFill>
            <a:prstDash val="solid"/>
          </a:ln>
        </p:spPr>
      </p:sp>
      <p:sp>
        <p:nvSpPr>
          <p:cNvPr id="4" name="Text 2"/>
          <p:cNvSpPr txBox="1"/>
          <p:nvPr/>
        </p:nvSpPr>
        <p:spPr>
          <a:xfrm>
            <a:off x="822960" y="1463040"/>
            <a:ext cx="4846320" cy="411480"/>
          </a:xfrm>
          <a:prstGeom prst="rect">
            <a:avLst/>
          </a:prstGeom>
          <a:noFill/>
          <a:ln/>
        </p:spPr>
        <p:txBody>
          <a:bodyPr wrap="square" lIns="0" tIns="0" rIns="0" bIns="0" rtlCol="0" anchor="ctr"/>
          <a:lstStyle/>
          <a:p>
            <a:pPr indent="0" marL="0">
              <a:buNone/>
            </a:pPr>
            <a:r>
              <a:rPr lang="en-US" sz="2000" b="1" dirty="0">
                <a:solidFill>
                  <a:srgbClr val="14463B"/>
                </a:solidFill>
                <a:latin typeface="Calibri" pitchFamily="34" charset="0"/>
                <a:ea typeface="Calibri" pitchFamily="34" charset="-122"/>
                <a:cs typeface="Calibri" pitchFamily="34" charset="-120"/>
              </a:rPr>
              <a:t>Working in the demo</a:t>
            </a:r>
            <a:endParaRPr lang="en-US" sz="2000" dirty="0"/>
          </a:p>
        </p:txBody>
      </p:sp>
      <p:sp>
        <p:nvSpPr>
          <p:cNvPr id="5" name="Text 3"/>
          <p:cNvSpPr txBox="1"/>
          <p:nvPr/>
        </p:nvSpPr>
        <p:spPr>
          <a:xfrm>
            <a:off x="822960"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Both paths, end to end</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Real emails: invitation, code and entry QR</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Entry and exit times on every QR, set by an admin</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Kiosk check, let in, refuse and exit, on both paths</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Live dashboard, planned and unexpected, with overdue flags</a:t>
            </a:r>
            <a:endParaRPr lang="en-US" sz="1700" dirty="0"/>
          </a:p>
          <a:p>
            <a:pPr marL="342900" indent="-342900">
              <a:spcAft>
                <a:spcPts val="1000"/>
              </a:spcAft>
              <a:buSzPct val="100000"/>
              <a:buChar char="•"/>
            </a:pPr>
            <a:r>
              <a:rPr lang="en-US" sz="1700" dirty="0">
                <a:solidFill>
                  <a:srgbClr val="14463B"/>
                </a:solidFill>
                <a:latin typeface="Calibri" pitchFamily="34" charset="0"/>
                <a:ea typeface="Calibri" pitchFamily="34" charset="-122"/>
                <a:cs typeface="Calibri" pitchFamily="34" charset="-120"/>
              </a:rPr>
              <a:t>Full audit trail</a:t>
            </a:r>
            <a:endParaRPr lang="en-US" sz="1700" dirty="0"/>
          </a:p>
        </p:txBody>
      </p:sp>
      <p:sp>
        <p:nvSpPr>
          <p:cNvPr id="6" name="Shape 4"/>
          <p:cNvSpPr/>
          <p:nvPr/>
        </p:nvSpPr>
        <p:spPr>
          <a:xfrm>
            <a:off x="6245352" y="1280160"/>
            <a:ext cx="5394960" cy="4754880"/>
          </a:xfrm>
          <a:prstGeom prst="roundRect">
            <a:avLst>
              <a:gd name="adj" fmla="val 2308"/>
            </a:avLst>
          </a:prstGeom>
          <a:solidFill>
            <a:srgbClr val="FFFFFF"/>
          </a:solidFill>
          <a:ln w="15875">
            <a:solidFill>
              <a:srgbClr val="D85A30"/>
            </a:solidFill>
            <a:prstDash val="dash"/>
          </a:ln>
        </p:spPr>
      </p:sp>
      <p:sp>
        <p:nvSpPr>
          <p:cNvPr id="7" name="Text 5"/>
          <p:cNvSpPr txBox="1"/>
          <p:nvPr/>
        </p:nvSpPr>
        <p:spPr>
          <a:xfrm>
            <a:off x="6519672" y="1463040"/>
            <a:ext cx="4846320" cy="411480"/>
          </a:xfrm>
          <a:prstGeom prst="rect">
            <a:avLst/>
          </a:prstGeom>
          <a:noFill/>
          <a:ln/>
        </p:spPr>
        <p:txBody>
          <a:bodyPr wrap="square" lIns="0" tIns="0" rIns="0" bIns="0" rtlCol="0" anchor="ctr"/>
          <a:lstStyle/>
          <a:p>
            <a:pPr indent="0" marL="0">
              <a:buNone/>
            </a:pPr>
            <a:r>
              <a:rPr lang="en-US" sz="2000" b="1" dirty="0">
                <a:solidFill>
                  <a:srgbClr val="8A2E10"/>
                </a:solidFill>
                <a:latin typeface="Calibri" pitchFamily="34" charset="0"/>
                <a:ea typeface="Calibri" pitchFamily="34" charset="-122"/>
                <a:cs typeface="Calibri" pitchFamily="34" charset="-120"/>
              </a:rPr>
              <a:t>For Renewi to decide</a:t>
            </a:r>
            <a:endParaRPr lang="en-US" sz="2000" dirty="0"/>
          </a:p>
        </p:txBody>
      </p:sp>
      <p:sp>
        <p:nvSpPr>
          <p:cNvPr id="8" name="Text 6"/>
          <p:cNvSpPr txBox="1"/>
          <p:nvPr/>
        </p:nvSpPr>
        <p:spPr>
          <a:xfrm>
            <a:off x="6519672" y="2011680"/>
            <a:ext cx="484632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Who may use Path B, and how an arrival is known to be expected</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Approved rules wording, with a legal review of the Dutch text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Whether photo ID must be checked, and how it is recorded</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How long records are kept</a:t>
            </a:r>
            <a:endParaRPr lang="en-US" sz="1600" dirty="0"/>
          </a:p>
          <a:p>
            <a:pPr marL="342900" indent="-342900">
              <a:spcAft>
                <a:spcPts val="1000"/>
              </a:spcAft>
              <a:buSzPct val="100000"/>
              <a:buChar char="•"/>
            </a:pPr>
            <a:r>
              <a:rPr lang="en-US" sz="1600" dirty="0">
                <a:solidFill>
                  <a:srgbClr val="8A2E10"/>
                </a:solidFill>
                <a:latin typeface="Calibri" pitchFamily="34" charset="0"/>
                <a:ea typeface="Calibri" pitchFamily="34" charset="-122"/>
                <a:cs typeface="Calibri" pitchFamily="34" charset="-120"/>
              </a:rPr>
              <a:t>Staff sign-in is demo-only today and needs real accounts before a public launch</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0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822960"/>
            <a:ext cx="10058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Next steps</a:t>
            </a:r>
            <a:endParaRPr lang="en-US" sz="4000" dirty="0"/>
          </a:p>
        </p:txBody>
      </p:sp>
      <p:sp>
        <p:nvSpPr>
          <p:cNvPr id="3" name="Shape 1"/>
          <p:cNvSpPr/>
          <p:nvPr/>
        </p:nvSpPr>
        <p:spPr>
          <a:xfrm>
            <a:off x="731520" y="2057400"/>
            <a:ext cx="685800" cy="685800"/>
          </a:xfrm>
          <a:prstGeom prst="ellipse">
            <a:avLst/>
          </a:prstGeom>
          <a:solidFill>
            <a:srgbClr val="D85A30"/>
          </a:solidFill>
          <a:ln w="12700">
            <a:solidFill>
              <a:srgbClr val="D85A30"/>
            </a:solidFill>
            <a:prstDash val="solid"/>
          </a:ln>
        </p:spPr>
      </p:sp>
      <p:sp>
        <p:nvSpPr>
          <p:cNvPr id="4" name="Text 2"/>
          <p:cNvSpPr txBox="1"/>
          <p:nvPr/>
        </p:nvSpPr>
        <p:spPr>
          <a:xfrm>
            <a:off x="731520" y="20574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737360" y="20116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Walk through the live demo</a:t>
            </a:r>
            <a:endParaRPr lang="en-US" sz="2400" dirty="0"/>
          </a:p>
        </p:txBody>
      </p:sp>
      <p:sp>
        <p:nvSpPr>
          <p:cNvPr id="6" name="Text 4"/>
          <p:cNvSpPr txBox="1"/>
          <p:nvPr/>
        </p:nvSpPr>
        <p:spPr>
          <a:xfrm>
            <a:off x="1737360" y="24688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Register at the entrance page, then check and let the person in at the kiosk.</a:t>
            </a:r>
            <a:endParaRPr lang="en-US" sz="1700" dirty="0"/>
          </a:p>
        </p:txBody>
      </p:sp>
      <p:sp>
        <p:nvSpPr>
          <p:cNvPr id="7" name="Shape 5"/>
          <p:cNvSpPr/>
          <p:nvPr/>
        </p:nvSpPr>
        <p:spPr>
          <a:xfrm>
            <a:off x="731520" y="3429000"/>
            <a:ext cx="685800" cy="685800"/>
          </a:xfrm>
          <a:prstGeom prst="ellipse">
            <a:avLst/>
          </a:prstGeom>
          <a:solidFill>
            <a:srgbClr val="D85A30"/>
          </a:solidFill>
          <a:ln w="12700">
            <a:solidFill>
              <a:srgbClr val="D85A30"/>
            </a:solidFill>
            <a:prstDash val="solid"/>
          </a:ln>
        </p:spPr>
      </p:sp>
      <p:sp>
        <p:nvSpPr>
          <p:cNvPr id="8" name="Text 6"/>
          <p:cNvSpPr txBox="1"/>
          <p:nvPr/>
        </p:nvSpPr>
        <p:spPr>
          <a:xfrm>
            <a:off x="731520" y="34290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1737360" y="33832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Renewi answers the open questions</a:t>
            </a:r>
            <a:endParaRPr lang="en-US" sz="2400" dirty="0"/>
          </a:p>
        </p:txBody>
      </p:sp>
      <p:sp>
        <p:nvSpPr>
          <p:cNvPr id="10" name="Text 8"/>
          <p:cNvSpPr txBox="1"/>
          <p:nvPr/>
        </p:nvSpPr>
        <p:spPr>
          <a:xfrm>
            <a:off x="1737360" y="38404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Who may use Path B, the rules wording, photo ID and record retention.</a:t>
            </a:r>
            <a:endParaRPr lang="en-US" sz="1700" dirty="0"/>
          </a:p>
        </p:txBody>
      </p:sp>
      <p:sp>
        <p:nvSpPr>
          <p:cNvPr id="11" name="Shape 9"/>
          <p:cNvSpPr/>
          <p:nvPr/>
        </p:nvSpPr>
        <p:spPr>
          <a:xfrm>
            <a:off x="731520" y="4800600"/>
            <a:ext cx="685800" cy="685800"/>
          </a:xfrm>
          <a:prstGeom prst="ellipse">
            <a:avLst/>
          </a:prstGeom>
          <a:solidFill>
            <a:srgbClr val="D85A30"/>
          </a:solidFill>
          <a:ln w="12700">
            <a:solidFill>
              <a:srgbClr val="D85A30"/>
            </a:solidFill>
            <a:prstDash val="solid"/>
          </a:ln>
        </p:spPr>
      </p:sp>
      <p:sp>
        <p:nvSpPr>
          <p:cNvPr id="12" name="Text 10"/>
          <p:cNvSpPr txBox="1"/>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3" name="Text 11"/>
          <p:cNvSpPr txBox="1"/>
          <p:nvPr/>
        </p:nvSpPr>
        <p:spPr>
          <a:xfrm>
            <a:off x="1737360" y="4754880"/>
            <a:ext cx="96012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Host it on a real domain</a:t>
            </a:r>
            <a:endParaRPr lang="en-US" sz="2400" dirty="0"/>
          </a:p>
        </p:txBody>
      </p:sp>
      <p:sp>
        <p:nvSpPr>
          <p:cNvPr id="14" name="Text 12"/>
          <p:cNvSpPr txBox="1"/>
          <p:nvPr/>
        </p:nvSpPr>
        <p:spPr>
          <a:xfrm>
            <a:off x="1737360" y="5212080"/>
            <a:ext cx="9601200" cy="457200"/>
          </a:xfrm>
          <a:prstGeom prst="rect">
            <a:avLst/>
          </a:prstGeom>
          <a:noFill/>
          <a:ln/>
        </p:spPr>
        <p:txBody>
          <a:bodyPr wrap="square" lIns="0" tIns="0" rIns="0" bIns="0" rtlCol="0" anchor="ctr"/>
          <a:lstStyle/>
          <a:p>
            <a:pPr indent="0" marL="0">
              <a:buNone/>
            </a:pPr>
            <a:r>
              <a:rPr lang="en-US" sz="1700" dirty="0">
                <a:solidFill>
                  <a:srgbClr val="CBEFE5"/>
                </a:solidFill>
                <a:latin typeface="Calibri" pitchFamily="34" charset="0"/>
                <a:ea typeface="Calibri" pitchFamily="34" charset="-122"/>
                <a:cs typeface="Calibri" pitchFamily="34" charset="-120"/>
              </a:rPr>
              <a:t>So the entrance QR works on any phone and staff pages are protected.</a:t>
            </a:r>
            <a:endParaRPr lang="en-US" sz="1700" dirty="0"/>
          </a:p>
        </p:txBody>
      </p:sp>
    </p:spTree>
  </p:cSld>
  <p:clrMapOvr>
    <a:masterClrMapping/>
  </p:clrMapOvr>
</p:sld>
</file>

<file path=ppt/theme/theme1.xml><?xml version="1.0" encoding="utf-8"?>
<a:theme xmlns:a="http://schemas.openxmlformats.org/drawingml/2006/main" name="Renewi Site Access">
  <a:themeElements>
    <a:clrScheme name="Renewi Site Access">
      <a:dk1>
        <a:srgbClr val="1B1F27"/>
      </a:dk1>
      <a:lt1>
        <a:srgbClr val="FFFFFF"/>
      </a:lt1>
      <a:dk2>
        <a:srgbClr val="0E3B3F"/>
      </a:dk2>
      <a:lt2>
        <a:srgbClr val="F3F5F7"/>
      </a:lt2>
      <a:accent1>
        <a:srgbClr val="2F7F6B"/>
      </a:accent1>
      <a:accent2>
        <a:srgbClr val="6A5BC2"/>
      </a:accent2>
      <a:accent3>
        <a:srgbClr val="6B7482"/>
      </a:accent3>
      <a:accent4>
        <a:srgbClr val="B7791F"/>
      </a:accent4>
      <a:accent5>
        <a:srgbClr val="C0392B"/>
      </a:accent5>
      <a:accent6>
        <a:srgbClr val="D85A30"/>
      </a:accent6>
      <a:hlink>
        <a:srgbClr val="2F7F6B"/>
      </a:hlink>
      <a:folHlink>
        <a:srgbClr val="6A5BC2"/>
      </a:folHlink>
    </a:clrScheme>
    <a:fontScheme name="Renewi Site Access">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&amp; Visitor Site Access: Version 2</dc:title>
  <dc:subject>PptxGenJS Presentation</dc:subject>
  <dc:creator>DigitalT3</dc:creator>
  <cp:lastModifiedBy>DigitalT3</cp:lastModifiedBy>
  <cp:revision>1</cp:revision>
  <dcterms:created xsi:type="dcterms:W3CDTF">2026-10-12T14:38:29Z</dcterms:created>
  <dcterms:modified xsi:type="dcterms:W3CDTF">2026-10-12T14:38:29Z</dcterms:modified>
</cp:coreProperties>
</file>