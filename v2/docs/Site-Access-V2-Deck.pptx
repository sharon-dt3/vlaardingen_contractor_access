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is a simpler second version of the site access demo. It answers one requirement from Renewi: the contractor must confirm that they have read and understood the life-saving rules before entering the site, and the site must be able to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manual paperwork for registering people who need site access. Version 2 automates it. The specific requirement is that a person confirms they read and understood the life-saving rules before entering, and the site can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invitation flow from version 1 is untouched. Version 2 adds the confirmation step to it and adds Path B for people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published diagram redrawn as slide shapes. Colours show who acts: green is Renewi staff, purple is the person, grey is the system, amber is the gate officer. The interactive version is at claude.ai/artifact/RzmApJZf5CuuPEyYRcVRaL.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is the version 1 invitation flow. The only addition in version 2 is step 3, where the person confirms the life-saving rules, and a check at the approval step that the confirmation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entrance sign identifies the site only, never a person. Nothing is stored as a person until the email code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protect the public registration page from abuse. The secret in the QR is never stored in 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gate operators and system administrators can use the kiosk. Every refusal is stored with who, when and why, whether the system or the officer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is the evidence that the site can see the confirmation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text in the demo is sample wording. Renewi must supply the approved wording, including a legal review of the Dutch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decisions for Renewi rather than code gaps. The public entrance page would also need hosting on a real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aude.ai/artifact/RzmApJZf5CuuPEyYRcVRaL"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10058400" cy="365760"/>
          </a:xfrm>
          <a:prstGeom prst="rect">
            <a:avLst/>
          </a:prstGeom>
          <a:noFill/>
          <a:ln/>
        </p:spPr>
        <p:txBody>
          <a:bodyPr wrap="square" lIns="0" tIns="0" rIns="0" bIns="0" rtlCol="0" anchor="ctr"/>
          <a:lstStyle/>
          <a:p>
            <a:pPr indent="0" marL="0">
              <a:buNone/>
            </a:pPr>
            <a:r>
              <a:rPr lang="en-US" sz="1600" b="1" spc="400" kern="0" dirty="0">
                <a:solidFill>
                  <a:srgbClr val="9ACFC1"/>
                </a:solidFill>
                <a:latin typeface="Calibri" pitchFamily="34" charset="0"/>
                <a:ea typeface="Calibri" pitchFamily="34" charset="-122"/>
                <a:cs typeface="Calibri" pitchFamily="34" charset="-120"/>
              </a:rPr>
              <a:t>RENEWI · VLAARDINGEN PILOT</a:t>
            </a:r>
            <a:endParaRPr lang="en-US" sz="1600" dirty="0"/>
          </a:p>
        </p:txBody>
      </p:sp>
      <p:sp>
        <p:nvSpPr>
          <p:cNvPr id="3" name="Text 1"/>
          <p:cNvSpPr txBox="1"/>
          <p:nvPr/>
        </p:nvSpPr>
        <p:spPr>
          <a:xfrm>
            <a:off x="731520" y="1828800"/>
            <a:ext cx="107899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Contractor &amp; Visitor Site Access</a:t>
            </a:r>
            <a:endParaRPr lang="en-US" sz="4800" dirty="0"/>
          </a:p>
        </p:txBody>
      </p:sp>
      <p:sp>
        <p:nvSpPr>
          <p:cNvPr id="4" name="Text 2"/>
          <p:cNvSpPr txBox="1"/>
          <p:nvPr/>
        </p:nvSpPr>
        <p:spPr>
          <a:xfrm>
            <a:off x="731520" y="3108960"/>
            <a:ext cx="4572000" cy="365760"/>
          </a:xfrm>
          <a:prstGeom prst="rect">
            <a:avLst/>
          </a:prstGeom>
          <a:noFill/>
          <a:ln/>
        </p:spPr>
        <p:txBody>
          <a:bodyPr wrap="square" lIns="0" tIns="0" rIns="0" bIns="0" rtlCol="0" anchor="ctr"/>
          <a:lstStyle/>
          <a:p>
            <a:pPr indent="0" marL="0">
              <a:buNone/>
            </a:pPr>
            <a:r>
              <a:rPr lang="en-US" sz="1800" dirty="0">
                <a:solidFill>
                  <a:srgbClr val="9ACFC1"/>
                </a:solidFill>
                <a:latin typeface="Calibri" pitchFamily="34" charset="0"/>
                <a:ea typeface="Calibri" pitchFamily="34" charset="-122"/>
                <a:cs typeface="Calibri" pitchFamily="34" charset="-120"/>
              </a:rPr>
              <a:t>DigitalT3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problem we are solving</a:t>
            </a:r>
            <a:endParaRPr lang="en-US" sz="3200" dirty="0"/>
          </a:p>
        </p:txBody>
      </p:sp>
      <p:sp>
        <p:nvSpPr>
          <p:cNvPr id="3" name="Text 1"/>
          <p:cNvSpPr txBox="1"/>
          <p:nvPr/>
        </p:nvSpPr>
        <p:spPr>
          <a:xfrm>
            <a:off x="548640" y="1234440"/>
            <a:ext cx="5852160" cy="1005840"/>
          </a:xfrm>
          <a:prstGeom prst="rect">
            <a:avLst/>
          </a:prstGeom>
          <a:noFill/>
          <a:ln/>
        </p:spPr>
        <p:txBody>
          <a:bodyPr wrap="square" lIns="0" tIns="0" rIns="0" bIns="0" rtlCol="0" anchor="t"/>
          <a:lstStyle/>
          <a:p>
            <a:pPr indent="0" marL="0">
              <a:buNone/>
            </a:pPr>
            <a:r>
              <a:rPr lang="en-US" sz="2600" b="1" dirty="0">
                <a:solidFill>
                  <a:srgbClr val="0E3B3F"/>
                </a:solidFill>
                <a:latin typeface="Cambria" pitchFamily="34" charset="0"/>
                <a:ea typeface="Cambria" pitchFamily="34" charset="-122"/>
                <a:cs typeface="Cambria" pitchFamily="34" charset="-120"/>
              </a:rPr>
              <a:t>Registering people for site access is manual paperwork</a:t>
            </a:r>
            <a:endParaRPr lang="en-US" sz="2600" dirty="0"/>
          </a:p>
        </p:txBody>
      </p:sp>
      <p:sp>
        <p:nvSpPr>
          <p:cNvPr id="4" name="Text 2"/>
          <p:cNvSpPr txBox="1"/>
          <p:nvPr/>
        </p:nvSpPr>
        <p:spPr>
          <a:xfrm>
            <a:off x="548640" y="2377440"/>
            <a:ext cx="5852160" cy="1828800"/>
          </a:xfrm>
          <a:prstGeom prst="rect">
            <a:avLst/>
          </a:prstGeom>
          <a:noFill/>
          <a:ln/>
        </p:spPr>
        <p:txBody>
          <a:bodyPr wrap="square" lIns="0" tIns="0" rIns="0" bIns="0" rtlCol="0" anchor="t"/>
          <a:lstStyle/>
          <a:p>
            <a:pPr indent="0" marL="0">
              <a:buNone/>
            </a:pPr>
            <a:r>
              <a:rPr lang="en-US" sz="1800" dirty="0">
                <a:solidFill>
                  <a:srgbClr val="1B1F27"/>
                </a:solidFill>
                <a:latin typeface="Calibri" pitchFamily="34" charset="0"/>
                <a:ea typeface="Calibri" pitchFamily="34" charset="-122"/>
                <a:cs typeface="Calibri" pitchFamily="34" charset="-120"/>
              </a:rPr>
              <a:t>Every contractor, driver and visitor who enters a site has to be registered by hand. The paper forms take time to fill in, to read and to file, and the site has no quick way to see who is registered or who has confirmed the life-saving rules.</a:t>
            </a:r>
            <a:endParaRPr lang="en-US" sz="1800" dirty="0"/>
          </a:p>
        </p:txBody>
      </p:sp>
      <p:sp>
        <p:nvSpPr>
          <p:cNvPr id="5" name="Shape 3"/>
          <p:cNvSpPr/>
          <p:nvPr/>
        </p:nvSpPr>
        <p:spPr>
          <a:xfrm>
            <a:off x="548640" y="4434840"/>
            <a:ext cx="5852160" cy="1463040"/>
          </a:xfrm>
          <a:prstGeom prst="roundRect">
            <a:avLst>
              <a:gd name="adj" fmla="val 7500"/>
            </a:avLst>
          </a:prstGeom>
          <a:solidFill>
            <a:srgbClr val="E2F1EC"/>
          </a:solidFill>
          <a:ln w="12700">
            <a:solidFill>
              <a:srgbClr val="2F7F6B"/>
            </a:solidFill>
            <a:prstDash val="solid"/>
          </a:ln>
        </p:spPr>
      </p:sp>
      <p:sp>
        <p:nvSpPr>
          <p:cNvPr id="6" name="Text 4"/>
          <p:cNvSpPr txBox="1"/>
          <p:nvPr/>
        </p:nvSpPr>
        <p:spPr>
          <a:xfrm>
            <a:off x="777240" y="4553712"/>
            <a:ext cx="5394960" cy="320040"/>
          </a:xfrm>
          <a:prstGeom prst="rect">
            <a:avLst/>
          </a:prstGeom>
          <a:noFill/>
          <a:ln/>
        </p:spPr>
        <p:txBody>
          <a:bodyPr wrap="square" lIns="0" tIns="0" rIns="0" bIns="0" rtlCol="0" anchor="ctr"/>
          <a:lstStyle/>
          <a:p>
            <a:pPr indent="0" marL="0">
              <a:buNone/>
            </a:pPr>
            <a:r>
              <a:rPr lang="en-US" sz="1600" b="1" dirty="0">
                <a:solidFill>
                  <a:srgbClr val="2F7F6B"/>
                </a:solidFill>
                <a:latin typeface="Calibri" pitchFamily="34" charset="0"/>
                <a:ea typeface="Calibri" pitchFamily="34" charset="-122"/>
                <a:cs typeface="Calibri" pitchFamily="34" charset="-120"/>
              </a:rPr>
              <a:t>Our goal</a:t>
            </a:r>
            <a:endParaRPr lang="en-US" sz="1600" dirty="0"/>
          </a:p>
        </p:txBody>
      </p:sp>
      <p:sp>
        <p:nvSpPr>
          <p:cNvPr id="7" name="Text 5"/>
          <p:cNvSpPr txBox="1"/>
          <p:nvPr/>
        </p:nvSpPr>
        <p:spPr>
          <a:xfrm>
            <a:off x="777240" y="4892040"/>
            <a:ext cx="5394960" cy="960120"/>
          </a:xfrm>
          <a:prstGeom prst="rect">
            <a:avLst/>
          </a:prstGeom>
          <a:noFill/>
          <a:ln/>
        </p:spPr>
        <p:txBody>
          <a:bodyPr wrap="square" lIns="0" tIns="0" rIns="0" bIns="0" rtlCol="0" anchor="t"/>
          <a:lstStyle/>
          <a:p>
            <a:pPr indent="0" marL="0">
              <a:buNone/>
            </a:pPr>
            <a:r>
              <a:rPr lang="en-US" sz="1600" dirty="0">
                <a:solidFill>
                  <a:srgbClr val="14463B"/>
                </a:solidFill>
                <a:latin typeface="Calibri" pitchFamily="34" charset="0"/>
                <a:ea typeface="Calibri" pitchFamily="34" charset="-122"/>
                <a:cs typeface="Calibri" pitchFamily="34" charset="-120"/>
              </a:rPr>
              <a:t>Automate the process: the person registers on their phone, confirms the life-saving rules, and the gate officer sees the result on screen before letting them in.</a:t>
            </a:r>
            <a:endParaRPr lang="en-US" sz="1600" dirty="0"/>
          </a:p>
        </p:txBody>
      </p:sp>
      <p:sp>
        <p:nvSpPr>
          <p:cNvPr id="8" name="Shape 6"/>
          <p:cNvSpPr/>
          <p:nvPr/>
        </p:nvSpPr>
        <p:spPr>
          <a:xfrm>
            <a:off x="6858000" y="1234440"/>
            <a:ext cx="4754880" cy="1417320"/>
          </a:xfrm>
          <a:prstGeom prst="roundRect">
            <a:avLst>
              <a:gd name="adj" fmla="val 6452"/>
            </a:avLst>
          </a:prstGeom>
          <a:solidFill>
            <a:srgbClr val="FBE4E2"/>
          </a:solidFill>
          <a:ln w="12700">
            <a:solidFill>
              <a:srgbClr val="C0392B"/>
            </a:solidFill>
            <a:prstDash val="solid"/>
          </a:ln>
        </p:spPr>
      </p:sp>
      <p:sp>
        <p:nvSpPr>
          <p:cNvPr id="9" name="Text 7"/>
          <p:cNvSpPr txBox="1"/>
          <p:nvPr/>
        </p:nvSpPr>
        <p:spPr>
          <a:xfrm>
            <a:off x="7086600" y="13716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Slow and repetitive</a:t>
            </a:r>
            <a:endParaRPr lang="en-US" sz="1700" dirty="0"/>
          </a:p>
        </p:txBody>
      </p:sp>
      <p:sp>
        <p:nvSpPr>
          <p:cNvPr id="10" name="Text 8"/>
          <p:cNvSpPr txBox="1"/>
          <p:nvPr/>
        </p:nvSpPr>
        <p:spPr>
          <a:xfrm>
            <a:off x="7086600" y="17830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forms are filled in, read and filed by hand for every single arrival.</a:t>
            </a:r>
            <a:endParaRPr lang="en-US" sz="1400" dirty="0"/>
          </a:p>
        </p:txBody>
      </p:sp>
      <p:sp>
        <p:nvSpPr>
          <p:cNvPr id="11" name="Shape 9"/>
          <p:cNvSpPr/>
          <p:nvPr/>
        </p:nvSpPr>
        <p:spPr>
          <a:xfrm>
            <a:off x="6858000" y="2834640"/>
            <a:ext cx="4754880" cy="1417320"/>
          </a:xfrm>
          <a:prstGeom prst="roundRect">
            <a:avLst>
              <a:gd name="adj" fmla="val 6452"/>
            </a:avLst>
          </a:prstGeom>
          <a:solidFill>
            <a:srgbClr val="FBE4E2"/>
          </a:solidFill>
          <a:ln w="12700">
            <a:solidFill>
              <a:srgbClr val="C0392B"/>
            </a:solidFill>
            <a:prstDash val="solid"/>
          </a:ln>
        </p:spPr>
      </p:sp>
      <p:sp>
        <p:nvSpPr>
          <p:cNvPr id="12" name="Text 10"/>
          <p:cNvSpPr txBox="1"/>
          <p:nvPr/>
        </p:nvSpPr>
        <p:spPr>
          <a:xfrm>
            <a:off x="7086600" y="29718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check at the gate</a:t>
            </a:r>
            <a:endParaRPr lang="en-US" sz="1700" dirty="0"/>
          </a:p>
        </p:txBody>
      </p:sp>
      <p:sp>
        <p:nvSpPr>
          <p:cNvPr id="13" name="Text 11"/>
          <p:cNvSpPr txBox="1"/>
          <p:nvPr/>
        </p:nvSpPr>
        <p:spPr>
          <a:xfrm>
            <a:off x="7086600" y="33832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The officer cannot quickly see who is registered or who confirmed the life-saving rules.</a:t>
            </a:r>
            <a:endParaRPr lang="en-US" sz="1400" dirty="0"/>
          </a:p>
        </p:txBody>
      </p:sp>
      <p:sp>
        <p:nvSpPr>
          <p:cNvPr id="14" name="Shape 12"/>
          <p:cNvSpPr/>
          <p:nvPr/>
        </p:nvSpPr>
        <p:spPr>
          <a:xfrm>
            <a:off x="6858000" y="4434840"/>
            <a:ext cx="4754880" cy="1417320"/>
          </a:xfrm>
          <a:prstGeom prst="roundRect">
            <a:avLst>
              <a:gd name="adj" fmla="val 6452"/>
            </a:avLst>
          </a:prstGeom>
          <a:solidFill>
            <a:srgbClr val="FBE4E2"/>
          </a:solidFill>
          <a:ln w="12700">
            <a:solidFill>
              <a:srgbClr val="C0392B"/>
            </a:solidFill>
            <a:prstDash val="solid"/>
          </a:ln>
        </p:spPr>
      </p:sp>
      <p:sp>
        <p:nvSpPr>
          <p:cNvPr id="15" name="Text 13"/>
          <p:cNvSpPr txBox="1"/>
          <p:nvPr/>
        </p:nvSpPr>
        <p:spPr>
          <a:xfrm>
            <a:off x="7086600" y="45720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search and prove</a:t>
            </a:r>
            <a:endParaRPr lang="en-US" sz="1700" dirty="0"/>
          </a:p>
        </p:txBody>
      </p:sp>
      <p:sp>
        <p:nvSpPr>
          <p:cNvPr id="16" name="Text 14"/>
          <p:cNvSpPr txBox="1"/>
          <p:nvPr/>
        </p:nvSpPr>
        <p:spPr>
          <a:xfrm>
            <a:off x="7086600" y="49834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records are difficult to look up later, so there is little evidence of who was on site.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version 2 delivers</a:t>
            </a:r>
            <a:endParaRPr lang="en-US" sz="3200" dirty="0"/>
          </a:p>
        </p:txBody>
      </p:sp>
      <p:sp>
        <p:nvSpPr>
          <p:cNvPr id="3" name="Shape 1"/>
          <p:cNvSpPr/>
          <p:nvPr/>
        </p:nvSpPr>
        <p:spPr>
          <a:xfrm>
            <a:off x="548640" y="1371600"/>
            <a:ext cx="3566160" cy="2743200"/>
          </a:xfrm>
          <a:prstGeom prst="roundRect">
            <a:avLst>
              <a:gd name="adj" fmla="val 4000"/>
            </a:avLst>
          </a:prstGeom>
          <a:solidFill>
            <a:srgbClr val="E2F1EC"/>
          </a:solidFill>
          <a:ln w="12700">
            <a:solidFill>
              <a:srgbClr val="2F7F6B"/>
            </a:solidFill>
            <a:prstDash val="solid"/>
          </a:ln>
        </p:spPr>
      </p:sp>
      <p:sp>
        <p:nvSpPr>
          <p:cNvPr id="4" name="Text 2"/>
          <p:cNvSpPr txBox="1"/>
          <p:nvPr/>
        </p:nvSpPr>
        <p:spPr>
          <a:xfrm>
            <a:off x="82296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Confirm</a:t>
            </a:r>
            <a:endParaRPr lang="en-US" sz="2400" dirty="0"/>
          </a:p>
        </p:txBody>
      </p:sp>
      <p:sp>
        <p:nvSpPr>
          <p:cNvPr id="6" name="Text 4"/>
          <p:cNvSpPr txBox="1"/>
          <p:nvPr/>
        </p:nvSpPr>
        <p:spPr>
          <a:xfrm>
            <a:off x="82296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person ticks one statement that they read and understood the life-saving rules. The wording, rules version and time are stored.</a:t>
            </a:r>
            <a:endParaRPr lang="en-US" sz="1500" dirty="0"/>
          </a:p>
        </p:txBody>
      </p:sp>
      <p:sp>
        <p:nvSpPr>
          <p:cNvPr id="7" name="Shape 5"/>
          <p:cNvSpPr/>
          <p:nvPr/>
        </p:nvSpPr>
        <p:spPr>
          <a:xfrm>
            <a:off x="4297680" y="1371600"/>
            <a:ext cx="3566160" cy="2743200"/>
          </a:xfrm>
          <a:prstGeom prst="roundRect">
            <a:avLst>
              <a:gd name="adj" fmla="val 4000"/>
            </a:avLst>
          </a:prstGeom>
          <a:solidFill>
            <a:srgbClr val="E2F1EC"/>
          </a:solidFill>
          <a:ln w="12700">
            <a:solidFill>
              <a:srgbClr val="2F7F6B"/>
            </a:solidFill>
            <a:prstDash val="solid"/>
          </a:ln>
        </p:spPr>
      </p:sp>
      <p:sp>
        <p:nvSpPr>
          <p:cNvPr id="8" name="Text 6"/>
          <p:cNvSpPr txBox="1"/>
          <p:nvPr/>
        </p:nvSpPr>
        <p:spPr>
          <a:xfrm>
            <a:off x="457200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57200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Show</a:t>
            </a:r>
            <a:endParaRPr lang="en-US" sz="2400" dirty="0"/>
          </a:p>
        </p:txBody>
      </p:sp>
      <p:sp>
        <p:nvSpPr>
          <p:cNvPr id="10" name="Text 8"/>
          <p:cNvSpPr txBox="1"/>
          <p:nvPr/>
        </p:nvSpPr>
        <p:spPr>
          <a:xfrm>
            <a:off x="457200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The gate kiosk checks that confirmation every time and shows the officer the result before anyone is let in.</a:t>
            </a:r>
            <a:endParaRPr lang="en-US" sz="1500" dirty="0"/>
          </a:p>
        </p:txBody>
      </p:sp>
      <p:sp>
        <p:nvSpPr>
          <p:cNvPr id="11" name="Shape 9"/>
          <p:cNvSpPr/>
          <p:nvPr/>
        </p:nvSpPr>
        <p:spPr>
          <a:xfrm>
            <a:off x="8046720" y="1371600"/>
            <a:ext cx="3566160" cy="2743200"/>
          </a:xfrm>
          <a:prstGeom prst="roundRect">
            <a:avLst>
              <a:gd name="adj" fmla="val 4000"/>
            </a:avLst>
          </a:prstGeom>
          <a:solidFill>
            <a:srgbClr val="E2F1EC"/>
          </a:solidFill>
          <a:ln w="12700">
            <a:solidFill>
              <a:srgbClr val="2F7F6B"/>
            </a:solidFill>
            <a:prstDash val="solid"/>
          </a:ln>
        </p:spPr>
      </p:sp>
      <p:sp>
        <p:nvSpPr>
          <p:cNvPr id="12" name="Text 10"/>
          <p:cNvSpPr txBox="1"/>
          <p:nvPr/>
        </p:nvSpPr>
        <p:spPr>
          <a:xfrm>
            <a:off x="832104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2104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Record</a:t>
            </a:r>
            <a:endParaRPr lang="en-US" sz="2400" dirty="0"/>
          </a:p>
        </p:txBody>
      </p:sp>
      <p:sp>
        <p:nvSpPr>
          <p:cNvPr id="14" name="Text 12"/>
          <p:cNvSpPr txBox="1"/>
          <p:nvPr/>
        </p:nvSpPr>
        <p:spPr>
          <a:xfrm>
            <a:off x="832104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Registration, confirmation, kiosk checks, entry, exit and refusals all go into one audit trail, with who did it.</a:t>
            </a:r>
            <a:endParaRPr lang="en-US" sz="1500" dirty="0"/>
          </a:p>
        </p:txBody>
      </p:sp>
      <p:sp>
        <p:nvSpPr>
          <p:cNvPr id="15" name="Text 13"/>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Two ways in, one gate</a:t>
            </a:r>
            <a:endParaRPr lang="en-US" sz="1800" dirty="0"/>
          </a:p>
        </p:txBody>
      </p:sp>
      <p:sp>
        <p:nvSpPr>
          <p:cNvPr id="16" name="Text 14"/>
          <p:cNvSpPr txBox="1"/>
          <p:nvPr/>
        </p:nvSpPr>
        <p:spPr>
          <a:xfrm>
            <a:off x="548640" y="4846320"/>
            <a:ext cx="11064240" cy="1188720"/>
          </a:xfrm>
          <a:prstGeom prst="rect">
            <a:avLst/>
          </a:prstGeom>
          <a:noFill/>
          <a:ln/>
        </p:spPr>
        <p:txBody>
          <a:bodyPr wrap="square" lIns="0" tIns="0" rIns="0" bIns="0" rtlCol="0" anchor="t"/>
          <a:lstStyle/>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A, planned arrival: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Renewi invites the person, checks their ID and approves them in advance.</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B, unexpected arrival (new in v2):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the person scans a QR at the entrance and registers themselves.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User flow: two paths, one gate</a:t>
            </a:r>
            <a:endParaRPr lang="en-US" sz="3200" dirty="0"/>
          </a:p>
        </p:txBody>
      </p:sp>
      <p:sp>
        <p:nvSpPr>
          <p:cNvPr id="3" name="Text 1"/>
          <p:cNvSpPr txBox="1"/>
          <p:nvPr/>
        </p:nvSpPr>
        <p:spPr>
          <a:xfrm>
            <a:off x="548640" y="914400"/>
            <a:ext cx="8229600" cy="274320"/>
          </a:xfrm>
          <a:prstGeom prst="rect">
            <a:avLst/>
          </a:prstGeom>
          <a:noFill/>
          <a:ln/>
        </p:spPr>
        <p:txBody>
          <a:bodyPr wrap="square" lIns="0" tIns="0" rIns="0" bIns="0" rtlCol="0" anchor="ctr"/>
          <a:lstStyle/>
          <a:p>
            <a:pPr indent="0" marL="0">
              <a:buNone/>
            </a:pPr>
            <a:r>
              <a:rPr lang="en-US" sz="1200" dirty="0">
                <a:solidFill>
                  <a:srgbClr val="556070"/>
                </a:solidFill>
                <a:latin typeface="Calibri" pitchFamily="34" charset="0"/>
                <a:ea typeface="Calibri" pitchFamily="34" charset="-122"/>
                <a:cs typeface="Calibri" pitchFamily="34" charset="-120"/>
              </a:rPr>
              <a:t>Interactive version: </a:t>
            </a:r>
            <a:pPr indent="0" marL="0">
              <a:buNone/>
            </a:pPr>
            <a:r>
              <a:rPr lang="en-US" sz="1200" u="sng" dirty="0">
                <a:solidFill>
                  <a:srgbClr val="2F7F6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claude.ai/artifact/RzmApJZf5CuuPEyYRcVRaL</a:t>
            </a:r>
            <a:endParaRPr lang="en-US" sz="1200" dirty="0"/>
          </a:p>
        </p:txBody>
      </p:sp>
      <p:sp>
        <p:nvSpPr>
          <p:cNvPr id="4" name="Shape 2"/>
          <p:cNvSpPr/>
          <p:nvPr/>
        </p:nvSpPr>
        <p:spPr>
          <a:xfrm>
            <a:off x="548640" y="1280160"/>
            <a:ext cx="5394960" cy="502920"/>
          </a:xfrm>
          <a:prstGeom prst="roundRect">
            <a:avLst>
              <a:gd name="adj" fmla="val 18182"/>
            </a:avLst>
          </a:prstGeom>
          <a:solidFill>
            <a:srgbClr val="F3F5F7"/>
          </a:solidFill>
          <a:ln w="12700">
            <a:solidFill>
              <a:srgbClr val="CBD0DA"/>
            </a:solidFill>
            <a:prstDash val="solid"/>
          </a:ln>
        </p:spPr>
      </p:sp>
      <p:sp>
        <p:nvSpPr>
          <p:cNvPr id="5" name="Text 3"/>
          <p:cNvSpPr txBox="1"/>
          <p:nvPr/>
        </p:nvSpPr>
        <p:spPr>
          <a:xfrm>
            <a:off x="685800" y="1280160"/>
            <a:ext cx="5120640" cy="50292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A · Planned arrival  </a:t>
            </a:r>
            <a:pPr indent="0" marL="0">
              <a:buNone/>
            </a:pPr>
            <a:r>
              <a:rPr lang="en-US" sz="1200" dirty="0">
                <a:solidFill>
                  <a:srgbClr val="556070"/>
                </a:solidFill>
                <a:latin typeface="Calibri" pitchFamily="34" charset="0"/>
                <a:ea typeface="Calibri" pitchFamily="34" charset="-122"/>
                <a:cs typeface="Calibri" pitchFamily="34" charset="-120"/>
              </a:rPr>
              <a:t>Renewi knows they are coming</a:t>
            </a:r>
            <a:endParaRPr lang="en-US" sz="1400" dirty="0"/>
          </a:p>
        </p:txBody>
      </p:sp>
      <p:sp>
        <p:nvSpPr>
          <p:cNvPr id="6" name="Shape 4"/>
          <p:cNvSpPr/>
          <p:nvPr/>
        </p:nvSpPr>
        <p:spPr>
          <a:xfrm>
            <a:off x="6245352" y="1280160"/>
            <a:ext cx="5394960" cy="502920"/>
          </a:xfrm>
          <a:prstGeom prst="roundRect">
            <a:avLst>
              <a:gd name="adj" fmla="val 18182"/>
            </a:avLst>
          </a:prstGeom>
          <a:solidFill>
            <a:srgbClr val="F3F5F7"/>
          </a:solidFill>
          <a:ln w="12700">
            <a:solidFill>
              <a:srgbClr val="CBD0DA"/>
            </a:solidFill>
            <a:prstDash val="solid"/>
          </a:ln>
        </p:spPr>
      </p:sp>
      <p:sp>
        <p:nvSpPr>
          <p:cNvPr id="7" name="Text 5"/>
          <p:cNvSpPr txBox="1"/>
          <p:nvPr/>
        </p:nvSpPr>
        <p:spPr>
          <a:xfrm>
            <a:off x="6382512" y="1280160"/>
            <a:ext cx="4206240" cy="50292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B · Unexpected arrival  </a:t>
            </a:r>
            <a:pPr indent="0" marL="0">
              <a:buNone/>
            </a:pPr>
            <a:r>
              <a:rPr lang="en-US" sz="1200" dirty="0">
                <a:solidFill>
                  <a:srgbClr val="556070"/>
                </a:solidFill>
                <a:latin typeface="Calibri" pitchFamily="34" charset="0"/>
                <a:ea typeface="Calibri" pitchFamily="34" charset="-122"/>
                <a:cs typeface="Calibri" pitchFamily="34" charset="-120"/>
              </a:rPr>
              <a:t>They register themselves</a:t>
            </a:r>
            <a:endParaRPr lang="en-US" sz="1400" dirty="0"/>
          </a:p>
        </p:txBody>
      </p:sp>
      <p:sp>
        <p:nvSpPr>
          <p:cNvPr id="8" name="Shape 6"/>
          <p:cNvSpPr/>
          <p:nvPr/>
        </p:nvSpPr>
        <p:spPr>
          <a:xfrm>
            <a:off x="10634472" y="1435608"/>
            <a:ext cx="868680" cy="201168"/>
          </a:xfrm>
          <a:prstGeom prst="roundRect">
            <a:avLst>
              <a:gd name="adj" fmla="val 50000"/>
            </a:avLst>
          </a:prstGeom>
          <a:solidFill>
            <a:srgbClr val="FFE3D8"/>
          </a:solidFill>
          <a:ln w="9525">
            <a:solidFill>
              <a:srgbClr val="D85A30"/>
            </a:solidFill>
            <a:prstDash val="solid"/>
          </a:ln>
        </p:spPr>
      </p:sp>
      <p:sp>
        <p:nvSpPr>
          <p:cNvPr id="9" name="Text 7"/>
          <p:cNvSpPr txBox="1"/>
          <p:nvPr/>
        </p:nvSpPr>
        <p:spPr>
          <a:xfrm>
            <a:off x="10634472" y="1435608"/>
            <a:ext cx="868680" cy="201168"/>
          </a:xfrm>
          <a:prstGeom prst="rect">
            <a:avLst/>
          </a:prstGeom>
          <a:noFill/>
          <a:ln/>
        </p:spPr>
        <p:txBody>
          <a:bodyPr wrap="square" lIns="0" tIns="0" rIns="0" bIns="0" rtlCol="0" anchor="ctr"/>
          <a:lstStyle/>
          <a:p>
            <a:pPr algn="ctr" indent="0" marL="0">
              <a:buNone/>
            </a:pPr>
            <a:r>
              <a:rPr lang="en-US" sz="1000" b="1" dirty="0">
                <a:solidFill>
                  <a:srgbClr val="8A2E10"/>
                </a:solidFill>
                <a:latin typeface="Calibri" pitchFamily="34" charset="0"/>
                <a:ea typeface="Calibri" pitchFamily="34" charset="-122"/>
                <a:cs typeface="Calibri" pitchFamily="34" charset="-120"/>
              </a:rPr>
              <a:t>New in v2</a:t>
            </a:r>
            <a:endParaRPr lang="en-US" sz="1000" dirty="0"/>
          </a:p>
        </p:txBody>
      </p:sp>
      <p:sp>
        <p:nvSpPr>
          <p:cNvPr id="10" name="Shape 8"/>
          <p:cNvSpPr/>
          <p:nvPr/>
        </p:nvSpPr>
        <p:spPr>
          <a:xfrm>
            <a:off x="548640" y="1920240"/>
            <a:ext cx="5394960" cy="438912"/>
          </a:xfrm>
          <a:prstGeom prst="roundRect">
            <a:avLst>
              <a:gd name="adj" fmla="val 16667"/>
            </a:avLst>
          </a:prstGeom>
          <a:solidFill>
            <a:srgbClr val="E2F1EC"/>
          </a:solidFill>
          <a:ln w="12700">
            <a:solidFill>
              <a:srgbClr val="2F7F6B"/>
            </a:solidFill>
            <a:prstDash val="solid"/>
          </a:ln>
        </p:spPr>
      </p:sp>
      <p:sp>
        <p:nvSpPr>
          <p:cNvPr id="11" name="Shape 9"/>
          <p:cNvSpPr/>
          <p:nvPr/>
        </p:nvSpPr>
        <p:spPr>
          <a:xfrm>
            <a:off x="640080" y="1993392"/>
            <a:ext cx="292608" cy="292608"/>
          </a:xfrm>
          <a:prstGeom prst="ellipse">
            <a:avLst/>
          </a:prstGeom>
          <a:solidFill>
            <a:srgbClr val="2F7F6B"/>
          </a:solidFill>
          <a:ln w="12700">
            <a:solidFill>
              <a:srgbClr val="2F7F6B"/>
            </a:solidFill>
            <a:prstDash val="solid"/>
          </a:ln>
        </p:spPr>
      </p:sp>
      <p:sp>
        <p:nvSpPr>
          <p:cNvPr id="12" name="Text 10"/>
          <p:cNvSpPr txBox="1"/>
          <p:nvPr/>
        </p:nvSpPr>
        <p:spPr>
          <a:xfrm>
            <a:off x="640080" y="19933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1051560" y="1920240"/>
            <a:ext cx="4800600" cy="438912"/>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Invite: email, company, purpose, visit window</a:t>
            </a:r>
            <a:endParaRPr lang="en-US" sz="1300" dirty="0"/>
          </a:p>
        </p:txBody>
      </p:sp>
      <p:sp>
        <p:nvSpPr>
          <p:cNvPr id="14" name="Shape 12"/>
          <p:cNvSpPr/>
          <p:nvPr/>
        </p:nvSpPr>
        <p:spPr>
          <a:xfrm>
            <a:off x="548640" y="2468880"/>
            <a:ext cx="5394960" cy="438912"/>
          </a:xfrm>
          <a:prstGeom prst="roundRect">
            <a:avLst>
              <a:gd name="adj" fmla="val 16667"/>
            </a:avLst>
          </a:prstGeom>
          <a:solidFill>
            <a:srgbClr val="ECE9FA"/>
          </a:solidFill>
          <a:ln w="12700">
            <a:solidFill>
              <a:srgbClr val="6A5BC2"/>
            </a:solidFill>
            <a:prstDash val="solid"/>
          </a:ln>
        </p:spPr>
      </p:sp>
      <p:sp>
        <p:nvSpPr>
          <p:cNvPr id="15" name="Shape 13"/>
          <p:cNvSpPr/>
          <p:nvPr/>
        </p:nvSpPr>
        <p:spPr>
          <a:xfrm>
            <a:off x="640080" y="2542032"/>
            <a:ext cx="292608" cy="292608"/>
          </a:xfrm>
          <a:prstGeom prst="ellipse">
            <a:avLst/>
          </a:prstGeom>
          <a:solidFill>
            <a:srgbClr val="6A5BC2"/>
          </a:solidFill>
          <a:ln w="12700">
            <a:solidFill>
              <a:srgbClr val="6A5BC2"/>
            </a:solidFill>
            <a:prstDash val="solid"/>
          </a:ln>
        </p:spPr>
      </p:sp>
      <p:sp>
        <p:nvSpPr>
          <p:cNvPr id="16" name="Text 14"/>
          <p:cNvSpPr txBox="1"/>
          <p:nvPr/>
        </p:nvSpPr>
        <p:spPr>
          <a:xfrm>
            <a:off x="640080" y="2542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5"/>
          <p:cNvSpPr txBox="1"/>
          <p:nvPr/>
        </p:nvSpPr>
        <p:spPr>
          <a:xfrm>
            <a:off x="1051560" y="2468880"/>
            <a:ext cx="4800600" cy="438912"/>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Accept and register with an ID document</a:t>
            </a:r>
            <a:endParaRPr lang="en-US" sz="1300" dirty="0"/>
          </a:p>
        </p:txBody>
      </p:sp>
      <p:sp>
        <p:nvSpPr>
          <p:cNvPr id="18" name="Shape 16"/>
          <p:cNvSpPr/>
          <p:nvPr/>
        </p:nvSpPr>
        <p:spPr>
          <a:xfrm>
            <a:off x="548640" y="3017520"/>
            <a:ext cx="5394960" cy="438912"/>
          </a:xfrm>
          <a:prstGeom prst="roundRect">
            <a:avLst>
              <a:gd name="adj" fmla="val 16667"/>
            </a:avLst>
          </a:prstGeom>
          <a:solidFill>
            <a:srgbClr val="ECE9FA"/>
          </a:solidFill>
          <a:ln w="12700">
            <a:solidFill>
              <a:srgbClr val="6A5BC2"/>
            </a:solidFill>
            <a:prstDash val="solid"/>
          </a:ln>
        </p:spPr>
      </p:sp>
      <p:sp>
        <p:nvSpPr>
          <p:cNvPr id="19" name="Shape 17"/>
          <p:cNvSpPr/>
          <p:nvPr/>
        </p:nvSpPr>
        <p:spPr>
          <a:xfrm>
            <a:off x="640080" y="3090672"/>
            <a:ext cx="292608" cy="292608"/>
          </a:xfrm>
          <a:prstGeom prst="ellipse">
            <a:avLst/>
          </a:prstGeom>
          <a:solidFill>
            <a:srgbClr val="6A5BC2"/>
          </a:solidFill>
          <a:ln w="12700">
            <a:solidFill>
              <a:srgbClr val="6A5BC2"/>
            </a:solidFill>
            <a:prstDash val="solid"/>
          </a:ln>
        </p:spPr>
      </p:sp>
      <p:sp>
        <p:nvSpPr>
          <p:cNvPr id="20" name="Text 18"/>
          <p:cNvSpPr txBox="1"/>
          <p:nvPr/>
        </p:nvSpPr>
        <p:spPr>
          <a:xfrm>
            <a:off x="640080" y="309067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1051560" y="3017520"/>
            <a:ext cx="4800600" cy="438912"/>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22" name="Shape 20"/>
          <p:cNvSpPr/>
          <p:nvPr/>
        </p:nvSpPr>
        <p:spPr>
          <a:xfrm>
            <a:off x="548640" y="3566160"/>
            <a:ext cx="5394960" cy="438912"/>
          </a:xfrm>
          <a:prstGeom prst="roundRect">
            <a:avLst>
              <a:gd name="adj" fmla="val 16667"/>
            </a:avLst>
          </a:prstGeom>
          <a:solidFill>
            <a:srgbClr val="E2F1EC"/>
          </a:solidFill>
          <a:ln w="12700">
            <a:solidFill>
              <a:srgbClr val="2F7F6B"/>
            </a:solidFill>
            <a:prstDash val="solid"/>
          </a:ln>
        </p:spPr>
      </p:sp>
      <p:sp>
        <p:nvSpPr>
          <p:cNvPr id="23" name="Shape 21"/>
          <p:cNvSpPr/>
          <p:nvPr/>
        </p:nvSpPr>
        <p:spPr>
          <a:xfrm>
            <a:off x="640080" y="3639312"/>
            <a:ext cx="292608" cy="292608"/>
          </a:xfrm>
          <a:prstGeom prst="ellipse">
            <a:avLst/>
          </a:prstGeom>
          <a:solidFill>
            <a:srgbClr val="2F7F6B"/>
          </a:solidFill>
          <a:ln w="12700">
            <a:solidFill>
              <a:srgbClr val="2F7F6B"/>
            </a:solidFill>
            <a:prstDash val="solid"/>
          </a:ln>
        </p:spPr>
      </p:sp>
      <p:sp>
        <p:nvSpPr>
          <p:cNvPr id="24" name="Text 22"/>
          <p:cNvSpPr txBox="1"/>
          <p:nvPr/>
        </p:nvSpPr>
        <p:spPr>
          <a:xfrm>
            <a:off x="640080" y="363931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1051560" y="3566160"/>
            <a:ext cx="4800600" cy="438912"/>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Review the evidence: verify or reject the ID</a:t>
            </a:r>
            <a:endParaRPr lang="en-US" sz="1300" dirty="0"/>
          </a:p>
        </p:txBody>
      </p:sp>
      <p:sp>
        <p:nvSpPr>
          <p:cNvPr id="26" name="Shape 24"/>
          <p:cNvSpPr/>
          <p:nvPr/>
        </p:nvSpPr>
        <p:spPr>
          <a:xfrm>
            <a:off x="548640" y="4114800"/>
            <a:ext cx="5394960" cy="438912"/>
          </a:xfrm>
          <a:prstGeom prst="roundRect">
            <a:avLst>
              <a:gd name="adj" fmla="val 16667"/>
            </a:avLst>
          </a:prstGeom>
          <a:solidFill>
            <a:srgbClr val="E2F1EC"/>
          </a:solidFill>
          <a:ln w="12700">
            <a:solidFill>
              <a:srgbClr val="2F7F6B"/>
            </a:solidFill>
            <a:prstDash val="solid"/>
          </a:ln>
        </p:spPr>
      </p:sp>
      <p:sp>
        <p:nvSpPr>
          <p:cNvPr id="27" name="Shape 25"/>
          <p:cNvSpPr/>
          <p:nvPr/>
        </p:nvSpPr>
        <p:spPr>
          <a:xfrm>
            <a:off x="640080" y="4187952"/>
            <a:ext cx="292608" cy="292608"/>
          </a:xfrm>
          <a:prstGeom prst="ellipse">
            <a:avLst/>
          </a:prstGeom>
          <a:solidFill>
            <a:srgbClr val="2F7F6B"/>
          </a:solidFill>
          <a:ln w="12700">
            <a:solidFill>
              <a:srgbClr val="2F7F6B"/>
            </a:solidFill>
            <a:prstDash val="solid"/>
          </a:ln>
        </p:spPr>
      </p:sp>
      <p:sp>
        <p:nvSpPr>
          <p:cNvPr id="28" name="Text 26"/>
          <p:cNvSpPr txBox="1"/>
          <p:nvPr/>
        </p:nvSpPr>
        <p:spPr>
          <a:xfrm>
            <a:off x="640080" y="41879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1051560" y="4114800"/>
            <a:ext cx="4800600" cy="438912"/>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Training and approval</a:t>
            </a:r>
            <a:endParaRPr lang="en-US" sz="1300" dirty="0"/>
          </a:p>
        </p:txBody>
      </p:sp>
      <p:sp>
        <p:nvSpPr>
          <p:cNvPr id="30" name="Shape 28"/>
          <p:cNvSpPr/>
          <p:nvPr/>
        </p:nvSpPr>
        <p:spPr>
          <a:xfrm>
            <a:off x="548640" y="4663440"/>
            <a:ext cx="5394960" cy="438912"/>
          </a:xfrm>
          <a:prstGeom prst="roundRect">
            <a:avLst>
              <a:gd name="adj" fmla="val 16667"/>
            </a:avLst>
          </a:prstGeom>
          <a:solidFill>
            <a:srgbClr val="ECEEF2"/>
          </a:solidFill>
          <a:ln w="12700">
            <a:solidFill>
              <a:srgbClr val="6B7482"/>
            </a:solidFill>
            <a:prstDash val="solid"/>
          </a:ln>
        </p:spPr>
      </p:sp>
      <p:sp>
        <p:nvSpPr>
          <p:cNvPr id="31" name="Shape 29"/>
          <p:cNvSpPr/>
          <p:nvPr/>
        </p:nvSpPr>
        <p:spPr>
          <a:xfrm>
            <a:off x="640080" y="4736592"/>
            <a:ext cx="292608" cy="292608"/>
          </a:xfrm>
          <a:prstGeom prst="ellipse">
            <a:avLst/>
          </a:prstGeom>
          <a:solidFill>
            <a:srgbClr val="6B7482"/>
          </a:solidFill>
          <a:ln w="12700">
            <a:solidFill>
              <a:srgbClr val="6B7482"/>
            </a:solidFill>
            <a:prstDash val="solid"/>
          </a:ln>
        </p:spPr>
      </p:sp>
      <p:sp>
        <p:nvSpPr>
          <p:cNvPr id="32" name="Text 30"/>
          <p:cNvSpPr txBox="1"/>
          <p:nvPr/>
        </p:nvSpPr>
        <p:spPr>
          <a:xfrm>
            <a:off x="640080" y="47365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1051560" y="4663440"/>
            <a:ext cx="4800600" cy="438912"/>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Set entry and exit time, email the QR</a:t>
            </a:r>
            <a:endParaRPr lang="en-US" sz="1300" dirty="0"/>
          </a:p>
        </p:txBody>
      </p:sp>
      <p:sp>
        <p:nvSpPr>
          <p:cNvPr id="34" name="Shape 32"/>
          <p:cNvSpPr/>
          <p:nvPr/>
        </p:nvSpPr>
        <p:spPr>
          <a:xfrm>
            <a:off x="6245352" y="1920240"/>
            <a:ext cx="5394960" cy="438912"/>
          </a:xfrm>
          <a:prstGeom prst="roundRect">
            <a:avLst>
              <a:gd name="adj" fmla="val 16667"/>
            </a:avLst>
          </a:prstGeom>
          <a:solidFill>
            <a:srgbClr val="ECE9FA"/>
          </a:solidFill>
          <a:ln w="12700">
            <a:solidFill>
              <a:srgbClr val="6A5BC2"/>
            </a:solidFill>
            <a:prstDash val="solid"/>
          </a:ln>
        </p:spPr>
      </p:sp>
      <p:sp>
        <p:nvSpPr>
          <p:cNvPr id="35" name="Shape 33"/>
          <p:cNvSpPr/>
          <p:nvPr/>
        </p:nvSpPr>
        <p:spPr>
          <a:xfrm>
            <a:off x="6336792" y="1993392"/>
            <a:ext cx="292608" cy="292608"/>
          </a:xfrm>
          <a:prstGeom prst="ellipse">
            <a:avLst/>
          </a:prstGeom>
          <a:solidFill>
            <a:srgbClr val="6A5BC2"/>
          </a:solidFill>
          <a:ln w="12700">
            <a:solidFill>
              <a:srgbClr val="6A5BC2"/>
            </a:solidFill>
            <a:prstDash val="solid"/>
          </a:ln>
        </p:spPr>
      </p:sp>
      <p:sp>
        <p:nvSpPr>
          <p:cNvPr id="36" name="Text 34"/>
          <p:cNvSpPr txBox="1"/>
          <p:nvPr/>
        </p:nvSpPr>
        <p:spPr>
          <a:xfrm>
            <a:off x="6336792" y="19933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7" name="Text 35"/>
          <p:cNvSpPr txBox="1"/>
          <p:nvPr/>
        </p:nvSpPr>
        <p:spPr>
          <a:xfrm>
            <a:off x="6748272" y="1920240"/>
            <a:ext cx="4800600" cy="438912"/>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Scan the entrance sign</a:t>
            </a:r>
            <a:endParaRPr lang="en-US" sz="1300" dirty="0"/>
          </a:p>
        </p:txBody>
      </p:sp>
      <p:sp>
        <p:nvSpPr>
          <p:cNvPr id="38" name="Shape 36"/>
          <p:cNvSpPr/>
          <p:nvPr/>
        </p:nvSpPr>
        <p:spPr>
          <a:xfrm>
            <a:off x="6245352" y="2468880"/>
            <a:ext cx="5394960" cy="438912"/>
          </a:xfrm>
          <a:prstGeom prst="roundRect">
            <a:avLst>
              <a:gd name="adj" fmla="val 16667"/>
            </a:avLst>
          </a:prstGeom>
          <a:solidFill>
            <a:srgbClr val="ECE9FA"/>
          </a:solidFill>
          <a:ln w="12700">
            <a:solidFill>
              <a:srgbClr val="6A5BC2"/>
            </a:solidFill>
            <a:prstDash val="solid"/>
          </a:ln>
        </p:spPr>
      </p:sp>
      <p:sp>
        <p:nvSpPr>
          <p:cNvPr id="39" name="Shape 37"/>
          <p:cNvSpPr/>
          <p:nvPr/>
        </p:nvSpPr>
        <p:spPr>
          <a:xfrm>
            <a:off x="6336792" y="2542032"/>
            <a:ext cx="292608" cy="292608"/>
          </a:xfrm>
          <a:prstGeom prst="ellipse">
            <a:avLst/>
          </a:prstGeom>
          <a:solidFill>
            <a:srgbClr val="6A5BC2"/>
          </a:solidFill>
          <a:ln w="12700">
            <a:solidFill>
              <a:srgbClr val="6A5BC2"/>
            </a:solidFill>
            <a:prstDash val="solid"/>
          </a:ln>
        </p:spPr>
      </p:sp>
      <p:sp>
        <p:nvSpPr>
          <p:cNvPr id="40" name="Text 38"/>
          <p:cNvSpPr txBox="1"/>
          <p:nvPr/>
        </p:nvSpPr>
        <p:spPr>
          <a:xfrm>
            <a:off x="6336792" y="2542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1" name="Text 39"/>
          <p:cNvSpPr txBox="1"/>
          <p:nvPr/>
        </p:nvSpPr>
        <p:spPr>
          <a:xfrm>
            <a:off x="6748272" y="2468880"/>
            <a:ext cx="4800600" cy="438912"/>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Fill in the form: name, company, email, category</a:t>
            </a:r>
            <a:endParaRPr lang="en-US" sz="1300" dirty="0"/>
          </a:p>
        </p:txBody>
      </p:sp>
      <p:sp>
        <p:nvSpPr>
          <p:cNvPr id="42" name="Shape 40"/>
          <p:cNvSpPr/>
          <p:nvPr/>
        </p:nvSpPr>
        <p:spPr>
          <a:xfrm>
            <a:off x="6245352" y="3017520"/>
            <a:ext cx="5394960" cy="438912"/>
          </a:xfrm>
          <a:prstGeom prst="roundRect">
            <a:avLst>
              <a:gd name="adj" fmla="val 16667"/>
            </a:avLst>
          </a:prstGeom>
          <a:solidFill>
            <a:srgbClr val="ECE9FA"/>
          </a:solidFill>
          <a:ln w="12700">
            <a:solidFill>
              <a:srgbClr val="6A5BC2"/>
            </a:solidFill>
            <a:prstDash val="solid"/>
          </a:ln>
        </p:spPr>
      </p:sp>
      <p:sp>
        <p:nvSpPr>
          <p:cNvPr id="43" name="Shape 41"/>
          <p:cNvSpPr/>
          <p:nvPr/>
        </p:nvSpPr>
        <p:spPr>
          <a:xfrm>
            <a:off x="6336792" y="3090672"/>
            <a:ext cx="292608" cy="292608"/>
          </a:xfrm>
          <a:prstGeom prst="ellipse">
            <a:avLst/>
          </a:prstGeom>
          <a:solidFill>
            <a:srgbClr val="6A5BC2"/>
          </a:solidFill>
          <a:ln w="12700">
            <a:solidFill>
              <a:srgbClr val="6A5BC2"/>
            </a:solidFill>
            <a:prstDash val="solid"/>
          </a:ln>
        </p:spPr>
      </p:sp>
      <p:sp>
        <p:nvSpPr>
          <p:cNvPr id="44" name="Text 42"/>
          <p:cNvSpPr txBox="1"/>
          <p:nvPr/>
        </p:nvSpPr>
        <p:spPr>
          <a:xfrm>
            <a:off x="6336792" y="309067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5" name="Text 43"/>
          <p:cNvSpPr txBox="1"/>
          <p:nvPr/>
        </p:nvSpPr>
        <p:spPr>
          <a:xfrm>
            <a:off x="6748272" y="3017520"/>
            <a:ext cx="4800600" cy="438912"/>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46" name="Shape 44"/>
          <p:cNvSpPr/>
          <p:nvPr/>
        </p:nvSpPr>
        <p:spPr>
          <a:xfrm>
            <a:off x="6245352" y="3566160"/>
            <a:ext cx="5394960" cy="438912"/>
          </a:xfrm>
          <a:prstGeom prst="roundRect">
            <a:avLst>
              <a:gd name="adj" fmla="val 16667"/>
            </a:avLst>
          </a:prstGeom>
          <a:solidFill>
            <a:srgbClr val="ECEEF2"/>
          </a:solidFill>
          <a:ln w="12700">
            <a:solidFill>
              <a:srgbClr val="6B7482"/>
            </a:solidFill>
            <a:prstDash val="solid"/>
          </a:ln>
        </p:spPr>
      </p:sp>
      <p:sp>
        <p:nvSpPr>
          <p:cNvPr id="47" name="Shape 45"/>
          <p:cNvSpPr/>
          <p:nvPr/>
        </p:nvSpPr>
        <p:spPr>
          <a:xfrm>
            <a:off x="6336792" y="3639312"/>
            <a:ext cx="292608" cy="292608"/>
          </a:xfrm>
          <a:prstGeom prst="ellipse">
            <a:avLst/>
          </a:prstGeom>
          <a:solidFill>
            <a:srgbClr val="6B7482"/>
          </a:solidFill>
          <a:ln w="12700">
            <a:solidFill>
              <a:srgbClr val="6B7482"/>
            </a:solidFill>
            <a:prstDash val="solid"/>
          </a:ln>
        </p:spPr>
      </p:sp>
      <p:sp>
        <p:nvSpPr>
          <p:cNvPr id="48" name="Text 46"/>
          <p:cNvSpPr txBox="1"/>
          <p:nvPr/>
        </p:nvSpPr>
        <p:spPr>
          <a:xfrm>
            <a:off x="6336792" y="363931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9" name="Text 47"/>
          <p:cNvSpPr txBox="1"/>
          <p:nvPr/>
        </p:nvSpPr>
        <p:spPr>
          <a:xfrm>
            <a:off x="6748272" y="3566160"/>
            <a:ext cx="4800600" cy="438912"/>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Check the email address with a 6-digit code</a:t>
            </a:r>
            <a:endParaRPr lang="en-US" sz="1300" dirty="0"/>
          </a:p>
        </p:txBody>
      </p:sp>
      <p:sp>
        <p:nvSpPr>
          <p:cNvPr id="50" name="Shape 48"/>
          <p:cNvSpPr/>
          <p:nvPr/>
        </p:nvSpPr>
        <p:spPr>
          <a:xfrm>
            <a:off x="6245352" y="4114800"/>
            <a:ext cx="5394960" cy="438912"/>
          </a:xfrm>
          <a:prstGeom prst="roundRect">
            <a:avLst>
              <a:gd name="adj" fmla="val 16667"/>
            </a:avLst>
          </a:prstGeom>
          <a:solidFill>
            <a:srgbClr val="ECEEF2"/>
          </a:solidFill>
          <a:ln w="12700">
            <a:solidFill>
              <a:srgbClr val="6B7482"/>
            </a:solidFill>
            <a:prstDash val="solid"/>
          </a:ln>
        </p:spPr>
      </p:sp>
      <p:sp>
        <p:nvSpPr>
          <p:cNvPr id="51" name="Shape 49"/>
          <p:cNvSpPr/>
          <p:nvPr/>
        </p:nvSpPr>
        <p:spPr>
          <a:xfrm>
            <a:off x="6336792" y="4187952"/>
            <a:ext cx="292608" cy="292608"/>
          </a:xfrm>
          <a:prstGeom prst="ellipse">
            <a:avLst/>
          </a:prstGeom>
          <a:solidFill>
            <a:srgbClr val="6B7482"/>
          </a:solidFill>
          <a:ln w="12700">
            <a:solidFill>
              <a:srgbClr val="6B7482"/>
            </a:solidFill>
            <a:prstDash val="solid"/>
          </a:ln>
        </p:spPr>
      </p:sp>
      <p:sp>
        <p:nvSpPr>
          <p:cNvPr id="52" name="Text 50"/>
          <p:cNvSpPr txBox="1"/>
          <p:nvPr/>
        </p:nvSpPr>
        <p:spPr>
          <a:xfrm>
            <a:off x="6336792" y="41879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6748272" y="4114800"/>
            <a:ext cx="4800600" cy="438912"/>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Entry QR, reference and validity issued</a:t>
            </a:r>
            <a:endParaRPr lang="en-US" sz="1300" dirty="0"/>
          </a:p>
        </p:txBody>
      </p:sp>
      <p:sp>
        <p:nvSpPr>
          <p:cNvPr id="54" name="Shape 52"/>
          <p:cNvSpPr/>
          <p:nvPr/>
        </p:nvSpPr>
        <p:spPr>
          <a:xfrm>
            <a:off x="6245352" y="4663440"/>
            <a:ext cx="5394960" cy="438912"/>
          </a:xfrm>
          <a:prstGeom prst="roundRect">
            <a:avLst>
              <a:gd name="adj" fmla="val 16667"/>
            </a:avLst>
          </a:prstGeom>
          <a:solidFill>
            <a:srgbClr val="FFFFFF"/>
          </a:solidFill>
          <a:ln w="12700">
            <a:solidFill>
              <a:srgbClr val="D85A30"/>
            </a:solidFill>
            <a:prstDash val="dash"/>
          </a:ln>
        </p:spPr>
      </p:sp>
      <p:sp>
        <p:nvSpPr>
          <p:cNvPr id="55" name="Text 53"/>
          <p:cNvSpPr txBox="1"/>
          <p:nvPr/>
        </p:nvSpPr>
        <p:spPr>
          <a:xfrm>
            <a:off x="6382512" y="4663440"/>
            <a:ext cx="5212080" cy="438912"/>
          </a:xfrm>
          <a:prstGeom prst="rect">
            <a:avLst/>
          </a:prstGeom>
          <a:noFill/>
          <a:ln/>
        </p:spPr>
        <p:txBody>
          <a:bodyPr wrap="square" lIns="0" tIns="0" rIns="0" bIns="0" rtlCol="0" anchor="ctr"/>
          <a:lstStyle/>
          <a:p>
            <a:pPr indent="0" marL="0">
              <a:buNone/>
            </a:pPr>
            <a:r>
              <a:rPr lang="en-US" sz="1200" dirty="0">
                <a:solidFill>
                  <a:srgbClr val="8A2E10"/>
                </a:solidFill>
                <a:latin typeface="Calibri" pitchFamily="34" charset="0"/>
                <a:ea typeface="Calibri" pitchFamily="34" charset="-122"/>
                <a:cs typeface="Calibri" pitchFamily="34" charset="-120"/>
              </a:rPr>
              <a:t>Open for Renewi: who may use Path B, and how do we know they are expected?</a:t>
            </a:r>
            <a:endParaRPr lang="en-US" sz="1200" dirty="0"/>
          </a:p>
        </p:txBody>
      </p:sp>
      <p:sp>
        <p:nvSpPr>
          <p:cNvPr id="56" name="Shape 54"/>
          <p:cNvSpPr/>
          <p:nvPr/>
        </p:nvSpPr>
        <p:spPr>
          <a:xfrm>
            <a:off x="548640" y="5257800"/>
            <a:ext cx="11091672" cy="457200"/>
          </a:xfrm>
          <a:prstGeom prst="roundRect">
            <a:avLst>
              <a:gd name="adj" fmla="val 16000"/>
            </a:avLst>
          </a:prstGeom>
          <a:solidFill>
            <a:srgbClr val="FBEFD9"/>
          </a:solidFill>
          <a:ln w="12700">
            <a:solidFill>
              <a:srgbClr val="B7791F"/>
            </a:solidFill>
            <a:prstDash val="solid"/>
          </a:ln>
        </p:spPr>
      </p:sp>
      <p:sp>
        <p:nvSpPr>
          <p:cNvPr id="57" name="Text 55"/>
          <p:cNvSpPr txBox="1"/>
          <p:nvPr/>
        </p:nvSpPr>
        <p:spPr>
          <a:xfrm>
            <a:off x="731520" y="5257800"/>
            <a:ext cx="10789920" cy="45720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AT THE GATE  </a:t>
            </a:r>
            <a:pPr indent="0" marL="0">
              <a:buNone/>
            </a:pPr>
            <a:r>
              <a:rPr lang="en-US" sz="1400" dirty="0">
                <a:solidFill>
                  <a:srgbClr val="573906"/>
                </a:solidFill>
                <a:latin typeface="Calibri" pitchFamily="34" charset="0"/>
                <a:ea typeface="Calibri" pitchFamily="34" charset="-122"/>
                <a:cs typeface="Calibri" pitchFamily="34" charset="-120"/>
              </a:rPr>
              <a:t>Read the code  →  Check the records  →  May the person enter?  →  Let in, or refuse and record why</a:t>
            </a:r>
            <a:endParaRPr lang="en-US" sz="1100" dirty="0"/>
          </a:p>
        </p:txBody>
      </p:sp>
      <p:sp>
        <p:nvSpPr>
          <p:cNvPr id="58" name="Shape 56"/>
          <p:cNvSpPr/>
          <p:nvPr/>
        </p:nvSpPr>
        <p:spPr>
          <a:xfrm>
            <a:off x="548640" y="5852160"/>
            <a:ext cx="11091672" cy="457200"/>
          </a:xfrm>
          <a:prstGeom prst="roundRect">
            <a:avLst>
              <a:gd name="adj" fmla="val 16000"/>
            </a:avLst>
          </a:prstGeom>
          <a:solidFill>
            <a:srgbClr val="ECEEF2"/>
          </a:solidFill>
          <a:ln w="12700">
            <a:solidFill>
              <a:srgbClr val="6B7482"/>
            </a:solidFill>
            <a:prstDash val="solid"/>
          </a:ln>
        </p:spPr>
      </p:sp>
      <p:sp>
        <p:nvSpPr>
          <p:cNvPr id="59" name="Text 57"/>
          <p:cNvSpPr txBox="1"/>
          <p:nvPr/>
        </p:nvSpPr>
        <p:spPr>
          <a:xfrm>
            <a:off x="731520" y="5852160"/>
            <a:ext cx="10789920" cy="457200"/>
          </a:xfrm>
          <a:prstGeom prst="rect">
            <a:avLst/>
          </a:prstGeom>
          <a:noFill/>
          <a:ln/>
        </p:spPr>
        <p:txBody>
          <a:bodyPr wrap="square" lIns="0" tIns="0" rIns="0" bIns="0" rtlCol="0" anchor="ctr"/>
          <a:lstStyle/>
          <a:p>
            <a:pPr indent="0" marL="0">
              <a:buNone/>
            </a:pPr>
            <a:r>
              <a:rPr lang="en-US" sz="1100" b="1" dirty="0">
                <a:solidFill>
                  <a:srgbClr val="6B7482"/>
                </a:solidFill>
                <a:latin typeface="Calibri" pitchFamily="34" charset="0"/>
                <a:ea typeface="Calibri" pitchFamily="34" charset="-122"/>
                <a:cs typeface="Calibri" pitchFamily="34" charset="-120"/>
              </a:rPr>
              <a:t>ON SITE AND AFTER  </a:t>
            </a:r>
            <a:pPr indent="0" marL="0">
              <a:buNone/>
            </a:pPr>
            <a:r>
              <a:rPr lang="en-US" sz="1400" dirty="0">
                <a:solidFill>
                  <a:srgbClr val="232831"/>
                </a:solidFill>
                <a:latin typeface="Calibri" pitchFamily="34" charset="0"/>
                <a:ea typeface="Calibri" pitchFamily="34" charset="-122"/>
                <a:cs typeface="Calibri" pitchFamily="34" charset="-120"/>
              </a:rPr>
              <a:t>One roster for both paths  →  Record exit  →  Renewals  →  Audit trail</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planned arrival</a:t>
            </a:r>
            <a:endParaRPr lang="en-US" sz="3200" dirty="0"/>
          </a:p>
        </p:txBody>
      </p:sp>
      <p:sp>
        <p:nvSpPr>
          <p:cNvPr id="3" name="card Invite"/>
          <p:cNvSpPr/>
          <p:nvPr/>
        </p:nvSpPr>
        <p:spPr>
          <a:xfrm>
            <a:off x="548640" y="1325880"/>
            <a:ext cx="3566160" cy="2331720"/>
          </a:xfrm>
          <a:prstGeom prst="roundRect">
            <a:avLst>
              <a:gd name="adj" fmla="val 3922"/>
            </a:avLst>
          </a:prstGeom>
          <a:solidFill>
            <a:srgbClr val="E2F1EC"/>
          </a:solidFill>
          <a:ln w="12700">
            <a:solidFill>
              <a:srgbClr val="2F7F6B"/>
            </a:solidFill>
            <a:prstDash val="solid"/>
          </a:ln>
        </p:spPr>
      </p:sp>
      <p:sp>
        <p:nvSpPr>
          <p:cNvPr id="4" name="num 1"/>
          <p:cNvSpPr/>
          <p:nvPr/>
        </p:nvSpPr>
        <p:spPr>
          <a:xfrm>
            <a:off x="731520" y="1508760"/>
            <a:ext cx="384048" cy="384048"/>
          </a:xfrm>
          <a:prstGeom prst="ellipse">
            <a:avLst/>
          </a:prstGeom>
          <a:solidFill>
            <a:srgbClr val="2F7F6B"/>
          </a:solidFill>
          <a:ln w="12700">
            <a:solidFill>
              <a:srgbClr val="2F7F6B"/>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Invite</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enter the person's email, company, purpose and visit window. An email with an accept link is sent.</a:t>
            </a:r>
            <a:endParaRPr lang="en-US" sz="1400" dirty="0"/>
          </a:p>
        </p:txBody>
      </p:sp>
      <p:sp>
        <p:nvSpPr>
          <p:cNvPr id="9" name="card Accept and register"/>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Accept and register</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person opens the link, accepts, enters their name and uploads an ID document with its expiry date.</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Shape 17"/>
          <p:cNvSpPr/>
          <p:nvPr/>
        </p:nvSpPr>
        <p:spPr>
          <a:xfrm>
            <a:off x="10515600" y="1435608"/>
            <a:ext cx="914400" cy="237744"/>
          </a:xfrm>
          <a:prstGeom prst="roundRect">
            <a:avLst>
              <a:gd name="adj" fmla="val 50000"/>
            </a:avLst>
          </a:prstGeom>
          <a:solidFill>
            <a:srgbClr val="FFE3D8"/>
          </a:solidFill>
          <a:ln w="9525">
            <a:solidFill>
              <a:srgbClr val="D85A30"/>
            </a:solidFill>
            <a:prstDash val="solid"/>
          </a:ln>
        </p:spPr>
      </p:sp>
      <p:sp>
        <p:nvSpPr>
          <p:cNvPr id="20" name="Text 18"/>
          <p:cNvSpPr txBox="1"/>
          <p:nvPr/>
        </p:nvSpPr>
        <p:spPr>
          <a:xfrm>
            <a:off x="1051560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2" name="Text 20"/>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They tick one statement that they read and understood the rules. Wording, version and time are stored.</a:t>
            </a:r>
            <a:endParaRPr lang="en-US" sz="1400" dirty="0"/>
          </a:p>
        </p:txBody>
      </p:sp>
      <p:sp>
        <p:nvSpPr>
          <p:cNvPr id="23" name="card Review the evidence"/>
          <p:cNvSpPr/>
          <p:nvPr/>
        </p:nvSpPr>
        <p:spPr>
          <a:xfrm>
            <a:off x="548640" y="3840480"/>
            <a:ext cx="3566160" cy="2331720"/>
          </a:xfrm>
          <a:prstGeom prst="roundRect">
            <a:avLst>
              <a:gd name="adj" fmla="val 3922"/>
            </a:avLst>
          </a:prstGeom>
          <a:solidFill>
            <a:srgbClr val="E2F1EC"/>
          </a:solidFill>
          <a:ln w="12700">
            <a:solidFill>
              <a:srgbClr val="2F7F6B"/>
            </a:solidFill>
            <a:prstDash val="solid"/>
          </a:ln>
        </p:spPr>
      </p:sp>
      <p:sp>
        <p:nvSpPr>
          <p:cNvPr id="24" name="num 4"/>
          <p:cNvSpPr/>
          <p:nvPr/>
        </p:nvSpPr>
        <p:spPr>
          <a:xfrm>
            <a:off x="731520" y="4023360"/>
            <a:ext cx="384048" cy="384048"/>
          </a:xfrm>
          <a:prstGeom prst="ellipse">
            <a:avLst/>
          </a:prstGeom>
          <a:solidFill>
            <a:srgbClr val="2F7F6B"/>
          </a:solidFill>
          <a:ln w="12700">
            <a:solidFill>
              <a:srgbClr val="2F7F6B"/>
            </a:solidFill>
            <a:prstDash val="solid"/>
          </a:ln>
        </p:spPr>
      </p:sp>
      <p:sp>
        <p:nvSpPr>
          <p:cNvPr id="25" name="Text 23"/>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27" name="Text 25"/>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Review the evidence</a:t>
            </a:r>
            <a:endParaRPr lang="en-US" sz="1600" dirty="0"/>
          </a:p>
        </p:txBody>
      </p:sp>
      <p:sp>
        <p:nvSpPr>
          <p:cNvPr id="28" name="Text 26"/>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compare the ID with what was entered, then verify or reject it. Nothing moves on until it is verified.</a:t>
            </a:r>
            <a:endParaRPr lang="en-US" sz="1400" dirty="0"/>
          </a:p>
        </p:txBody>
      </p:sp>
      <p:sp>
        <p:nvSpPr>
          <p:cNvPr id="29" name="card Training and approval"/>
          <p:cNvSpPr/>
          <p:nvPr/>
        </p:nvSpPr>
        <p:spPr>
          <a:xfrm>
            <a:off x="4297680" y="3840480"/>
            <a:ext cx="3566160" cy="2331720"/>
          </a:xfrm>
          <a:prstGeom prst="roundRect">
            <a:avLst>
              <a:gd name="adj" fmla="val 3922"/>
            </a:avLst>
          </a:prstGeom>
          <a:solidFill>
            <a:srgbClr val="E2F1EC"/>
          </a:solidFill>
          <a:ln w="12700">
            <a:solidFill>
              <a:srgbClr val="2F7F6B"/>
            </a:solidFill>
            <a:prstDash val="solid"/>
          </a:ln>
        </p:spPr>
      </p:sp>
      <p:sp>
        <p:nvSpPr>
          <p:cNvPr id="30" name="num 5"/>
          <p:cNvSpPr/>
          <p:nvPr/>
        </p:nvSpPr>
        <p:spPr>
          <a:xfrm>
            <a:off x="4480560" y="4023360"/>
            <a:ext cx="384048" cy="384048"/>
          </a:xfrm>
          <a:prstGeom prst="ellipse">
            <a:avLst/>
          </a:prstGeom>
          <a:solidFill>
            <a:srgbClr val="2F7F6B"/>
          </a:solidFill>
          <a:ln w="12700">
            <a:solidFill>
              <a:srgbClr val="2F7F6B"/>
            </a:solidFill>
            <a:prstDash val="solid"/>
          </a:ln>
        </p:spPr>
      </p:sp>
      <p:sp>
        <p:nvSpPr>
          <p:cNvPr id="31" name="Text 29"/>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33" name="Text 31"/>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Training and approval</a:t>
            </a:r>
            <a:endParaRPr lang="en-US" sz="1600" dirty="0"/>
          </a:p>
        </p:txBody>
      </p:sp>
      <p:sp>
        <p:nvSpPr>
          <p:cNvPr id="34" name="Text 32"/>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An administrator confirms the training, then staff approve. Blacklist, compliance and the confirmation are checked.</a:t>
            </a:r>
            <a:endParaRPr lang="en-US" sz="1400" dirty="0"/>
          </a:p>
        </p:txBody>
      </p:sp>
      <p:sp>
        <p:nvSpPr>
          <p:cNvPr id="35" name="card Set times, issue QR"/>
          <p:cNvSpPr/>
          <p:nvPr/>
        </p:nvSpPr>
        <p:spPr>
          <a:xfrm>
            <a:off x="8046720" y="3840480"/>
            <a:ext cx="3566160" cy="2331720"/>
          </a:xfrm>
          <a:prstGeom prst="roundRect">
            <a:avLst>
              <a:gd name="adj" fmla="val 3922"/>
            </a:avLst>
          </a:prstGeom>
          <a:solidFill>
            <a:srgbClr val="ECEEF2"/>
          </a:solidFill>
          <a:ln w="12700">
            <a:solidFill>
              <a:srgbClr val="6B7482"/>
            </a:solidFill>
            <a:prstDash val="solid"/>
          </a:ln>
        </p:spPr>
      </p:sp>
      <p:sp>
        <p:nvSpPr>
          <p:cNvPr id="36" name="num 6"/>
          <p:cNvSpPr/>
          <p:nvPr/>
        </p:nvSpPr>
        <p:spPr>
          <a:xfrm>
            <a:off x="8229600" y="4023360"/>
            <a:ext cx="384048" cy="384048"/>
          </a:xfrm>
          <a:prstGeom prst="ellipse">
            <a:avLst/>
          </a:prstGeom>
          <a:solidFill>
            <a:srgbClr val="6B7482"/>
          </a:solidFill>
          <a:ln w="12700">
            <a:solidFill>
              <a:srgbClr val="6B7482"/>
            </a:solidFill>
            <a:prstDash val="solid"/>
          </a:ln>
        </p:spPr>
      </p:sp>
      <p:sp>
        <p:nvSpPr>
          <p:cNvPr id="37" name="Text 35"/>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873252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9" name="Text 37"/>
          <p:cNvSpPr txBox="1"/>
          <p:nvPr/>
        </p:nvSpPr>
        <p:spPr>
          <a:xfrm>
            <a:off x="873252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Set times, issue QR</a:t>
            </a:r>
            <a:endParaRPr lang="en-US" sz="1600" dirty="0"/>
          </a:p>
        </p:txBody>
      </p:sp>
      <p:sp>
        <p:nvSpPr>
          <p:cNvPr id="40" name="Text 38"/>
          <p:cNvSpPr txBox="1"/>
          <p:nvPr/>
        </p:nvSpPr>
        <p:spPr>
          <a:xfrm>
            <a:off x="873252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Staff set when the QR opens and stops, within the visit and the site's longest allowed time. It is emailed with both times.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unexpected arrival, new in v2</a:t>
            </a:r>
            <a:endParaRPr lang="en-US" sz="3200" dirty="0"/>
          </a:p>
        </p:txBody>
      </p:sp>
      <p:sp>
        <p:nvSpPr>
          <p:cNvPr id="3" name="card Scan the entrance sign"/>
          <p:cNvSpPr/>
          <p:nvPr/>
        </p:nvSpPr>
        <p:spPr>
          <a:xfrm>
            <a:off x="548640" y="1325880"/>
            <a:ext cx="3566160" cy="2331720"/>
          </a:xfrm>
          <a:prstGeom prst="roundRect">
            <a:avLst>
              <a:gd name="adj" fmla="val 3922"/>
            </a:avLst>
          </a:prstGeom>
          <a:solidFill>
            <a:srgbClr val="ECE9FA"/>
          </a:solidFill>
          <a:ln w="12700">
            <a:solidFill>
              <a:srgbClr val="6A5BC2"/>
            </a:solidFill>
            <a:prstDash val="solid"/>
          </a:ln>
        </p:spPr>
      </p:sp>
      <p:sp>
        <p:nvSpPr>
          <p:cNvPr id="4" name="num 1"/>
          <p:cNvSpPr/>
          <p:nvPr/>
        </p:nvSpPr>
        <p:spPr>
          <a:xfrm>
            <a:off x="731520" y="1508760"/>
            <a:ext cx="384048" cy="384048"/>
          </a:xfrm>
          <a:prstGeom prst="ellipse">
            <a:avLst/>
          </a:prstGeom>
          <a:solidFill>
            <a:srgbClr val="6A5BC2"/>
          </a:solidFill>
          <a:ln w="12700">
            <a:solidFill>
              <a:srgbClr val="6A5BC2"/>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Scan the entrance sign</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A fixed QR at the entrance opens the registration page. No app and no invitation are needed.</a:t>
            </a:r>
            <a:endParaRPr lang="en-US" sz="1400" dirty="0"/>
          </a:p>
        </p:txBody>
      </p:sp>
      <p:sp>
        <p:nvSpPr>
          <p:cNvPr id="9" name="card Fill in the form"/>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Fill in the form</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First name, last name, company, email and one of six categories, the same as an invitation.</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Text 17"/>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0" name="Text 18"/>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same rules and tick box as Path A, in English or Dutch. Wording, version and time are stored.</a:t>
            </a:r>
            <a:endParaRPr lang="en-US" sz="1400" dirty="0"/>
          </a:p>
        </p:txBody>
      </p:sp>
      <p:sp>
        <p:nvSpPr>
          <p:cNvPr id="21" name="card Check the email address"/>
          <p:cNvSpPr/>
          <p:nvPr/>
        </p:nvSpPr>
        <p:spPr>
          <a:xfrm>
            <a:off x="548640" y="3840480"/>
            <a:ext cx="3566160" cy="2331720"/>
          </a:xfrm>
          <a:prstGeom prst="roundRect">
            <a:avLst>
              <a:gd name="adj" fmla="val 3922"/>
            </a:avLst>
          </a:prstGeom>
          <a:solidFill>
            <a:srgbClr val="ECEEF2"/>
          </a:solidFill>
          <a:ln w="12700">
            <a:solidFill>
              <a:srgbClr val="6B7482"/>
            </a:solidFill>
            <a:prstDash val="solid"/>
          </a:ln>
        </p:spPr>
      </p:sp>
      <p:sp>
        <p:nvSpPr>
          <p:cNvPr id="22" name="num 4"/>
          <p:cNvSpPr/>
          <p:nvPr/>
        </p:nvSpPr>
        <p:spPr>
          <a:xfrm>
            <a:off x="731520" y="4023360"/>
            <a:ext cx="384048" cy="384048"/>
          </a:xfrm>
          <a:prstGeom prst="ellipse">
            <a:avLst/>
          </a:prstGeom>
          <a:solidFill>
            <a:srgbClr val="6B7482"/>
          </a:solidFill>
          <a:ln w="12700">
            <a:solidFill>
              <a:srgbClr val="6B7482"/>
            </a:solidFill>
            <a:prstDash val="solid"/>
          </a:ln>
        </p:spPr>
      </p:sp>
      <p:sp>
        <p:nvSpPr>
          <p:cNvPr id="23" name="Text 21"/>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25" name="Text 23"/>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email address</a:t>
            </a:r>
            <a:endParaRPr lang="en-US" sz="1600" dirty="0"/>
          </a:p>
        </p:txBody>
      </p:sp>
      <p:sp>
        <p:nvSpPr>
          <p:cNvPr id="26" name="Text 24"/>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6-digit code is emailed. Nothing is saved until it is entered.</a:t>
            </a:r>
            <a:endParaRPr lang="en-US" sz="1400" dirty="0"/>
          </a:p>
        </p:txBody>
      </p:sp>
      <p:sp>
        <p:nvSpPr>
          <p:cNvPr id="27" name="card Entry QR issued"/>
          <p:cNvSpPr/>
          <p:nvPr/>
        </p:nvSpPr>
        <p:spPr>
          <a:xfrm>
            <a:off x="4297680" y="3840480"/>
            <a:ext cx="3566160" cy="2331720"/>
          </a:xfrm>
          <a:prstGeom prst="roundRect">
            <a:avLst>
              <a:gd name="adj" fmla="val 3922"/>
            </a:avLst>
          </a:prstGeom>
          <a:solidFill>
            <a:srgbClr val="ECEEF2"/>
          </a:solidFill>
          <a:ln w="12700">
            <a:solidFill>
              <a:srgbClr val="6B7482"/>
            </a:solidFill>
            <a:prstDash val="solid"/>
          </a:ln>
        </p:spPr>
      </p:sp>
      <p:sp>
        <p:nvSpPr>
          <p:cNvPr id="28" name="num 5"/>
          <p:cNvSpPr/>
          <p:nvPr/>
        </p:nvSpPr>
        <p:spPr>
          <a:xfrm>
            <a:off x="4480560" y="4023360"/>
            <a:ext cx="384048" cy="384048"/>
          </a:xfrm>
          <a:prstGeom prst="ellipse">
            <a:avLst/>
          </a:prstGeom>
          <a:solidFill>
            <a:srgbClr val="6B7482"/>
          </a:solidFill>
          <a:ln w="12700">
            <a:solidFill>
              <a:srgbClr val="6B7482"/>
            </a:solidFill>
            <a:prstDash val="solid"/>
          </a:ln>
        </p:spPr>
      </p:sp>
      <p:sp>
        <p:nvSpPr>
          <p:cNvPr id="29" name="Text 27"/>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1" name="Text 29"/>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Entry QR issued</a:t>
            </a:r>
            <a:endParaRPr lang="en-US" sz="1600" dirty="0"/>
          </a:p>
        </p:txBody>
      </p:sp>
      <p:sp>
        <p:nvSpPr>
          <p:cNvPr id="32" name="Text 30"/>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The phone shows a QR, a reference and its entry and exit time. The site sets when it opens and how long it lasts.</a:t>
            </a:r>
            <a:endParaRPr lang="en-US" sz="1400" dirty="0"/>
          </a:p>
        </p:txBody>
      </p:sp>
      <p:sp>
        <p:nvSpPr>
          <p:cNvPr id="33" name="card Open for Renewi to decide"/>
          <p:cNvSpPr/>
          <p:nvPr/>
        </p:nvSpPr>
        <p:spPr>
          <a:xfrm>
            <a:off x="8046720" y="3840480"/>
            <a:ext cx="3566160" cy="2331720"/>
          </a:xfrm>
          <a:prstGeom prst="roundRect">
            <a:avLst>
              <a:gd name="adj" fmla="val 3922"/>
            </a:avLst>
          </a:prstGeom>
          <a:solidFill>
            <a:srgbClr val="FFFFFF"/>
          </a:solidFill>
          <a:ln w="12700">
            <a:solidFill>
              <a:srgbClr val="D85A30"/>
            </a:solidFill>
            <a:prstDash val="dash"/>
          </a:ln>
        </p:spPr>
      </p:sp>
      <p:sp>
        <p:nvSpPr>
          <p:cNvPr id="34" name="Text 32"/>
          <p:cNvSpPr txBox="1"/>
          <p:nvPr/>
        </p:nvSpPr>
        <p:spPr>
          <a:xfrm>
            <a:off x="8275320" y="3968496"/>
            <a:ext cx="3154680" cy="219456"/>
          </a:xfrm>
          <a:prstGeom prst="rect">
            <a:avLst/>
          </a:prstGeom>
          <a:noFill/>
          <a:ln/>
        </p:spPr>
        <p:txBody>
          <a:bodyPr wrap="square" lIns="0" tIns="0" rIns="0" bIns="0" rtlCol="0" anchor="ctr"/>
          <a:lstStyle/>
          <a:p>
            <a:pPr indent="0" marL="0">
              <a:buNone/>
            </a:pPr>
            <a:r>
              <a:rPr lang="en-US" sz="1100" b="1" spc="200" kern="0" dirty="0">
                <a:solidFill>
                  <a:srgbClr val="D85A30"/>
                </a:solidFill>
                <a:latin typeface="Calibri" pitchFamily="34" charset="0"/>
                <a:ea typeface="Calibri" pitchFamily="34" charset="-122"/>
                <a:cs typeface="Calibri" pitchFamily="34" charset="-120"/>
              </a:rPr>
              <a:t>OPEN QUESTION</a:t>
            </a:r>
            <a:endParaRPr lang="en-US" sz="1100" dirty="0"/>
          </a:p>
        </p:txBody>
      </p:sp>
      <p:sp>
        <p:nvSpPr>
          <p:cNvPr id="35" name="Text 33"/>
          <p:cNvSpPr txBox="1"/>
          <p:nvPr/>
        </p:nvSpPr>
        <p:spPr>
          <a:xfrm>
            <a:off x="8275320" y="4224528"/>
            <a:ext cx="3154680" cy="365760"/>
          </a:xfrm>
          <a:prstGeom prst="rect">
            <a:avLst/>
          </a:prstGeom>
          <a:noFill/>
          <a:ln/>
        </p:spPr>
        <p:txBody>
          <a:bodyPr wrap="square" lIns="0" tIns="0" rIns="0" bIns="0" rtlCol="0" anchor="ctr"/>
          <a:lstStyle/>
          <a:p>
            <a:pPr indent="0" marL="0">
              <a:buNone/>
            </a:pPr>
            <a:r>
              <a:rPr lang="en-US" sz="1600" b="1" dirty="0">
                <a:solidFill>
                  <a:srgbClr val="8A2E10"/>
                </a:solidFill>
                <a:latin typeface="Calibri" pitchFamily="34" charset="0"/>
                <a:ea typeface="Calibri" pitchFamily="34" charset="-122"/>
                <a:cs typeface="Calibri" pitchFamily="34" charset="-120"/>
              </a:rPr>
              <a:t>Open for Renewi to decide</a:t>
            </a:r>
            <a:endParaRPr lang="en-US" sz="1600" dirty="0"/>
          </a:p>
        </p:txBody>
      </p:sp>
      <p:sp>
        <p:nvSpPr>
          <p:cNvPr id="36" name="Text 34"/>
          <p:cNvSpPr txBox="1"/>
          <p:nvPr/>
        </p:nvSpPr>
        <p:spPr>
          <a:xfrm>
            <a:off x="8275320" y="4626864"/>
            <a:ext cx="3154680" cy="1463040"/>
          </a:xfrm>
          <a:prstGeom prst="rect">
            <a:avLst/>
          </a:prstGeom>
          <a:noFill/>
          <a:ln/>
        </p:spPr>
        <p:txBody>
          <a:bodyPr wrap="square" lIns="0" tIns="0" rIns="0" bIns="0" rtlCol="0" anchor="t"/>
          <a:lstStyle/>
          <a:p>
            <a:pPr indent="0" marL="0">
              <a:buNone/>
            </a:pPr>
            <a:r>
              <a:rPr lang="en-US" sz="1400" dirty="0">
                <a:solidFill>
                  <a:srgbClr val="8A2E10"/>
                </a:solidFill>
                <a:latin typeface="Calibri" pitchFamily="34" charset="0"/>
                <a:ea typeface="Calibri" pitchFamily="34" charset="-122"/>
                <a:cs typeface="Calibri" pitchFamily="34" charset="-120"/>
              </a:rPr>
              <a:t>Who may use Path B, and how do we know they are expected? Today the officer's own judgment is the only check.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email check and entry QR work</a:t>
            </a:r>
            <a:endParaRPr lang="en-US" sz="3200" dirty="0"/>
          </a:p>
        </p:txBody>
      </p:sp>
      <p:sp>
        <p:nvSpPr>
          <p:cNvPr id="3" name="Shape 1"/>
          <p:cNvSpPr/>
          <p:nvPr/>
        </p:nvSpPr>
        <p:spPr>
          <a:xfrm>
            <a:off x="548640" y="1280160"/>
            <a:ext cx="2651760" cy="1554480"/>
          </a:xfrm>
          <a:prstGeom prst="roundRect">
            <a:avLst>
              <a:gd name="adj" fmla="val 5882"/>
            </a:avLst>
          </a:prstGeom>
          <a:solidFill>
            <a:srgbClr val="ECEEF2"/>
          </a:solidFill>
          <a:ln w="12700">
            <a:solidFill>
              <a:srgbClr val="6B7482"/>
            </a:solidFill>
            <a:prstDash val="solid"/>
          </a:ln>
        </p:spPr>
      </p:sp>
      <p:sp>
        <p:nvSpPr>
          <p:cNvPr id="4" name="Text 2"/>
          <p:cNvSpPr txBox="1"/>
          <p:nvPr/>
        </p:nvSpPr>
        <p:spPr>
          <a:xfrm>
            <a:off x="548640"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10 min</a:t>
            </a:r>
            <a:endParaRPr lang="en-US" sz="4400" dirty="0"/>
          </a:p>
        </p:txBody>
      </p:sp>
      <p:sp>
        <p:nvSpPr>
          <p:cNvPr id="5" name="Text 3"/>
          <p:cNvSpPr txBox="1"/>
          <p:nvPr/>
        </p:nvSpPr>
        <p:spPr>
          <a:xfrm>
            <a:off x="548640"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code is valid</a:t>
            </a:r>
            <a:endParaRPr lang="en-US" sz="1600" dirty="0"/>
          </a:p>
        </p:txBody>
      </p:sp>
      <p:sp>
        <p:nvSpPr>
          <p:cNvPr id="6" name="Shape 4"/>
          <p:cNvSpPr/>
          <p:nvPr/>
        </p:nvSpPr>
        <p:spPr>
          <a:xfrm>
            <a:off x="3364992" y="1280160"/>
            <a:ext cx="2651760" cy="1554480"/>
          </a:xfrm>
          <a:prstGeom prst="roundRect">
            <a:avLst>
              <a:gd name="adj" fmla="val 5882"/>
            </a:avLst>
          </a:prstGeom>
          <a:solidFill>
            <a:srgbClr val="ECEEF2"/>
          </a:solidFill>
          <a:ln w="12700">
            <a:solidFill>
              <a:srgbClr val="6B7482"/>
            </a:solidFill>
            <a:prstDash val="solid"/>
          </a:ln>
        </p:spPr>
      </p:sp>
      <p:sp>
        <p:nvSpPr>
          <p:cNvPr id="7" name="Text 5"/>
          <p:cNvSpPr txBox="1"/>
          <p:nvPr/>
        </p:nvSpPr>
        <p:spPr>
          <a:xfrm>
            <a:off x="3364992"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5</a:t>
            </a:r>
            <a:endParaRPr lang="en-US" sz="4400" dirty="0"/>
          </a:p>
        </p:txBody>
      </p:sp>
      <p:sp>
        <p:nvSpPr>
          <p:cNvPr id="8" name="Text 6"/>
          <p:cNvSpPr txBox="1"/>
          <p:nvPr/>
        </p:nvSpPr>
        <p:spPr>
          <a:xfrm>
            <a:off x="3364992"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wrong tries allowed</a:t>
            </a:r>
            <a:endParaRPr lang="en-US" sz="1600" dirty="0"/>
          </a:p>
        </p:txBody>
      </p:sp>
      <p:sp>
        <p:nvSpPr>
          <p:cNvPr id="9" name="Shape 7"/>
          <p:cNvSpPr/>
          <p:nvPr/>
        </p:nvSpPr>
        <p:spPr>
          <a:xfrm>
            <a:off x="6181344" y="1280160"/>
            <a:ext cx="2651760" cy="1554480"/>
          </a:xfrm>
          <a:prstGeom prst="roundRect">
            <a:avLst>
              <a:gd name="adj" fmla="val 5882"/>
            </a:avLst>
          </a:prstGeom>
          <a:solidFill>
            <a:srgbClr val="ECEEF2"/>
          </a:solidFill>
          <a:ln w="12700">
            <a:solidFill>
              <a:srgbClr val="6B7482"/>
            </a:solidFill>
            <a:prstDash val="solid"/>
          </a:ln>
        </p:spPr>
      </p:sp>
      <p:sp>
        <p:nvSpPr>
          <p:cNvPr id="10" name="Text 8"/>
          <p:cNvSpPr txBox="1"/>
          <p:nvPr/>
        </p:nvSpPr>
        <p:spPr>
          <a:xfrm>
            <a:off x="6181344"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3</a:t>
            </a:r>
            <a:endParaRPr lang="en-US" sz="4400" dirty="0"/>
          </a:p>
        </p:txBody>
      </p:sp>
      <p:sp>
        <p:nvSpPr>
          <p:cNvPr id="11" name="Text 9"/>
          <p:cNvSpPr txBox="1"/>
          <p:nvPr/>
        </p:nvSpPr>
        <p:spPr>
          <a:xfrm>
            <a:off x="6181344"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sends per registration</a:t>
            </a:r>
            <a:endParaRPr lang="en-US" sz="1600" dirty="0"/>
          </a:p>
        </p:txBody>
      </p:sp>
      <p:sp>
        <p:nvSpPr>
          <p:cNvPr id="12" name="Shape 10"/>
          <p:cNvSpPr/>
          <p:nvPr/>
        </p:nvSpPr>
        <p:spPr>
          <a:xfrm>
            <a:off x="8997696" y="1280160"/>
            <a:ext cx="2651760" cy="1554480"/>
          </a:xfrm>
          <a:prstGeom prst="roundRect">
            <a:avLst>
              <a:gd name="adj" fmla="val 5882"/>
            </a:avLst>
          </a:prstGeom>
          <a:solidFill>
            <a:srgbClr val="ECEEF2"/>
          </a:solidFill>
          <a:ln w="12700">
            <a:solidFill>
              <a:srgbClr val="6B7482"/>
            </a:solidFill>
            <a:prstDash val="solid"/>
          </a:ln>
        </p:spPr>
      </p:sp>
      <p:sp>
        <p:nvSpPr>
          <p:cNvPr id="13" name="Text 11"/>
          <p:cNvSpPr txBox="1"/>
          <p:nvPr/>
        </p:nvSpPr>
        <p:spPr>
          <a:xfrm>
            <a:off x="8997696"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 to 72 h</a:t>
            </a:r>
            <a:endParaRPr lang="en-US" sz="4400" dirty="0"/>
          </a:p>
        </p:txBody>
      </p:sp>
      <p:sp>
        <p:nvSpPr>
          <p:cNvPr id="14" name="Text 12"/>
          <p:cNvSpPr txBox="1"/>
          <p:nvPr/>
        </p:nvSpPr>
        <p:spPr>
          <a:xfrm>
            <a:off x="8997696"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QR validity, set per site</a:t>
            </a:r>
            <a:endParaRPr lang="en-US" sz="1600" dirty="0"/>
          </a:p>
        </p:txBody>
      </p:sp>
      <p:sp>
        <p:nvSpPr>
          <p:cNvPr id="15" name="Text 13"/>
          <p:cNvSpPr txBox="1"/>
          <p:nvPr/>
        </p:nvSpPr>
        <p:spPr>
          <a:xfrm>
            <a:off x="548640" y="3200400"/>
            <a:ext cx="1106424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Nothing is saved as a person until the code is entered, so typing someone else's email creates no record.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30-second wait applies between resends, and each email address is limited to 5 codes an hour.</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The entry QR carries the reference and a secret. The server keeps only a hash of the secret.</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If the phone cannot be scanned, the officer types the 8-character reference instead.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person who has left must register again to come back in.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one kiosk, two panels</a:t>
            </a:r>
            <a:endParaRPr lang="en-US" sz="3200" dirty="0"/>
          </a:p>
        </p:txBody>
      </p:sp>
      <p:sp>
        <p:nvSpPr>
          <p:cNvPr id="3" name="card Read the code"/>
          <p:cNvSpPr/>
          <p:nvPr/>
        </p:nvSpPr>
        <p:spPr>
          <a:xfrm>
            <a:off x="548640" y="1325880"/>
            <a:ext cx="3566160" cy="2377440"/>
          </a:xfrm>
          <a:prstGeom prst="roundRect">
            <a:avLst>
              <a:gd name="adj" fmla="val 3846"/>
            </a:avLst>
          </a:prstGeom>
          <a:solidFill>
            <a:srgbClr val="FBEFD9"/>
          </a:solidFill>
          <a:ln w="12700">
            <a:solidFill>
              <a:srgbClr val="B7791F"/>
            </a:solidFill>
            <a:prstDash val="solid"/>
          </a:ln>
        </p:spPr>
      </p:sp>
      <p:sp>
        <p:nvSpPr>
          <p:cNvPr id="4" name="num 1"/>
          <p:cNvSpPr/>
          <p:nvPr/>
        </p:nvSpPr>
        <p:spPr>
          <a:xfrm>
            <a:off x="731520" y="1508760"/>
            <a:ext cx="384048" cy="384048"/>
          </a:xfrm>
          <a:prstGeom prst="ellipse">
            <a:avLst/>
          </a:prstGeom>
          <a:solidFill>
            <a:srgbClr val="B7791F"/>
          </a:solidFill>
          <a:ln w="12700">
            <a:solidFill>
              <a:srgbClr val="B7791F"/>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Read the code</a:t>
            </a:r>
            <a:endParaRPr lang="en-US" sz="1600" dirty="0"/>
          </a:p>
        </p:txBody>
      </p:sp>
      <p:sp>
        <p:nvSpPr>
          <p:cNvPr id="8" name="Text 6"/>
          <p:cNvSpPr txBox="1"/>
          <p:nvPr/>
        </p:nvSpPr>
        <p:spPr>
          <a:xfrm>
            <a:off x="123444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Path A: upload the access QR in the lower panel. Path B: scan the entry QR or type the reference in the top panel.</a:t>
            </a:r>
            <a:endParaRPr lang="en-US" sz="1400" dirty="0"/>
          </a:p>
        </p:txBody>
      </p:sp>
      <p:sp>
        <p:nvSpPr>
          <p:cNvPr id="9" name="card Check the records"/>
          <p:cNvSpPr/>
          <p:nvPr/>
        </p:nvSpPr>
        <p:spPr>
          <a:xfrm>
            <a:off x="4297680" y="1325880"/>
            <a:ext cx="3566160" cy="2377440"/>
          </a:xfrm>
          <a:prstGeom prst="roundRect">
            <a:avLst>
              <a:gd name="adj" fmla="val 3846"/>
            </a:avLst>
          </a:prstGeom>
          <a:solidFill>
            <a:srgbClr val="ECEEF2"/>
          </a:solidFill>
          <a:ln w="12700">
            <a:solidFill>
              <a:srgbClr val="6B7482"/>
            </a:solidFill>
            <a:prstDash val="solid"/>
          </a:ln>
        </p:spPr>
      </p:sp>
      <p:sp>
        <p:nvSpPr>
          <p:cNvPr id="10" name="num 2"/>
          <p:cNvSpPr/>
          <p:nvPr/>
        </p:nvSpPr>
        <p:spPr>
          <a:xfrm>
            <a:off x="4480560" y="1508760"/>
            <a:ext cx="384048" cy="384048"/>
          </a:xfrm>
          <a:prstGeom prst="ellipse">
            <a:avLst/>
          </a:prstGeom>
          <a:solidFill>
            <a:srgbClr val="6B7482"/>
          </a:solidFill>
          <a:ln w="12700">
            <a:solidFill>
              <a:srgbClr val="6B748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13" name="Shape 11"/>
          <p:cNvSpPr/>
          <p:nvPr/>
        </p:nvSpPr>
        <p:spPr>
          <a:xfrm>
            <a:off x="6766560" y="1435608"/>
            <a:ext cx="914400" cy="237744"/>
          </a:xfrm>
          <a:prstGeom prst="roundRect">
            <a:avLst>
              <a:gd name="adj" fmla="val 50000"/>
            </a:avLst>
          </a:prstGeom>
          <a:solidFill>
            <a:srgbClr val="FFE3D8"/>
          </a:solidFill>
          <a:ln w="9525">
            <a:solidFill>
              <a:srgbClr val="D85A30"/>
            </a:solidFill>
            <a:prstDash val="solid"/>
          </a:ln>
        </p:spPr>
      </p:sp>
      <p:sp>
        <p:nvSpPr>
          <p:cNvPr id="14" name="Text 12"/>
          <p:cNvSpPr txBox="1"/>
          <p:nvPr/>
        </p:nvSpPr>
        <p:spPr>
          <a:xfrm>
            <a:off x="676656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15" name="Text 13"/>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records</a:t>
            </a:r>
            <a:endParaRPr lang="en-US" sz="1600" dirty="0"/>
          </a:p>
        </p:txBody>
      </p:sp>
      <p:sp>
        <p:nvSpPr>
          <p:cNvPr id="16" name="Text 14"/>
          <p:cNvSpPr txBox="1"/>
          <p:nvPr/>
        </p:nvSpPr>
        <p:spPr>
          <a:xfrm>
            <a:off x="4983480" y="2112264"/>
            <a:ext cx="2697480" cy="15087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Path A: ID verified, approval, visit window, blacklist, rules confirmed. Path B: rules current, not blocked, not already left.</a:t>
            </a:r>
            <a:endParaRPr lang="en-US" sz="1400" dirty="0"/>
          </a:p>
        </p:txBody>
      </p:sp>
      <p:sp>
        <p:nvSpPr>
          <p:cNvPr id="17" name="card Compare and decide"/>
          <p:cNvSpPr/>
          <p:nvPr/>
        </p:nvSpPr>
        <p:spPr>
          <a:xfrm>
            <a:off x="8046720" y="1325880"/>
            <a:ext cx="3566160" cy="2377440"/>
          </a:xfrm>
          <a:prstGeom prst="roundRect">
            <a:avLst>
              <a:gd name="adj" fmla="val 3846"/>
            </a:avLst>
          </a:prstGeom>
          <a:solidFill>
            <a:srgbClr val="FBEFD9"/>
          </a:solidFill>
          <a:ln w="12700">
            <a:solidFill>
              <a:srgbClr val="B7791F"/>
            </a:solidFill>
            <a:prstDash val="solid"/>
          </a:ln>
        </p:spPr>
      </p:sp>
      <p:sp>
        <p:nvSpPr>
          <p:cNvPr id="18" name="num 3"/>
          <p:cNvSpPr/>
          <p:nvPr/>
        </p:nvSpPr>
        <p:spPr>
          <a:xfrm>
            <a:off x="8229600" y="1508760"/>
            <a:ext cx="384048" cy="384048"/>
          </a:xfrm>
          <a:prstGeom prst="ellipse">
            <a:avLst/>
          </a:prstGeom>
          <a:solidFill>
            <a:srgbClr val="B7791F"/>
          </a:solidFill>
          <a:ln w="12700">
            <a:solidFill>
              <a:srgbClr val="B7791F"/>
            </a:solidFill>
            <a:prstDash val="solid"/>
          </a:ln>
        </p:spPr>
      </p:sp>
      <p:sp>
        <p:nvSpPr>
          <p:cNvPr id="19" name="Text 17"/>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Compare and decide</a:t>
            </a:r>
            <a:endParaRPr lang="en-US" sz="1600" dirty="0"/>
          </a:p>
        </p:txBody>
      </p:sp>
      <p:sp>
        <p:nvSpPr>
          <p:cNvPr id="22" name="Text 20"/>
          <p:cNvSpPr txBox="1"/>
          <p:nvPr/>
        </p:nvSpPr>
        <p:spPr>
          <a:xfrm>
            <a:off x="873252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looks at the person and the screen or ID, then presses Let in or Refuse entry.</a:t>
            </a:r>
            <a:endParaRPr lang="en-US" sz="1400" dirty="0"/>
          </a:p>
        </p:txBody>
      </p:sp>
      <p:sp>
        <p:nvSpPr>
          <p:cNvPr id="23" name="card Do not admit"/>
          <p:cNvSpPr/>
          <p:nvPr/>
        </p:nvSpPr>
        <p:spPr>
          <a:xfrm>
            <a:off x="548640" y="4023360"/>
            <a:ext cx="5440680" cy="2011680"/>
          </a:xfrm>
          <a:prstGeom prst="roundRect">
            <a:avLst>
              <a:gd name="adj" fmla="val 4545"/>
            </a:avLst>
          </a:prstGeom>
          <a:solidFill>
            <a:srgbClr val="FBE4E2"/>
          </a:solidFill>
          <a:ln w="12700">
            <a:solidFill>
              <a:srgbClr val="C0392B"/>
            </a:solidFill>
            <a:prstDash val="solid"/>
          </a:ln>
        </p:spPr>
      </p:sp>
      <p:sp>
        <p:nvSpPr>
          <p:cNvPr id="24" name="Text 22"/>
          <p:cNvSpPr txBox="1"/>
          <p:nvPr/>
        </p:nvSpPr>
        <p:spPr>
          <a:xfrm>
            <a:off x="777240"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5" name="Text 23"/>
          <p:cNvSpPr txBox="1"/>
          <p:nvPr/>
        </p:nvSpPr>
        <p:spPr>
          <a:xfrm>
            <a:off x="777240"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Do not admit</a:t>
            </a:r>
            <a:endParaRPr lang="en-US" sz="1600" dirty="0"/>
          </a:p>
        </p:txBody>
      </p:sp>
      <p:sp>
        <p:nvSpPr>
          <p:cNvPr id="26" name="Text 24"/>
          <p:cNvSpPr txBox="1"/>
          <p:nvPr/>
        </p:nvSpPr>
        <p:spPr>
          <a:xfrm>
            <a:off x="777240"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records forbid entry. The reason is shown on screen and recorded in the audit trail.</a:t>
            </a:r>
            <a:endParaRPr lang="en-US" sz="1500" dirty="0"/>
          </a:p>
        </p:txBody>
      </p:sp>
      <p:sp>
        <p:nvSpPr>
          <p:cNvPr id="27" name="card Officer refuses entry"/>
          <p:cNvSpPr/>
          <p:nvPr/>
        </p:nvSpPr>
        <p:spPr>
          <a:xfrm>
            <a:off x="6199632" y="4023360"/>
            <a:ext cx="5440680" cy="2011680"/>
          </a:xfrm>
          <a:prstGeom prst="roundRect">
            <a:avLst>
              <a:gd name="adj" fmla="val 4545"/>
            </a:avLst>
          </a:prstGeom>
          <a:solidFill>
            <a:srgbClr val="FBE4E2"/>
          </a:solidFill>
          <a:ln w="12700">
            <a:solidFill>
              <a:srgbClr val="C0392B"/>
            </a:solidFill>
            <a:prstDash val="solid"/>
          </a:ln>
        </p:spPr>
      </p:sp>
      <p:sp>
        <p:nvSpPr>
          <p:cNvPr id="28" name="Text 26"/>
          <p:cNvSpPr txBox="1"/>
          <p:nvPr/>
        </p:nvSpPr>
        <p:spPr>
          <a:xfrm>
            <a:off x="6428232"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9" name="Text 27"/>
          <p:cNvSpPr txBox="1"/>
          <p:nvPr/>
        </p:nvSpPr>
        <p:spPr>
          <a:xfrm>
            <a:off x="6428232"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Officer refuses entry</a:t>
            </a:r>
            <a:endParaRPr lang="en-US" sz="1600" dirty="0"/>
          </a:p>
        </p:txBody>
      </p:sp>
      <p:sp>
        <p:nvSpPr>
          <p:cNvPr id="30" name="Text 28"/>
          <p:cNvSpPr txBox="1"/>
          <p:nvPr/>
        </p:nvSpPr>
        <p:spPr>
          <a:xfrm>
            <a:off x="6428232"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person does not match their ID, or nobody can confirm they are expected. The reason is recorded. A refusal does not lock the person out.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 site, exit and the audit trail</a:t>
            </a:r>
            <a:endParaRPr lang="en-US" sz="3200" dirty="0"/>
          </a:p>
        </p:txBody>
      </p:sp>
      <p:sp>
        <p:nvSpPr>
          <p:cNvPr id="3" name="card Who is on site"/>
          <p:cNvSpPr/>
          <p:nvPr/>
        </p:nvSpPr>
        <p:spPr>
          <a:xfrm>
            <a:off x="548640" y="1325880"/>
            <a:ext cx="3566160" cy="2148840"/>
          </a:xfrm>
          <a:prstGeom prst="roundRect">
            <a:avLst>
              <a:gd name="adj" fmla="val 4255"/>
            </a:avLst>
          </a:prstGeom>
          <a:solidFill>
            <a:srgbClr val="ECEEF2"/>
          </a:solidFill>
          <a:ln w="12700">
            <a:solidFill>
              <a:srgbClr val="6B7482"/>
            </a:solidFill>
            <a:prstDash val="solid"/>
          </a:ln>
        </p:spPr>
      </p:sp>
      <p:sp>
        <p:nvSpPr>
          <p:cNvPr id="4" name="Text 2"/>
          <p:cNvSpPr txBox="1"/>
          <p:nvPr/>
        </p:nvSpPr>
        <p:spPr>
          <a:xfrm>
            <a:off x="777240" y="1453896"/>
            <a:ext cx="31546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777240" y="1709928"/>
            <a:ext cx="31546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Who is on site</a:t>
            </a:r>
            <a:endParaRPr lang="en-US" sz="1600" dirty="0"/>
          </a:p>
        </p:txBody>
      </p:sp>
      <p:sp>
        <p:nvSpPr>
          <p:cNvPr id="6" name="Text 4"/>
          <p:cNvSpPr txBox="1"/>
          <p:nvPr/>
        </p:nvSpPr>
        <p:spPr>
          <a:xfrm>
            <a:off x="777240" y="2112264"/>
            <a:ext cx="31546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One roster and one set of dashboard counts cover both paths. Walk-up people are marked as walk-up arrivals.</a:t>
            </a:r>
            <a:endParaRPr lang="en-US" sz="1400" dirty="0"/>
          </a:p>
        </p:txBody>
      </p:sp>
      <p:sp>
        <p:nvSpPr>
          <p:cNvPr id="7" name="card Record exit"/>
          <p:cNvSpPr/>
          <p:nvPr/>
        </p:nvSpPr>
        <p:spPr>
          <a:xfrm>
            <a:off x="4297680" y="1325880"/>
            <a:ext cx="3566160" cy="2148840"/>
          </a:xfrm>
          <a:prstGeom prst="roundRect">
            <a:avLst>
              <a:gd name="adj" fmla="val 4255"/>
            </a:avLst>
          </a:prstGeom>
          <a:solidFill>
            <a:srgbClr val="FBEFD9"/>
          </a:solidFill>
          <a:ln w="12700">
            <a:solidFill>
              <a:srgbClr val="B7791F"/>
            </a:solidFill>
            <a:prstDash val="solid"/>
          </a:ln>
        </p:spPr>
      </p:sp>
      <p:sp>
        <p:nvSpPr>
          <p:cNvPr id="8" name="Text 6"/>
          <p:cNvSpPr txBox="1"/>
          <p:nvPr/>
        </p:nvSpPr>
        <p:spPr>
          <a:xfrm>
            <a:off x="4526280" y="1453896"/>
            <a:ext cx="31546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9" name="Text 7"/>
          <p:cNvSpPr txBox="1"/>
          <p:nvPr/>
        </p:nvSpPr>
        <p:spPr>
          <a:xfrm>
            <a:off x="4526280" y="1709928"/>
            <a:ext cx="31546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Record exit</a:t>
            </a:r>
            <a:endParaRPr lang="en-US" sz="1600" dirty="0"/>
          </a:p>
        </p:txBody>
      </p:sp>
      <p:sp>
        <p:nvSpPr>
          <p:cNvPr id="10" name="Text 8"/>
          <p:cNvSpPr txBox="1"/>
          <p:nvPr/>
        </p:nvSpPr>
        <p:spPr>
          <a:xfrm>
            <a:off x="4526280" y="2112264"/>
            <a:ext cx="31546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presses Record exit when the person leaves. Counts update and entry and exit times stay on record.</a:t>
            </a:r>
            <a:endParaRPr lang="en-US" sz="1400" dirty="0"/>
          </a:p>
        </p:txBody>
      </p:sp>
      <p:sp>
        <p:nvSpPr>
          <p:cNvPr id="11" name="card Renewals"/>
          <p:cNvSpPr/>
          <p:nvPr/>
        </p:nvSpPr>
        <p:spPr>
          <a:xfrm>
            <a:off x="8046720" y="1325880"/>
            <a:ext cx="3566160" cy="2148840"/>
          </a:xfrm>
          <a:prstGeom prst="roundRect">
            <a:avLst>
              <a:gd name="adj" fmla="val 4255"/>
            </a:avLst>
          </a:prstGeom>
          <a:solidFill>
            <a:srgbClr val="E2F1EC"/>
          </a:solidFill>
          <a:ln w="12700">
            <a:solidFill>
              <a:srgbClr val="2F7F6B"/>
            </a:solidFill>
            <a:prstDash val="solid"/>
          </a:ln>
        </p:spPr>
      </p:sp>
      <p:sp>
        <p:nvSpPr>
          <p:cNvPr id="12" name="Text 10"/>
          <p:cNvSpPr txBox="1"/>
          <p:nvPr/>
        </p:nvSpPr>
        <p:spPr>
          <a:xfrm>
            <a:off x="8275320" y="1453896"/>
            <a:ext cx="31546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13" name="Text 11"/>
          <p:cNvSpPr txBox="1"/>
          <p:nvPr/>
        </p:nvSpPr>
        <p:spPr>
          <a:xfrm>
            <a:off x="8275320" y="1709928"/>
            <a:ext cx="31546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Renewals</a:t>
            </a:r>
            <a:endParaRPr lang="en-US" sz="1600" dirty="0"/>
          </a:p>
        </p:txBody>
      </p:sp>
      <p:sp>
        <p:nvSpPr>
          <p:cNvPr id="14" name="Text 12"/>
          <p:cNvSpPr txBox="1"/>
          <p:nvPr/>
        </p:nvSpPr>
        <p:spPr>
          <a:xfrm>
            <a:off x="8275320" y="2112264"/>
            <a:ext cx="3154680" cy="128016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Expiring IDs are flagged and re-verified for Path A. A walk-up person who has left registers again.</a:t>
            </a:r>
            <a:endParaRPr lang="en-US" sz="1400" dirty="0"/>
          </a:p>
        </p:txBody>
      </p:sp>
      <p:sp>
        <p:nvSpPr>
          <p:cNvPr id="15" name="Text 13"/>
          <p:cNvSpPr txBox="1"/>
          <p:nvPr/>
        </p:nvSpPr>
        <p:spPr>
          <a:xfrm>
            <a:off x="548640" y="3749040"/>
            <a:ext cx="10972800" cy="411480"/>
          </a:xfrm>
          <a:prstGeom prst="rect">
            <a:avLst/>
          </a:prstGeom>
          <a:noFill/>
          <a:ln/>
        </p:spPr>
        <p:txBody>
          <a:bodyPr wrap="square" lIns="0" tIns="0" rIns="0" bIns="0" rtlCol="0" anchor="ctr"/>
          <a:lstStyle/>
          <a:p>
            <a:pPr indent="0" marL="0">
              <a:buNone/>
            </a:pPr>
            <a:r>
              <a:rPr lang="en-US" sz="2000" b="1" dirty="0">
                <a:solidFill>
                  <a:srgbClr val="D85A30"/>
                </a:solidFill>
                <a:latin typeface="Calibri" pitchFamily="34" charset="0"/>
                <a:ea typeface="Calibri" pitchFamily="34" charset="-122"/>
                <a:cs typeface="Calibri" pitchFamily="34" charset="-120"/>
              </a:rPr>
              <a:t>Everything is recorded in the audit trail</a:t>
            </a:r>
            <a:endParaRPr lang="en-US" sz="2000" dirty="0"/>
          </a:p>
        </p:txBody>
      </p:sp>
      <p:sp>
        <p:nvSpPr>
          <p:cNvPr id="16" name="Shape 14"/>
          <p:cNvSpPr/>
          <p:nvPr/>
        </p:nvSpPr>
        <p:spPr>
          <a:xfrm>
            <a:off x="548640" y="4343400"/>
            <a:ext cx="1737360" cy="685800"/>
          </a:xfrm>
          <a:prstGeom prst="roundRect">
            <a:avLst>
              <a:gd name="adj" fmla="val 13333"/>
            </a:avLst>
          </a:prstGeom>
          <a:solidFill>
            <a:srgbClr val="ECEEF2"/>
          </a:solidFill>
          <a:ln w="12700">
            <a:solidFill>
              <a:srgbClr val="6B7482"/>
            </a:solidFill>
            <a:prstDash val="solid"/>
          </a:ln>
        </p:spPr>
      </p:sp>
      <p:sp>
        <p:nvSpPr>
          <p:cNvPr id="17" name="Text 15"/>
          <p:cNvSpPr txBox="1"/>
          <p:nvPr/>
        </p:nvSpPr>
        <p:spPr>
          <a:xfrm>
            <a:off x="54864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Registered</a:t>
            </a:r>
            <a:endParaRPr lang="en-US" sz="1500" dirty="0"/>
          </a:p>
        </p:txBody>
      </p:sp>
      <p:sp>
        <p:nvSpPr>
          <p:cNvPr id="18" name="Shape 16"/>
          <p:cNvSpPr/>
          <p:nvPr/>
        </p:nvSpPr>
        <p:spPr>
          <a:xfrm>
            <a:off x="2404872" y="4343400"/>
            <a:ext cx="1737360" cy="685800"/>
          </a:xfrm>
          <a:prstGeom prst="roundRect">
            <a:avLst>
              <a:gd name="adj" fmla="val 13333"/>
            </a:avLst>
          </a:prstGeom>
          <a:solidFill>
            <a:srgbClr val="ECEEF2"/>
          </a:solidFill>
          <a:ln w="12700">
            <a:solidFill>
              <a:srgbClr val="6B7482"/>
            </a:solidFill>
            <a:prstDash val="solid"/>
          </a:ln>
        </p:spPr>
      </p:sp>
      <p:sp>
        <p:nvSpPr>
          <p:cNvPr id="19" name="Text 17"/>
          <p:cNvSpPr txBox="1"/>
          <p:nvPr/>
        </p:nvSpPr>
        <p:spPr>
          <a:xfrm>
            <a:off x="2404872"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Rules confirmed</a:t>
            </a:r>
            <a:endParaRPr lang="en-US" sz="1500" dirty="0"/>
          </a:p>
        </p:txBody>
      </p:sp>
      <p:sp>
        <p:nvSpPr>
          <p:cNvPr id="20" name="Shape 18"/>
          <p:cNvSpPr/>
          <p:nvPr/>
        </p:nvSpPr>
        <p:spPr>
          <a:xfrm>
            <a:off x="4261104" y="4343400"/>
            <a:ext cx="1737360" cy="685800"/>
          </a:xfrm>
          <a:prstGeom prst="roundRect">
            <a:avLst>
              <a:gd name="adj" fmla="val 13333"/>
            </a:avLst>
          </a:prstGeom>
          <a:solidFill>
            <a:srgbClr val="ECEEF2"/>
          </a:solidFill>
          <a:ln w="12700">
            <a:solidFill>
              <a:srgbClr val="6B7482"/>
            </a:solidFill>
            <a:prstDash val="solid"/>
          </a:ln>
        </p:spPr>
      </p:sp>
      <p:sp>
        <p:nvSpPr>
          <p:cNvPr id="21" name="Text 19"/>
          <p:cNvSpPr txBox="1"/>
          <p:nvPr/>
        </p:nvSpPr>
        <p:spPr>
          <a:xfrm>
            <a:off x="4261104"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Kiosk check</a:t>
            </a:r>
            <a:endParaRPr lang="en-US" sz="1500" dirty="0"/>
          </a:p>
        </p:txBody>
      </p:sp>
      <p:sp>
        <p:nvSpPr>
          <p:cNvPr id="22" name="Shape 20"/>
          <p:cNvSpPr/>
          <p:nvPr/>
        </p:nvSpPr>
        <p:spPr>
          <a:xfrm>
            <a:off x="6117336" y="4343400"/>
            <a:ext cx="1737360" cy="685800"/>
          </a:xfrm>
          <a:prstGeom prst="roundRect">
            <a:avLst>
              <a:gd name="adj" fmla="val 13333"/>
            </a:avLst>
          </a:prstGeom>
          <a:solidFill>
            <a:srgbClr val="ECEEF2"/>
          </a:solidFill>
          <a:ln w="12700">
            <a:solidFill>
              <a:srgbClr val="6B7482"/>
            </a:solidFill>
            <a:prstDash val="solid"/>
          </a:ln>
        </p:spPr>
      </p:sp>
      <p:sp>
        <p:nvSpPr>
          <p:cNvPr id="23" name="Text 21"/>
          <p:cNvSpPr txBox="1"/>
          <p:nvPr/>
        </p:nvSpPr>
        <p:spPr>
          <a:xfrm>
            <a:off x="6117336"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Admitted</a:t>
            </a:r>
            <a:endParaRPr lang="en-US" sz="1500" dirty="0"/>
          </a:p>
        </p:txBody>
      </p:sp>
      <p:sp>
        <p:nvSpPr>
          <p:cNvPr id="24" name="Shape 22"/>
          <p:cNvSpPr/>
          <p:nvPr/>
        </p:nvSpPr>
        <p:spPr>
          <a:xfrm>
            <a:off x="7973568" y="4343400"/>
            <a:ext cx="1737360" cy="685800"/>
          </a:xfrm>
          <a:prstGeom prst="roundRect">
            <a:avLst>
              <a:gd name="adj" fmla="val 13333"/>
            </a:avLst>
          </a:prstGeom>
          <a:solidFill>
            <a:srgbClr val="ECEEF2"/>
          </a:solidFill>
          <a:ln w="12700">
            <a:solidFill>
              <a:srgbClr val="6B7482"/>
            </a:solidFill>
            <a:prstDash val="solid"/>
          </a:ln>
        </p:spPr>
      </p:sp>
      <p:sp>
        <p:nvSpPr>
          <p:cNvPr id="25" name="Text 23"/>
          <p:cNvSpPr txBox="1"/>
          <p:nvPr/>
        </p:nvSpPr>
        <p:spPr>
          <a:xfrm>
            <a:off x="7973568"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Exited</a:t>
            </a:r>
            <a:endParaRPr lang="en-US" sz="1500" dirty="0"/>
          </a:p>
        </p:txBody>
      </p:sp>
      <p:sp>
        <p:nvSpPr>
          <p:cNvPr id="26" name="Shape 24"/>
          <p:cNvSpPr/>
          <p:nvPr/>
        </p:nvSpPr>
        <p:spPr>
          <a:xfrm>
            <a:off x="9829800" y="4343400"/>
            <a:ext cx="1737360" cy="685800"/>
          </a:xfrm>
          <a:prstGeom prst="roundRect">
            <a:avLst>
              <a:gd name="adj" fmla="val 13333"/>
            </a:avLst>
          </a:prstGeom>
          <a:solidFill>
            <a:srgbClr val="ECEEF2"/>
          </a:solidFill>
          <a:ln w="12700">
            <a:solidFill>
              <a:srgbClr val="6B7482"/>
            </a:solidFill>
            <a:prstDash val="solid"/>
          </a:ln>
        </p:spPr>
      </p:sp>
      <p:sp>
        <p:nvSpPr>
          <p:cNvPr id="27" name="Text 25"/>
          <p:cNvSpPr txBox="1"/>
          <p:nvPr/>
        </p:nvSpPr>
        <p:spPr>
          <a:xfrm>
            <a:off x="982980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Refused</a:t>
            </a:r>
            <a:endParaRPr lang="en-US" sz="1500" dirty="0"/>
          </a:p>
        </p:txBody>
      </p:sp>
      <p:sp>
        <p:nvSpPr>
          <p:cNvPr id="28" name="Text 26"/>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600" dirty="0">
                <a:solidFill>
                  <a:srgbClr val="556070"/>
                </a:solidFill>
                <a:latin typeface="Calibri" pitchFamily="34" charset="0"/>
                <a:ea typeface="Calibri" pitchFamily="34" charset="-122"/>
                <a:cs typeface="Calibri" pitchFamily="34" charset="-120"/>
              </a:rPr>
              <a:t>Each entry shows who did it and when. Staff see it on the People and Audit pages. Failed lookups record only the kind of code, never the code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life-saving rules confirmation</a:t>
            </a:r>
            <a:endParaRPr lang="en-US" sz="32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What is stored when someone confirms</a:t>
            </a:r>
            <a:endParaRPr lang="en-US" sz="1800" dirty="0"/>
          </a:p>
        </p:txBody>
      </p:sp>
      <p:sp>
        <p:nvSpPr>
          <p:cNvPr id="4" name="Shape 2"/>
          <p:cNvSpPr/>
          <p:nvPr/>
        </p:nvSpPr>
        <p:spPr>
          <a:xfrm>
            <a:off x="548640" y="1737360"/>
            <a:ext cx="5852160" cy="896112"/>
          </a:xfrm>
          <a:prstGeom prst="roundRect">
            <a:avLst>
              <a:gd name="adj" fmla="val 10204"/>
            </a:avLst>
          </a:prstGeom>
          <a:solidFill>
            <a:srgbClr val="ECE9FA"/>
          </a:solidFill>
          <a:ln w="12700">
            <a:solidFill>
              <a:srgbClr val="6A5BC2"/>
            </a:solidFill>
            <a:prstDash val="solid"/>
          </a:ln>
        </p:spPr>
      </p:sp>
      <p:sp>
        <p:nvSpPr>
          <p:cNvPr id="5" name="Text 3"/>
          <p:cNvSpPr txBox="1"/>
          <p:nvPr/>
        </p:nvSpPr>
        <p:spPr>
          <a:xfrm>
            <a:off x="777240" y="182880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exact statement they ticked</a:t>
            </a:r>
            <a:endParaRPr lang="en-US" sz="1700" dirty="0"/>
          </a:p>
        </p:txBody>
      </p:sp>
      <p:sp>
        <p:nvSpPr>
          <p:cNvPr id="6" name="Text 4"/>
          <p:cNvSpPr txBox="1"/>
          <p:nvPr/>
        </p:nvSpPr>
        <p:spPr>
          <a:xfrm>
            <a:off x="777240" y="219456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the wording in English or Dutch, as shown</a:t>
            </a:r>
            <a:endParaRPr lang="en-US" sz="1400" dirty="0"/>
          </a:p>
        </p:txBody>
      </p:sp>
      <p:sp>
        <p:nvSpPr>
          <p:cNvPr id="7" name="Shape 5"/>
          <p:cNvSpPr/>
          <p:nvPr/>
        </p:nvSpPr>
        <p:spPr>
          <a:xfrm>
            <a:off x="548640" y="2788920"/>
            <a:ext cx="5852160" cy="896112"/>
          </a:xfrm>
          <a:prstGeom prst="roundRect">
            <a:avLst>
              <a:gd name="adj" fmla="val 10204"/>
            </a:avLst>
          </a:prstGeom>
          <a:solidFill>
            <a:srgbClr val="ECE9FA"/>
          </a:solidFill>
          <a:ln w="12700">
            <a:solidFill>
              <a:srgbClr val="6A5BC2"/>
            </a:solidFill>
            <a:prstDash val="solid"/>
          </a:ln>
        </p:spPr>
      </p:sp>
      <p:sp>
        <p:nvSpPr>
          <p:cNvPr id="8" name="Text 6"/>
          <p:cNvSpPr txBox="1"/>
          <p:nvPr/>
        </p:nvSpPr>
        <p:spPr>
          <a:xfrm>
            <a:off x="777240" y="288036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rules version</a:t>
            </a:r>
            <a:endParaRPr lang="en-US" sz="1700" dirty="0"/>
          </a:p>
        </p:txBody>
      </p:sp>
      <p:sp>
        <p:nvSpPr>
          <p:cNvPr id="9" name="Text 7"/>
          <p:cNvSpPr txBox="1"/>
          <p:nvPr/>
        </p:nvSpPr>
        <p:spPr>
          <a:xfrm>
            <a:off x="777240" y="324612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so a later change to the rules is visible</a:t>
            </a:r>
            <a:endParaRPr lang="en-US" sz="1400" dirty="0"/>
          </a:p>
        </p:txBody>
      </p:sp>
      <p:sp>
        <p:nvSpPr>
          <p:cNvPr id="10" name="Shape 8"/>
          <p:cNvSpPr/>
          <p:nvPr/>
        </p:nvSpPr>
        <p:spPr>
          <a:xfrm>
            <a:off x="548640" y="3840480"/>
            <a:ext cx="5852160" cy="896112"/>
          </a:xfrm>
          <a:prstGeom prst="roundRect">
            <a:avLst>
              <a:gd name="adj" fmla="val 10204"/>
            </a:avLst>
          </a:prstGeom>
          <a:solidFill>
            <a:srgbClr val="ECE9FA"/>
          </a:solidFill>
          <a:ln w="12700">
            <a:solidFill>
              <a:srgbClr val="6A5BC2"/>
            </a:solidFill>
            <a:prstDash val="solid"/>
          </a:ln>
        </p:spPr>
      </p:sp>
      <p:sp>
        <p:nvSpPr>
          <p:cNvPr id="11" name="Text 9"/>
          <p:cNvSpPr txBox="1"/>
          <p:nvPr/>
        </p:nvSpPr>
        <p:spPr>
          <a:xfrm>
            <a:off x="777240" y="393192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time and the method</a:t>
            </a:r>
            <a:endParaRPr lang="en-US" sz="1700" dirty="0"/>
          </a:p>
        </p:txBody>
      </p:sp>
      <p:sp>
        <p:nvSpPr>
          <p:cNvPr id="12" name="Text 10"/>
          <p:cNvSpPr txBox="1"/>
          <p:nvPr/>
        </p:nvSpPr>
        <p:spPr>
          <a:xfrm>
            <a:off x="777240" y="429768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invitation or walk-up QR</a:t>
            </a:r>
            <a:endParaRPr lang="en-US" sz="1400" dirty="0"/>
          </a:p>
        </p:txBody>
      </p:sp>
      <p:sp>
        <p:nvSpPr>
          <p:cNvPr id="13" name="Shape 11"/>
          <p:cNvSpPr/>
          <p:nvPr/>
        </p:nvSpPr>
        <p:spPr>
          <a:xfrm>
            <a:off x="548640" y="4892040"/>
            <a:ext cx="5852160" cy="896112"/>
          </a:xfrm>
          <a:prstGeom prst="roundRect">
            <a:avLst>
              <a:gd name="adj" fmla="val 10204"/>
            </a:avLst>
          </a:prstGeom>
          <a:solidFill>
            <a:srgbClr val="ECE9FA"/>
          </a:solidFill>
          <a:ln w="12700">
            <a:solidFill>
              <a:srgbClr val="6A5BC2"/>
            </a:solidFill>
            <a:prstDash val="solid"/>
          </a:ln>
        </p:spPr>
      </p:sp>
      <p:sp>
        <p:nvSpPr>
          <p:cNvPr id="14" name="Text 12"/>
          <p:cNvSpPr txBox="1"/>
          <p:nvPr/>
        </p:nvSpPr>
        <p:spPr>
          <a:xfrm>
            <a:off x="777240" y="498348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Who the person is</a:t>
            </a:r>
            <a:endParaRPr lang="en-US" sz="1700" dirty="0"/>
          </a:p>
        </p:txBody>
      </p:sp>
      <p:sp>
        <p:nvSpPr>
          <p:cNvPr id="15" name="Text 13"/>
          <p:cNvSpPr txBox="1"/>
          <p:nvPr/>
        </p:nvSpPr>
        <p:spPr>
          <a:xfrm>
            <a:off x="777240" y="534924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linked to their person record</a:t>
            </a:r>
            <a:endParaRPr lang="en-US" sz="1400" dirty="0"/>
          </a:p>
        </p:txBody>
      </p:sp>
      <p:sp>
        <p:nvSpPr>
          <p:cNvPr id="16" name="Shape 14"/>
          <p:cNvSpPr/>
          <p:nvPr/>
        </p:nvSpPr>
        <p:spPr>
          <a:xfrm>
            <a:off x="6766560" y="1737360"/>
            <a:ext cx="4873752" cy="4069080"/>
          </a:xfrm>
          <a:prstGeom prst="roundRect">
            <a:avLst>
              <a:gd name="adj" fmla="val 2697"/>
            </a:avLst>
          </a:prstGeom>
          <a:solidFill>
            <a:srgbClr val="FBEFD9"/>
          </a:solidFill>
          <a:ln w="12700">
            <a:solidFill>
              <a:srgbClr val="B7791F"/>
            </a:solidFill>
            <a:prstDash val="solid"/>
          </a:ln>
        </p:spPr>
      </p:sp>
      <p:sp>
        <p:nvSpPr>
          <p:cNvPr id="17" name="Text 15"/>
          <p:cNvSpPr txBox="1"/>
          <p:nvPr/>
        </p:nvSpPr>
        <p:spPr>
          <a:xfrm>
            <a:off x="7040880" y="1920240"/>
            <a:ext cx="4389120" cy="411480"/>
          </a:xfrm>
          <a:prstGeom prst="rect">
            <a:avLst/>
          </a:prstGeom>
          <a:noFill/>
          <a:ln/>
        </p:spPr>
        <p:txBody>
          <a:bodyPr wrap="square" lIns="0" tIns="0" rIns="0" bIns="0" rtlCol="0" anchor="ctr"/>
          <a:lstStyle/>
          <a:p>
            <a:pPr indent="0" marL="0">
              <a:buNone/>
            </a:pPr>
            <a:r>
              <a:rPr lang="en-US" sz="2000" b="1" dirty="0">
                <a:solidFill>
                  <a:srgbClr val="573906"/>
                </a:solidFill>
                <a:latin typeface="Calibri" pitchFamily="34" charset="0"/>
                <a:ea typeface="Calibri" pitchFamily="34" charset="-122"/>
                <a:cs typeface="Calibri" pitchFamily="34" charset="-120"/>
              </a:rPr>
              <a:t>What the gate does with it</a:t>
            </a:r>
            <a:endParaRPr lang="en-US" sz="2000" dirty="0"/>
          </a:p>
        </p:txBody>
      </p:sp>
      <p:sp>
        <p:nvSpPr>
          <p:cNvPr id="18" name="Text 16"/>
          <p:cNvSpPr txBox="1"/>
          <p:nvPr/>
        </p:nvSpPr>
        <p:spPr>
          <a:xfrm>
            <a:off x="7040880" y="2468880"/>
            <a:ext cx="4389120"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Checks it on every entry, for both paths.</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Refuses entry if it is missing or the rules have changed since.</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Shows the officer the result and the reason before they decide.</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works today and what Renewi decides</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822960" y="1463040"/>
            <a:ext cx="4846320" cy="411480"/>
          </a:xfrm>
          <a:prstGeom prst="rect">
            <a:avLst/>
          </a:prstGeom>
          <a:noFill/>
          <a:ln/>
        </p:spPr>
        <p:txBody>
          <a:bodyPr wrap="square" lIns="0" tIns="0" rIns="0" bIns="0" rtlCol="0" anchor="ctr"/>
          <a:lstStyle/>
          <a:p>
            <a:pPr indent="0" marL="0">
              <a:buNone/>
            </a:pPr>
            <a:r>
              <a:rPr lang="en-US" sz="2000" b="1" dirty="0">
                <a:solidFill>
                  <a:srgbClr val="14463B"/>
                </a:solidFill>
                <a:latin typeface="Calibri" pitchFamily="34" charset="0"/>
                <a:ea typeface="Calibri" pitchFamily="34" charset="-122"/>
                <a:cs typeface="Calibri" pitchFamily="34" charset="-120"/>
              </a:rPr>
              <a:t>Working in the demo</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Both paths, end to end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Real emails: invitation, code and entry QR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Kiosk check, let in, refuse and exit</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One dashboard and one on-site roster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Full audit trail</a:t>
            </a:r>
            <a:endParaRPr lang="en-US" sz="1700" dirty="0"/>
          </a:p>
        </p:txBody>
      </p:sp>
      <p:sp>
        <p:nvSpPr>
          <p:cNvPr id="6" name="Shape 4"/>
          <p:cNvSpPr/>
          <p:nvPr/>
        </p:nvSpPr>
        <p:spPr>
          <a:xfrm>
            <a:off x="6245352" y="1280160"/>
            <a:ext cx="5394960" cy="4754880"/>
          </a:xfrm>
          <a:prstGeom prst="roundRect">
            <a:avLst>
              <a:gd name="adj" fmla="val 2308"/>
            </a:avLst>
          </a:prstGeom>
          <a:solidFill>
            <a:srgbClr val="FFFFFF"/>
          </a:solidFill>
          <a:ln w="15875">
            <a:solidFill>
              <a:srgbClr val="D85A30"/>
            </a:solidFill>
            <a:prstDash val="dash"/>
          </a:ln>
        </p:spPr>
      </p:sp>
      <p:sp>
        <p:nvSpPr>
          <p:cNvPr id="7" name="Text 5"/>
          <p:cNvSpPr txBox="1"/>
          <p:nvPr/>
        </p:nvSpPr>
        <p:spPr>
          <a:xfrm>
            <a:off x="6519672" y="14630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For Renewi to decide</a:t>
            </a:r>
            <a:endParaRPr lang="en-US" sz="2000" dirty="0"/>
          </a:p>
        </p:txBody>
      </p:sp>
      <p:sp>
        <p:nvSpPr>
          <p:cNvPr id="8" name="Text 6"/>
          <p:cNvSpPr txBox="1"/>
          <p:nvPr/>
        </p:nvSpPr>
        <p:spPr>
          <a:xfrm>
            <a:off x="6519672"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Who may use Path B, and how an arrival is known to be expected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Approved rules wording, with a legal review of the Dutch text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Whether photo ID must be checked, and how it is recorded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How long records are kept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Staff sign-in is demo-only today and needs real accounts before a public launch</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82296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731520" y="2057400"/>
            <a:ext cx="685800" cy="685800"/>
          </a:xfrm>
          <a:prstGeom prst="ellipse">
            <a:avLst/>
          </a:prstGeom>
          <a:solidFill>
            <a:srgbClr val="D85A30"/>
          </a:solidFill>
          <a:ln w="12700">
            <a:solidFill>
              <a:srgbClr val="D85A30"/>
            </a:solidFill>
            <a:prstDash val="solid"/>
          </a:ln>
        </p:spPr>
      </p:sp>
      <p:sp>
        <p:nvSpPr>
          <p:cNvPr id="4" name="Text 2"/>
          <p:cNvSpPr txBox="1"/>
          <p:nvPr/>
        </p:nvSpPr>
        <p:spPr>
          <a:xfrm>
            <a:off x="731520" y="20574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20116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Walk through the live demo</a:t>
            </a:r>
            <a:endParaRPr lang="en-US" sz="2400" dirty="0"/>
          </a:p>
        </p:txBody>
      </p:sp>
      <p:sp>
        <p:nvSpPr>
          <p:cNvPr id="6" name="Text 4"/>
          <p:cNvSpPr txBox="1"/>
          <p:nvPr/>
        </p:nvSpPr>
        <p:spPr>
          <a:xfrm>
            <a:off x="1737360" y="24688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Register at the entrance page, then check and let the person in at the kiosk.</a:t>
            </a:r>
            <a:endParaRPr lang="en-US" sz="1700" dirty="0"/>
          </a:p>
        </p:txBody>
      </p:sp>
      <p:sp>
        <p:nvSpPr>
          <p:cNvPr id="7" name="Shape 5"/>
          <p:cNvSpPr/>
          <p:nvPr/>
        </p:nvSpPr>
        <p:spPr>
          <a:xfrm>
            <a:off x="731520" y="3429000"/>
            <a:ext cx="685800" cy="685800"/>
          </a:xfrm>
          <a:prstGeom prst="ellipse">
            <a:avLst/>
          </a:prstGeom>
          <a:solidFill>
            <a:srgbClr val="D85A30"/>
          </a:solidFill>
          <a:ln w="12700">
            <a:solidFill>
              <a:srgbClr val="D85A30"/>
            </a:solidFill>
            <a:prstDash val="solid"/>
          </a:ln>
        </p:spPr>
      </p:sp>
      <p:sp>
        <p:nvSpPr>
          <p:cNvPr id="8" name="Text 6"/>
          <p:cNvSpPr txBox="1"/>
          <p:nvPr/>
        </p:nvSpPr>
        <p:spPr>
          <a:xfrm>
            <a:off x="731520" y="3429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1737360" y="33832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Renewi answers the open questions</a:t>
            </a:r>
            <a:endParaRPr lang="en-US" sz="2400" dirty="0"/>
          </a:p>
        </p:txBody>
      </p:sp>
      <p:sp>
        <p:nvSpPr>
          <p:cNvPr id="10" name="Text 8"/>
          <p:cNvSpPr txBox="1"/>
          <p:nvPr/>
        </p:nvSpPr>
        <p:spPr>
          <a:xfrm>
            <a:off x="1737360" y="38404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Who may use Path B, the rules wording, photo ID and record retention.</a:t>
            </a:r>
            <a:endParaRPr lang="en-US" sz="1700" dirty="0"/>
          </a:p>
        </p:txBody>
      </p:sp>
      <p:sp>
        <p:nvSpPr>
          <p:cNvPr id="11" name="Shape 9"/>
          <p:cNvSpPr/>
          <p:nvPr/>
        </p:nvSpPr>
        <p:spPr>
          <a:xfrm>
            <a:off x="731520" y="4800600"/>
            <a:ext cx="685800" cy="685800"/>
          </a:xfrm>
          <a:prstGeom prst="ellipse">
            <a:avLst/>
          </a:prstGeom>
          <a:solidFill>
            <a:srgbClr val="D85A30"/>
          </a:solidFill>
          <a:ln w="12700">
            <a:solidFill>
              <a:srgbClr val="D85A30"/>
            </a:solidFill>
            <a:prstDash val="solid"/>
          </a:ln>
        </p:spPr>
      </p:sp>
      <p:sp>
        <p:nvSpPr>
          <p:cNvPr id="12" name="Text 10"/>
          <p:cNvSpPr txBox="1"/>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1737360" y="47548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Host it on a real domain</a:t>
            </a:r>
            <a:endParaRPr lang="en-US" sz="2400" dirty="0"/>
          </a:p>
        </p:txBody>
      </p:sp>
      <p:sp>
        <p:nvSpPr>
          <p:cNvPr id="14" name="Text 12"/>
          <p:cNvSpPr txBox="1"/>
          <p:nvPr/>
        </p:nvSpPr>
        <p:spPr>
          <a:xfrm>
            <a:off x="1737360" y="52120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So the entrance QR works on any phone and staff pages are protected.</a:t>
            </a:r>
            <a:endParaRPr lang="en-US" sz="1700" dirty="0"/>
          </a:p>
        </p:txBody>
      </p:sp>
    </p:spTree>
  </p:cSld>
  <p:clrMapOvr>
    <a:masterClrMapping/>
  </p:clrMapOvr>
</p:sld>
</file>

<file path=ppt/theme/theme1.xml><?xml version="1.0" encoding="utf-8"?>
<a:theme xmlns:a="http://schemas.openxmlformats.org/drawingml/2006/main" name="Renewi Site Access">
  <a:themeElements>
    <a:clrScheme name="Renewi Site Access">
      <a:dk1>
        <a:srgbClr val="1B1F27"/>
      </a:dk1>
      <a:lt1>
        <a:srgbClr val="FFFFFF"/>
      </a:lt1>
      <a:dk2>
        <a:srgbClr val="0E3B3F"/>
      </a:dk2>
      <a:lt2>
        <a:srgbClr val="F3F5F7"/>
      </a:lt2>
      <a:accent1>
        <a:srgbClr val="2F7F6B"/>
      </a:accent1>
      <a:accent2>
        <a:srgbClr val="6A5BC2"/>
      </a:accent2>
      <a:accent3>
        <a:srgbClr val="6B7482"/>
      </a:accent3>
      <a:accent4>
        <a:srgbClr val="B7791F"/>
      </a:accent4>
      <a:accent5>
        <a:srgbClr val="C0392B"/>
      </a:accent5>
      <a:accent6>
        <a:srgbClr val="D85A30"/>
      </a:accent6>
      <a:hlink>
        <a:srgbClr val="2F7F6B"/>
      </a:hlink>
      <a:folHlink>
        <a:srgbClr val="6A5BC2"/>
      </a:folHlink>
    </a:clrScheme>
    <a:fontScheme name="Renewi Site Access">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&amp; Visitor Site Access: Version 2</dc:title>
  <dc:subject>PptxGenJS Presentation</dc:subject>
  <dc:creator>DigitalT3</dc:creator>
  <cp:lastModifiedBy>DigitalT3</cp:lastModifiedBy>
  <cp:revision>1</cp:revision>
  <dcterms:created xsi:type="dcterms:W3CDTF">2026-10-12T09:01:22Z</dcterms:created>
  <dcterms:modified xsi:type="dcterms:W3CDTF">2026-10-12T09:01:22Z</dcterms:modified>
</cp:coreProperties>
</file>