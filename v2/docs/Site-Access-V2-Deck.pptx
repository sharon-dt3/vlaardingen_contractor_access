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is a simpler second version of the site access demo. It answers one requirement from Renewi: the contractor must confirm that they have read and understood the life-saving rules before entering the site, and the site must be able to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manual paperwork for registering people who need site access. Version 2 automates it. The specific requirement is that a person confirms they read and understood the life-saving rules before entering, and the site can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invitation flow from version 1 is untouched. Version 2 adds the confirmation step to it and adds Path B for people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published diagram redrawn as slide shapes. Colours show who acts: green is Renewi staff, purple is the person, grey is the system, amber is the gate officer. The interactive version is at claude.ai/artifact/RzmApJZf5CuuPEyYRcVRaL.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is the version 1 invitation flow. The only addition in version 2 is step 3, where the person confirms the life-saving rules, and a check at the approval step that the confirmation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Staff do the preparation, the invitee registers once, and the gate officer checks the QR. The system emails the link and the QR and decides at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 never signs in. They scan the entrance sign, register once with an ID and the rules tick, prove their email, and carry the QR to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planned path from the version 1 invitation flow. The new parts in version 2 are the life-saving confirmation, the entry and exit time on the QR, the site's longest QR rule and the dashboard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checks run on the screen and on the server. At the gate the QR is refused before its entry time and after its exit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entrance sign identifies the site only, never a person. Nothing is stored as a person until the email code is entered. At the gate the officer compares the ID with the person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officer compares the document with the person by eye, as on Path A. Nothing reads the name from the image or checks it against the typed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protect the public registration page from abuse. The secret in the QR is never stored in 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requirement: the entry and exit validity of a QR is set by an administrator and adjustable, not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picture holds for both paths: an administrator sets the validity, the QR carries an entry and exit time, and the gate enforces both. After entry, both paths feed the same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gate operators and system administrators can use the kiosk. Every refusal is stored with who, when and why, whether the system or the officer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panels are on the same Gate kiosk page. Only gate operators and administrators can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trail is the evidence that the site can see the confirmation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real dashboard shows the actual numbers for each path. This slide shows its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refusal is stored in the audit trail with who, when and why. A refusal does not lock the person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roles exist in the system (site manager, compliance, viewer) and can be offered later. Single sign-on with a company Microsoft or Google account is possible if Renewi prefers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public sign-up. The only way in is an invitation from an administrator.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built yet: the authenticator code for administrators and the idle sign-out (30 minutes for administrators, about 10 at the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only administrator loses access, a setup command run on the server can send a reset. The authenticator reset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text in the demo is sample wording. Renewi must supply the approved wording, including a legal review of the Dutch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times on the Amsterdam clock. The form shows what they are on the viewer's own clock. Times are 13:00 to 19:15 Amsterdam in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entry delay and the QR hours come from Settings. Set them before the demo: for example 2 minutes and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decisions for Renewi rather than code gaps. The public entrance page would also need hosting on a real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3B3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aude.ai/artifact/RzmApJZf5CuuPEyYRcVRaL"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10058400" cy="365760"/>
          </a:xfrm>
          <a:prstGeom prst="rect">
            <a:avLst/>
          </a:prstGeom>
          <a:noFill/>
          <a:ln/>
        </p:spPr>
        <p:txBody>
          <a:bodyPr wrap="square" lIns="0" tIns="0" rIns="0" bIns="0" rtlCol="0" anchor="ctr"/>
          <a:lstStyle/>
          <a:p>
            <a:pPr indent="0" marL="0">
              <a:buNone/>
            </a:pPr>
            <a:r>
              <a:rPr lang="en-US" sz="1600" b="1" spc="400" kern="0" dirty="0">
                <a:solidFill>
                  <a:srgbClr val="9ACFC1"/>
                </a:solidFill>
                <a:latin typeface="Calibri" pitchFamily="34" charset="0"/>
                <a:ea typeface="Calibri" pitchFamily="34" charset="-122"/>
                <a:cs typeface="Calibri" pitchFamily="34" charset="-120"/>
              </a:rPr>
              <a:t>RENEWI · VLAARDINGEN PILOT</a:t>
            </a:r>
            <a:endParaRPr lang="en-US" sz="1600" dirty="0"/>
          </a:p>
        </p:txBody>
      </p:sp>
      <p:sp>
        <p:nvSpPr>
          <p:cNvPr id="3" name="Text 1"/>
          <p:cNvSpPr txBox="1"/>
          <p:nvPr/>
        </p:nvSpPr>
        <p:spPr>
          <a:xfrm>
            <a:off x="731520" y="1828800"/>
            <a:ext cx="1078992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Contractor &amp; Visitor Site Access</a:t>
            </a:r>
            <a:endParaRPr lang="en-US" sz="4800" dirty="0"/>
          </a:p>
        </p:txBody>
      </p:sp>
      <p:sp>
        <p:nvSpPr>
          <p:cNvPr id="4" name="Text 2"/>
          <p:cNvSpPr txBox="1"/>
          <p:nvPr/>
        </p:nvSpPr>
        <p:spPr>
          <a:xfrm>
            <a:off x="731520" y="3108960"/>
            <a:ext cx="4572000" cy="365760"/>
          </a:xfrm>
          <a:prstGeom prst="rect">
            <a:avLst/>
          </a:prstGeom>
          <a:noFill/>
          <a:ln/>
        </p:spPr>
        <p:txBody>
          <a:bodyPr wrap="square" lIns="0" tIns="0" rIns="0" bIns="0" rtlCol="0" anchor="ctr"/>
          <a:lstStyle/>
          <a:p>
            <a:pPr indent="0" marL="0">
              <a:buNone/>
            </a:pPr>
            <a:r>
              <a:rPr lang="en-US" sz="1800" dirty="0">
                <a:solidFill>
                  <a:srgbClr val="9ACFC1"/>
                </a:solidFill>
                <a:latin typeface="Calibri" pitchFamily="34" charset="0"/>
                <a:ea typeface="Calibri" pitchFamily="34" charset="-122"/>
                <a:cs typeface="Calibri" pitchFamily="34" charset="-120"/>
              </a:rPr>
              <a:t>DigitalT3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problem we are solving</a:t>
            </a:r>
            <a:endParaRPr lang="en-US" sz="3200" dirty="0"/>
          </a:p>
        </p:txBody>
      </p:sp>
      <p:sp>
        <p:nvSpPr>
          <p:cNvPr id="3" name="Text 1"/>
          <p:cNvSpPr txBox="1"/>
          <p:nvPr/>
        </p:nvSpPr>
        <p:spPr>
          <a:xfrm>
            <a:off x="548640" y="1234440"/>
            <a:ext cx="5852160" cy="1005840"/>
          </a:xfrm>
          <a:prstGeom prst="rect">
            <a:avLst/>
          </a:prstGeom>
          <a:noFill/>
          <a:ln/>
        </p:spPr>
        <p:txBody>
          <a:bodyPr wrap="square" lIns="0" tIns="0" rIns="0" bIns="0" rtlCol="0" anchor="t"/>
          <a:lstStyle/>
          <a:p>
            <a:pPr indent="0" marL="0">
              <a:buNone/>
            </a:pPr>
            <a:r>
              <a:rPr lang="en-US" sz="2600" b="1" dirty="0">
                <a:solidFill>
                  <a:srgbClr val="0E3B3F"/>
                </a:solidFill>
                <a:latin typeface="Cambria" pitchFamily="34" charset="0"/>
                <a:ea typeface="Cambria" pitchFamily="34" charset="-122"/>
                <a:cs typeface="Cambria" pitchFamily="34" charset="-120"/>
              </a:rPr>
              <a:t>Registering people for site access is manual paperwork</a:t>
            </a:r>
            <a:endParaRPr lang="en-US" sz="2600" dirty="0"/>
          </a:p>
        </p:txBody>
      </p:sp>
      <p:sp>
        <p:nvSpPr>
          <p:cNvPr id="4" name="Text 2"/>
          <p:cNvSpPr txBox="1"/>
          <p:nvPr/>
        </p:nvSpPr>
        <p:spPr>
          <a:xfrm>
            <a:off x="548640" y="2377440"/>
            <a:ext cx="5852160" cy="1828800"/>
          </a:xfrm>
          <a:prstGeom prst="rect">
            <a:avLst/>
          </a:prstGeom>
          <a:noFill/>
          <a:ln/>
        </p:spPr>
        <p:txBody>
          <a:bodyPr wrap="square" lIns="0" tIns="0" rIns="0" bIns="0" rtlCol="0" anchor="t"/>
          <a:lstStyle/>
          <a:p>
            <a:pPr indent="0" marL="0">
              <a:buNone/>
            </a:pPr>
            <a:r>
              <a:rPr lang="en-US" sz="1800" dirty="0">
                <a:solidFill>
                  <a:srgbClr val="1B1F27"/>
                </a:solidFill>
                <a:latin typeface="Calibri" pitchFamily="34" charset="0"/>
                <a:ea typeface="Calibri" pitchFamily="34" charset="-122"/>
                <a:cs typeface="Calibri" pitchFamily="34" charset="-120"/>
              </a:rPr>
              <a:t>Every contractor, driver and visitor who enters a site has to be registered by hand. The paper forms take time to fill in, to read and to file, and the site has no quick way to see who is registered or who has confirmed the life-saving rules.</a:t>
            </a:r>
            <a:endParaRPr lang="en-US" sz="1800" dirty="0"/>
          </a:p>
        </p:txBody>
      </p:sp>
      <p:sp>
        <p:nvSpPr>
          <p:cNvPr id="5" name="Shape 3"/>
          <p:cNvSpPr/>
          <p:nvPr/>
        </p:nvSpPr>
        <p:spPr>
          <a:xfrm>
            <a:off x="548640" y="4434840"/>
            <a:ext cx="5852160" cy="1463040"/>
          </a:xfrm>
          <a:prstGeom prst="roundRect">
            <a:avLst>
              <a:gd name="adj" fmla="val 7500"/>
            </a:avLst>
          </a:prstGeom>
          <a:solidFill>
            <a:srgbClr val="E2F1EC"/>
          </a:solidFill>
          <a:ln w="12700">
            <a:solidFill>
              <a:srgbClr val="2F7F6B"/>
            </a:solidFill>
            <a:prstDash val="solid"/>
          </a:ln>
        </p:spPr>
      </p:sp>
      <p:sp>
        <p:nvSpPr>
          <p:cNvPr id="6" name="Text 4"/>
          <p:cNvSpPr txBox="1"/>
          <p:nvPr/>
        </p:nvSpPr>
        <p:spPr>
          <a:xfrm>
            <a:off x="777240" y="4553712"/>
            <a:ext cx="5394960" cy="320040"/>
          </a:xfrm>
          <a:prstGeom prst="rect">
            <a:avLst/>
          </a:prstGeom>
          <a:noFill/>
          <a:ln/>
        </p:spPr>
        <p:txBody>
          <a:bodyPr wrap="square" lIns="0" tIns="0" rIns="0" bIns="0" rtlCol="0" anchor="ctr"/>
          <a:lstStyle/>
          <a:p>
            <a:pPr indent="0" marL="0">
              <a:buNone/>
            </a:pPr>
            <a:r>
              <a:rPr lang="en-US" sz="1600" b="1" dirty="0">
                <a:solidFill>
                  <a:srgbClr val="2F7F6B"/>
                </a:solidFill>
                <a:latin typeface="Calibri" pitchFamily="34" charset="0"/>
                <a:ea typeface="Calibri" pitchFamily="34" charset="-122"/>
                <a:cs typeface="Calibri" pitchFamily="34" charset="-120"/>
              </a:rPr>
              <a:t>Our goal</a:t>
            </a:r>
            <a:endParaRPr lang="en-US" sz="1600" dirty="0"/>
          </a:p>
        </p:txBody>
      </p:sp>
      <p:sp>
        <p:nvSpPr>
          <p:cNvPr id="7" name="Text 5"/>
          <p:cNvSpPr txBox="1"/>
          <p:nvPr/>
        </p:nvSpPr>
        <p:spPr>
          <a:xfrm>
            <a:off x="777240" y="4892040"/>
            <a:ext cx="5394960" cy="960120"/>
          </a:xfrm>
          <a:prstGeom prst="rect">
            <a:avLst/>
          </a:prstGeom>
          <a:noFill/>
          <a:ln/>
        </p:spPr>
        <p:txBody>
          <a:bodyPr wrap="square" lIns="0" tIns="0" rIns="0" bIns="0" rtlCol="0" anchor="t"/>
          <a:lstStyle/>
          <a:p>
            <a:pPr indent="0" marL="0">
              <a:buNone/>
            </a:pPr>
            <a:r>
              <a:rPr lang="en-US" sz="1600" dirty="0">
                <a:solidFill>
                  <a:srgbClr val="14463B"/>
                </a:solidFill>
                <a:latin typeface="Calibri" pitchFamily="34" charset="0"/>
                <a:ea typeface="Calibri" pitchFamily="34" charset="-122"/>
                <a:cs typeface="Calibri" pitchFamily="34" charset="-120"/>
              </a:rPr>
              <a:t>Automate the process: the person registers on their phone, confirms the life-saving rules, and the gate officer sees the result on screen before letting them in.</a:t>
            </a:r>
            <a:endParaRPr lang="en-US" sz="1600" dirty="0"/>
          </a:p>
        </p:txBody>
      </p:sp>
      <p:sp>
        <p:nvSpPr>
          <p:cNvPr id="8" name="Shape 6"/>
          <p:cNvSpPr/>
          <p:nvPr/>
        </p:nvSpPr>
        <p:spPr>
          <a:xfrm>
            <a:off x="6858000" y="1234440"/>
            <a:ext cx="4754880" cy="1417320"/>
          </a:xfrm>
          <a:prstGeom prst="roundRect">
            <a:avLst>
              <a:gd name="adj" fmla="val 6452"/>
            </a:avLst>
          </a:prstGeom>
          <a:solidFill>
            <a:srgbClr val="FBE4E2"/>
          </a:solidFill>
          <a:ln w="12700">
            <a:solidFill>
              <a:srgbClr val="C0392B"/>
            </a:solidFill>
            <a:prstDash val="solid"/>
          </a:ln>
        </p:spPr>
      </p:sp>
      <p:sp>
        <p:nvSpPr>
          <p:cNvPr id="9" name="Text 7"/>
          <p:cNvSpPr txBox="1"/>
          <p:nvPr/>
        </p:nvSpPr>
        <p:spPr>
          <a:xfrm>
            <a:off x="7086600" y="13716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Slow and repetitive</a:t>
            </a:r>
            <a:endParaRPr lang="en-US" sz="1700" dirty="0"/>
          </a:p>
        </p:txBody>
      </p:sp>
      <p:sp>
        <p:nvSpPr>
          <p:cNvPr id="10" name="Text 8"/>
          <p:cNvSpPr txBox="1"/>
          <p:nvPr/>
        </p:nvSpPr>
        <p:spPr>
          <a:xfrm>
            <a:off x="7086600" y="17830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forms are filled in, read and filed by hand for every single arrival.</a:t>
            </a:r>
            <a:endParaRPr lang="en-US" sz="1400" dirty="0"/>
          </a:p>
        </p:txBody>
      </p:sp>
      <p:sp>
        <p:nvSpPr>
          <p:cNvPr id="11" name="Shape 9"/>
          <p:cNvSpPr/>
          <p:nvPr/>
        </p:nvSpPr>
        <p:spPr>
          <a:xfrm>
            <a:off x="6858000" y="2834640"/>
            <a:ext cx="4754880" cy="1417320"/>
          </a:xfrm>
          <a:prstGeom prst="roundRect">
            <a:avLst>
              <a:gd name="adj" fmla="val 6452"/>
            </a:avLst>
          </a:prstGeom>
          <a:solidFill>
            <a:srgbClr val="FBE4E2"/>
          </a:solidFill>
          <a:ln w="12700">
            <a:solidFill>
              <a:srgbClr val="C0392B"/>
            </a:solidFill>
            <a:prstDash val="solid"/>
          </a:ln>
        </p:spPr>
      </p:sp>
      <p:sp>
        <p:nvSpPr>
          <p:cNvPr id="12" name="Text 10"/>
          <p:cNvSpPr txBox="1"/>
          <p:nvPr/>
        </p:nvSpPr>
        <p:spPr>
          <a:xfrm>
            <a:off x="7086600" y="29718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check at the gate</a:t>
            </a:r>
            <a:endParaRPr lang="en-US" sz="1700" dirty="0"/>
          </a:p>
        </p:txBody>
      </p:sp>
      <p:sp>
        <p:nvSpPr>
          <p:cNvPr id="13" name="Text 11"/>
          <p:cNvSpPr txBox="1"/>
          <p:nvPr/>
        </p:nvSpPr>
        <p:spPr>
          <a:xfrm>
            <a:off x="7086600" y="33832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The officer cannot quickly see who is registered or who confirmed the life-saving rules.</a:t>
            </a:r>
            <a:endParaRPr lang="en-US" sz="1400" dirty="0"/>
          </a:p>
        </p:txBody>
      </p:sp>
      <p:sp>
        <p:nvSpPr>
          <p:cNvPr id="14" name="Shape 12"/>
          <p:cNvSpPr/>
          <p:nvPr/>
        </p:nvSpPr>
        <p:spPr>
          <a:xfrm>
            <a:off x="6858000" y="4434840"/>
            <a:ext cx="4754880" cy="1417320"/>
          </a:xfrm>
          <a:prstGeom prst="roundRect">
            <a:avLst>
              <a:gd name="adj" fmla="val 6452"/>
            </a:avLst>
          </a:prstGeom>
          <a:solidFill>
            <a:srgbClr val="FBE4E2"/>
          </a:solidFill>
          <a:ln w="12700">
            <a:solidFill>
              <a:srgbClr val="C0392B"/>
            </a:solidFill>
            <a:prstDash val="solid"/>
          </a:ln>
        </p:spPr>
      </p:sp>
      <p:sp>
        <p:nvSpPr>
          <p:cNvPr id="15" name="Text 13"/>
          <p:cNvSpPr txBox="1"/>
          <p:nvPr/>
        </p:nvSpPr>
        <p:spPr>
          <a:xfrm>
            <a:off x="7086600" y="45720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search and prove</a:t>
            </a:r>
            <a:endParaRPr lang="en-US" sz="1700" dirty="0"/>
          </a:p>
        </p:txBody>
      </p:sp>
      <p:sp>
        <p:nvSpPr>
          <p:cNvPr id="16" name="Text 14"/>
          <p:cNvSpPr txBox="1"/>
          <p:nvPr/>
        </p:nvSpPr>
        <p:spPr>
          <a:xfrm>
            <a:off x="7086600" y="49834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records are difficult to look up later, so there is little evidence of who was on site.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version 2 delivers</a:t>
            </a:r>
            <a:endParaRPr lang="en-US" sz="3200" dirty="0"/>
          </a:p>
        </p:txBody>
      </p:sp>
      <p:sp>
        <p:nvSpPr>
          <p:cNvPr id="3" name="Shape 1"/>
          <p:cNvSpPr/>
          <p:nvPr/>
        </p:nvSpPr>
        <p:spPr>
          <a:xfrm>
            <a:off x="548640" y="1371600"/>
            <a:ext cx="3566160" cy="2743200"/>
          </a:xfrm>
          <a:prstGeom prst="roundRect">
            <a:avLst>
              <a:gd name="adj" fmla="val 4000"/>
            </a:avLst>
          </a:prstGeom>
          <a:solidFill>
            <a:srgbClr val="E2F1EC"/>
          </a:solidFill>
          <a:ln w="12700">
            <a:solidFill>
              <a:srgbClr val="2F7F6B"/>
            </a:solidFill>
            <a:prstDash val="solid"/>
          </a:ln>
        </p:spPr>
      </p:sp>
      <p:sp>
        <p:nvSpPr>
          <p:cNvPr id="4" name="Text 2"/>
          <p:cNvSpPr txBox="1"/>
          <p:nvPr/>
        </p:nvSpPr>
        <p:spPr>
          <a:xfrm>
            <a:off x="82296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Confirm</a:t>
            </a:r>
            <a:endParaRPr lang="en-US" sz="2400" dirty="0"/>
          </a:p>
        </p:txBody>
      </p:sp>
      <p:sp>
        <p:nvSpPr>
          <p:cNvPr id="6" name="Text 4"/>
          <p:cNvSpPr txBox="1"/>
          <p:nvPr/>
        </p:nvSpPr>
        <p:spPr>
          <a:xfrm>
            <a:off x="82296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person ticks one statement that they read and understood the life-saving rules. The wording, rules version and time are stored.</a:t>
            </a:r>
            <a:endParaRPr lang="en-US" sz="1500" dirty="0"/>
          </a:p>
        </p:txBody>
      </p:sp>
      <p:sp>
        <p:nvSpPr>
          <p:cNvPr id="7" name="Shape 5"/>
          <p:cNvSpPr/>
          <p:nvPr/>
        </p:nvSpPr>
        <p:spPr>
          <a:xfrm>
            <a:off x="4297680" y="1371600"/>
            <a:ext cx="3566160" cy="2743200"/>
          </a:xfrm>
          <a:prstGeom prst="roundRect">
            <a:avLst>
              <a:gd name="adj" fmla="val 4000"/>
            </a:avLst>
          </a:prstGeom>
          <a:solidFill>
            <a:srgbClr val="E2F1EC"/>
          </a:solidFill>
          <a:ln w="12700">
            <a:solidFill>
              <a:srgbClr val="2F7F6B"/>
            </a:solidFill>
            <a:prstDash val="solid"/>
          </a:ln>
        </p:spPr>
      </p:sp>
      <p:sp>
        <p:nvSpPr>
          <p:cNvPr id="8" name="Text 6"/>
          <p:cNvSpPr txBox="1"/>
          <p:nvPr/>
        </p:nvSpPr>
        <p:spPr>
          <a:xfrm>
            <a:off x="457200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57200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Show</a:t>
            </a:r>
            <a:endParaRPr lang="en-US" sz="2400" dirty="0"/>
          </a:p>
        </p:txBody>
      </p:sp>
      <p:sp>
        <p:nvSpPr>
          <p:cNvPr id="10" name="Text 8"/>
          <p:cNvSpPr txBox="1"/>
          <p:nvPr/>
        </p:nvSpPr>
        <p:spPr>
          <a:xfrm>
            <a:off x="457200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The gate kiosk checks that confirmation every time and shows the officer the result before anyone is let in.</a:t>
            </a:r>
            <a:endParaRPr lang="en-US" sz="1500" dirty="0"/>
          </a:p>
        </p:txBody>
      </p:sp>
      <p:sp>
        <p:nvSpPr>
          <p:cNvPr id="11" name="Shape 9"/>
          <p:cNvSpPr/>
          <p:nvPr/>
        </p:nvSpPr>
        <p:spPr>
          <a:xfrm>
            <a:off x="8046720" y="1371600"/>
            <a:ext cx="3566160" cy="2743200"/>
          </a:xfrm>
          <a:prstGeom prst="roundRect">
            <a:avLst>
              <a:gd name="adj" fmla="val 4000"/>
            </a:avLst>
          </a:prstGeom>
          <a:solidFill>
            <a:srgbClr val="E2F1EC"/>
          </a:solidFill>
          <a:ln w="12700">
            <a:solidFill>
              <a:srgbClr val="2F7F6B"/>
            </a:solidFill>
            <a:prstDash val="solid"/>
          </a:ln>
        </p:spPr>
      </p:sp>
      <p:sp>
        <p:nvSpPr>
          <p:cNvPr id="12" name="Text 10"/>
          <p:cNvSpPr txBox="1"/>
          <p:nvPr/>
        </p:nvSpPr>
        <p:spPr>
          <a:xfrm>
            <a:off x="832104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2104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Record</a:t>
            </a:r>
            <a:endParaRPr lang="en-US" sz="2400" dirty="0"/>
          </a:p>
        </p:txBody>
      </p:sp>
      <p:sp>
        <p:nvSpPr>
          <p:cNvPr id="14" name="Text 12"/>
          <p:cNvSpPr txBox="1"/>
          <p:nvPr/>
        </p:nvSpPr>
        <p:spPr>
          <a:xfrm>
            <a:off x="832104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step goes into one audit trail, and a live dashboard shows who is on site and who is overdue.</a:t>
            </a:r>
            <a:endParaRPr lang="en-US" sz="1500" dirty="0"/>
          </a:p>
        </p:txBody>
      </p:sp>
      <p:sp>
        <p:nvSpPr>
          <p:cNvPr id="15" name="Text 13"/>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Two ways in, one gate</a:t>
            </a:r>
            <a:endParaRPr lang="en-US" sz="1800" dirty="0"/>
          </a:p>
        </p:txBody>
      </p:sp>
      <p:sp>
        <p:nvSpPr>
          <p:cNvPr id="16" name="Text 14"/>
          <p:cNvSpPr txBox="1"/>
          <p:nvPr/>
        </p:nvSpPr>
        <p:spPr>
          <a:xfrm>
            <a:off x="548640" y="4846320"/>
            <a:ext cx="11064240" cy="1554480"/>
          </a:xfrm>
          <a:prstGeom prst="rect">
            <a:avLst/>
          </a:prstGeom>
          <a:noFill/>
          <a:ln/>
        </p:spPr>
        <p:txBody>
          <a:bodyPr wrap="square" lIns="0" tIns="0" rIns="0" bIns="0" rtlCol="0" anchor="t"/>
          <a:lstStyle/>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A, planned arrival: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Renewi invites the person, checks their ID and approves them in advance.</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B, unexpected arrival (new in v2):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the person scans a QR at the entrance and registers themselves.</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Same on both: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a QR with entry and exit time, entry and exit tracking, the dashboard, and validity an administrator can change.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User flow: two paths, one gate</a:t>
            </a:r>
            <a:endParaRPr lang="en-US" sz="3200" dirty="0"/>
          </a:p>
        </p:txBody>
      </p:sp>
      <p:sp>
        <p:nvSpPr>
          <p:cNvPr id="3" name="Text 1"/>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200" dirty="0">
                <a:solidFill>
                  <a:srgbClr val="556070"/>
                </a:solidFill>
                <a:latin typeface="Calibri" pitchFamily="34" charset="0"/>
                <a:ea typeface="Calibri" pitchFamily="34" charset="-122"/>
                <a:cs typeface="Calibri" pitchFamily="34" charset="-120"/>
              </a:rPr>
              <a:t>Interactive version: </a:t>
            </a:r>
            <a:pPr indent="0" marL="0">
              <a:buNone/>
            </a:pPr>
            <a:r>
              <a:rPr lang="en-US" sz="1200" u="sng" dirty="0">
                <a:solidFill>
                  <a:srgbClr val="2F7F6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claude.ai/artifact/RzmApJZf5CuuPEyYRcVRaL</a:t>
            </a:r>
            <a:endParaRPr lang="en-US" sz="1200" dirty="0"/>
          </a:p>
        </p:txBody>
      </p:sp>
      <p:sp>
        <p:nvSpPr>
          <p:cNvPr id="4" name="Shape 2"/>
          <p:cNvSpPr/>
          <p:nvPr/>
        </p:nvSpPr>
        <p:spPr>
          <a:xfrm>
            <a:off x="548640" y="1051560"/>
            <a:ext cx="11091672" cy="384048"/>
          </a:xfrm>
          <a:prstGeom prst="roundRect">
            <a:avLst>
              <a:gd name="adj" fmla="val 19048"/>
            </a:avLst>
          </a:prstGeom>
          <a:solidFill>
            <a:srgbClr val="E1F5EE"/>
          </a:solidFill>
          <a:ln w="12700">
            <a:solidFill>
              <a:srgbClr val="0F6E56"/>
            </a:solidFill>
            <a:prstDash val="solid"/>
          </a:ln>
        </p:spPr>
      </p:sp>
      <p:sp>
        <p:nvSpPr>
          <p:cNvPr id="5" name="Text 3"/>
          <p:cNvSpPr txBox="1"/>
          <p:nvPr/>
        </p:nvSpPr>
        <p:spPr>
          <a:xfrm>
            <a:off x="731520" y="1051560"/>
            <a:ext cx="10789920" cy="384048"/>
          </a:xfrm>
          <a:prstGeom prst="rect">
            <a:avLst/>
          </a:prstGeom>
          <a:noFill/>
          <a:ln/>
        </p:spPr>
        <p:txBody>
          <a:bodyPr wrap="square" lIns="0" tIns="0" rIns="0" bIns="0" rtlCol="0" anchor="ctr"/>
          <a:lstStyle/>
          <a:p>
            <a:pPr indent="0" marL="0">
              <a:buNone/>
            </a:pPr>
            <a:r>
              <a:rPr lang="en-US" sz="1100" b="1" dirty="0">
                <a:solidFill>
                  <a:srgbClr val="0F6E56"/>
                </a:solidFill>
                <a:latin typeface="Calibri" pitchFamily="34" charset="0"/>
                <a:ea typeface="Calibri" pitchFamily="34" charset="-122"/>
                <a:cs typeface="Calibri" pitchFamily="34" charset="-120"/>
              </a:rPr>
              <a:t>BEFORE ANYONE ARRIVES  </a:t>
            </a:r>
            <a:pPr indent="0" marL="0">
              <a:buNone/>
            </a:pPr>
            <a:r>
              <a:rPr lang="en-US" sz="1400" dirty="0">
                <a:solidFill>
                  <a:srgbClr val="085041"/>
                </a:solidFill>
                <a:latin typeface="Calibri" pitchFamily="34" charset="0"/>
                <a:ea typeface="Calibri" pitchFamily="34" charset="-122"/>
                <a:cs typeface="Calibri" pitchFamily="34" charset="-120"/>
              </a:rPr>
              <a:t>Admin sets how long a QR lasts, per site, on the Settings page</a:t>
            </a:r>
            <a:endParaRPr lang="en-US" sz="1100" dirty="0"/>
          </a:p>
        </p:txBody>
      </p:sp>
      <p:sp>
        <p:nvSpPr>
          <p:cNvPr id="6" name="Shape 4"/>
          <p:cNvSpPr/>
          <p:nvPr/>
        </p:nvSpPr>
        <p:spPr>
          <a:xfrm>
            <a:off x="548640" y="1527048"/>
            <a:ext cx="5394960" cy="457200"/>
          </a:xfrm>
          <a:prstGeom prst="roundRect">
            <a:avLst>
              <a:gd name="adj" fmla="val 20000"/>
            </a:avLst>
          </a:prstGeom>
          <a:solidFill>
            <a:srgbClr val="F3F5F7"/>
          </a:solidFill>
          <a:ln w="12700">
            <a:solidFill>
              <a:srgbClr val="CBD0DA"/>
            </a:solidFill>
            <a:prstDash val="solid"/>
          </a:ln>
        </p:spPr>
      </p:sp>
      <p:sp>
        <p:nvSpPr>
          <p:cNvPr id="7" name="Text 5"/>
          <p:cNvSpPr txBox="1"/>
          <p:nvPr/>
        </p:nvSpPr>
        <p:spPr>
          <a:xfrm>
            <a:off x="685800" y="1527048"/>
            <a:ext cx="51206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A · Planned arrival  </a:t>
            </a:r>
            <a:pPr indent="0" marL="0">
              <a:buNone/>
            </a:pPr>
            <a:r>
              <a:rPr lang="en-US" sz="1200" dirty="0">
                <a:solidFill>
                  <a:srgbClr val="556070"/>
                </a:solidFill>
                <a:latin typeface="Calibri" pitchFamily="34" charset="0"/>
                <a:ea typeface="Calibri" pitchFamily="34" charset="-122"/>
                <a:cs typeface="Calibri" pitchFamily="34" charset="-120"/>
              </a:rPr>
              <a:t>Renewi knows they are coming</a:t>
            </a:r>
            <a:endParaRPr lang="en-US" sz="1400" dirty="0"/>
          </a:p>
        </p:txBody>
      </p:sp>
      <p:sp>
        <p:nvSpPr>
          <p:cNvPr id="8" name="Shape 6"/>
          <p:cNvSpPr/>
          <p:nvPr/>
        </p:nvSpPr>
        <p:spPr>
          <a:xfrm>
            <a:off x="6245352" y="1527048"/>
            <a:ext cx="5394960" cy="457200"/>
          </a:xfrm>
          <a:prstGeom prst="roundRect">
            <a:avLst>
              <a:gd name="adj" fmla="val 20000"/>
            </a:avLst>
          </a:prstGeom>
          <a:solidFill>
            <a:srgbClr val="F3F5F7"/>
          </a:solidFill>
          <a:ln w="12700">
            <a:solidFill>
              <a:srgbClr val="CBD0DA"/>
            </a:solidFill>
            <a:prstDash val="solid"/>
          </a:ln>
        </p:spPr>
      </p:sp>
      <p:sp>
        <p:nvSpPr>
          <p:cNvPr id="9" name="Text 7"/>
          <p:cNvSpPr txBox="1"/>
          <p:nvPr/>
        </p:nvSpPr>
        <p:spPr>
          <a:xfrm>
            <a:off x="6382512" y="1527048"/>
            <a:ext cx="42062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B · Unexpected arrival  </a:t>
            </a:r>
            <a:pPr indent="0" marL="0">
              <a:buNone/>
            </a:pPr>
            <a:r>
              <a:rPr lang="en-US" sz="1200" dirty="0">
                <a:solidFill>
                  <a:srgbClr val="556070"/>
                </a:solidFill>
                <a:latin typeface="Calibri" pitchFamily="34" charset="0"/>
                <a:ea typeface="Calibri" pitchFamily="34" charset="-122"/>
                <a:cs typeface="Calibri" pitchFamily="34" charset="-120"/>
              </a:rPr>
              <a:t>They register themselves</a:t>
            </a:r>
            <a:endParaRPr lang="en-US" sz="1400" dirty="0"/>
          </a:p>
        </p:txBody>
      </p:sp>
      <p:sp>
        <p:nvSpPr>
          <p:cNvPr id="10" name="Shape 8"/>
          <p:cNvSpPr/>
          <p:nvPr/>
        </p:nvSpPr>
        <p:spPr>
          <a:xfrm>
            <a:off x="10634472" y="1655064"/>
            <a:ext cx="868680" cy="201168"/>
          </a:xfrm>
          <a:prstGeom prst="roundRect">
            <a:avLst>
              <a:gd name="adj" fmla="val 50000"/>
            </a:avLst>
          </a:prstGeom>
          <a:solidFill>
            <a:srgbClr val="FFE3D8"/>
          </a:solidFill>
          <a:ln w="9525">
            <a:solidFill>
              <a:srgbClr val="D85A30"/>
            </a:solidFill>
            <a:prstDash val="solid"/>
          </a:ln>
        </p:spPr>
      </p:sp>
      <p:sp>
        <p:nvSpPr>
          <p:cNvPr id="11" name="Text 9"/>
          <p:cNvSpPr txBox="1"/>
          <p:nvPr/>
        </p:nvSpPr>
        <p:spPr>
          <a:xfrm>
            <a:off x="10634472" y="1655064"/>
            <a:ext cx="868680" cy="201168"/>
          </a:xfrm>
          <a:prstGeom prst="rect">
            <a:avLst/>
          </a:prstGeom>
          <a:noFill/>
          <a:ln/>
        </p:spPr>
        <p:txBody>
          <a:bodyPr wrap="square" lIns="0" tIns="0" rIns="0" bIns="0" rtlCol="0" anchor="ctr"/>
          <a:lstStyle/>
          <a:p>
            <a:pPr algn="ctr" indent="0" marL="0">
              <a:buNone/>
            </a:pPr>
            <a:r>
              <a:rPr lang="en-US" sz="1000" b="1" dirty="0">
                <a:solidFill>
                  <a:srgbClr val="8A2E10"/>
                </a:solidFill>
                <a:latin typeface="Calibri" pitchFamily="34" charset="0"/>
                <a:ea typeface="Calibri" pitchFamily="34" charset="-122"/>
                <a:cs typeface="Calibri" pitchFamily="34" charset="-120"/>
              </a:rPr>
              <a:t>New in v2</a:t>
            </a:r>
            <a:endParaRPr lang="en-US" sz="1000" dirty="0"/>
          </a:p>
        </p:txBody>
      </p:sp>
      <p:sp>
        <p:nvSpPr>
          <p:cNvPr id="12" name="Shape 10"/>
          <p:cNvSpPr/>
          <p:nvPr/>
        </p:nvSpPr>
        <p:spPr>
          <a:xfrm>
            <a:off x="548640" y="2084832"/>
            <a:ext cx="5394960" cy="420624"/>
          </a:xfrm>
          <a:prstGeom prst="roundRect">
            <a:avLst>
              <a:gd name="adj" fmla="val 17391"/>
            </a:avLst>
          </a:prstGeom>
          <a:solidFill>
            <a:srgbClr val="E2F1EC"/>
          </a:solidFill>
          <a:ln w="12700">
            <a:solidFill>
              <a:srgbClr val="2F7F6B"/>
            </a:solidFill>
            <a:prstDash val="solid"/>
          </a:ln>
        </p:spPr>
      </p:sp>
      <p:sp>
        <p:nvSpPr>
          <p:cNvPr id="13" name="Shape 11"/>
          <p:cNvSpPr/>
          <p:nvPr/>
        </p:nvSpPr>
        <p:spPr>
          <a:xfrm>
            <a:off x="640080" y="2148840"/>
            <a:ext cx="292608" cy="292608"/>
          </a:xfrm>
          <a:prstGeom prst="ellipse">
            <a:avLst/>
          </a:prstGeom>
          <a:solidFill>
            <a:srgbClr val="2F7F6B"/>
          </a:solidFill>
          <a:ln w="12700">
            <a:solidFill>
              <a:srgbClr val="2F7F6B"/>
            </a:solidFill>
            <a:prstDash val="solid"/>
          </a:ln>
        </p:spPr>
      </p:sp>
      <p:sp>
        <p:nvSpPr>
          <p:cNvPr id="14" name="Text 12"/>
          <p:cNvSpPr txBox="1"/>
          <p:nvPr/>
        </p:nvSpPr>
        <p:spPr>
          <a:xfrm>
            <a:off x="640080"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1051560" y="2084832"/>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Invite: email, company, purpose, visit window</a:t>
            </a:r>
            <a:endParaRPr lang="en-US" sz="1300" dirty="0"/>
          </a:p>
        </p:txBody>
      </p:sp>
      <p:sp>
        <p:nvSpPr>
          <p:cNvPr id="16" name="Shape 14"/>
          <p:cNvSpPr/>
          <p:nvPr/>
        </p:nvSpPr>
        <p:spPr>
          <a:xfrm>
            <a:off x="548640" y="2596896"/>
            <a:ext cx="5394960" cy="420624"/>
          </a:xfrm>
          <a:prstGeom prst="roundRect">
            <a:avLst>
              <a:gd name="adj" fmla="val 17391"/>
            </a:avLst>
          </a:prstGeom>
          <a:solidFill>
            <a:srgbClr val="ECE9FA"/>
          </a:solidFill>
          <a:ln w="12700">
            <a:solidFill>
              <a:srgbClr val="6A5BC2"/>
            </a:solidFill>
            <a:prstDash val="solid"/>
          </a:ln>
        </p:spPr>
      </p:sp>
      <p:sp>
        <p:nvSpPr>
          <p:cNvPr id="17" name="Shape 15"/>
          <p:cNvSpPr/>
          <p:nvPr/>
        </p:nvSpPr>
        <p:spPr>
          <a:xfrm>
            <a:off x="640080" y="2660904"/>
            <a:ext cx="292608" cy="292608"/>
          </a:xfrm>
          <a:prstGeom prst="ellipse">
            <a:avLst/>
          </a:prstGeom>
          <a:solidFill>
            <a:srgbClr val="6A5BC2"/>
          </a:solidFill>
          <a:ln w="12700">
            <a:solidFill>
              <a:srgbClr val="6A5BC2"/>
            </a:solidFill>
            <a:prstDash val="solid"/>
          </a:ln>
        </p:spPr>
      </p:sp>
      <p:sp>
        <p:nvSpPr>
          <p:cNvPr id="18" name="Text 16"/>
          <p:cNvSpPr txBox="1"/>
          <p:nvPr/>
        </p:nvSpPr>
        <p:spPr>
          <a:xfrm>
            <a:off x="640080"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1051560"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Accept and register with an ID document</a:t>
            </a:r>
            <a:endParaRPr lang="en-US" sz="1300" dirty="0"/>
          </a:p>
        </p:txBody>
      </p:sp>
      <p:sp>
        <p:nvSpPr>
          <p:cNvPr id="20" name="Shape 18"/>
          <p:cNvSpPr/>
          <p:nvPr/>
        </p:nvSpPr>
        <p:spPr>
          <a:xfrm>
            <a:off x="548640" y="3108960"/>
            <a:ext cx="5394960" cy="420624"/>
          </a:xfrm>
          <a:prstGeom prst="roundRect">
            <a:avLst>
              <a:gd name="adj" fmla="val 17391"/>
            </a:avLst>
          </a:prstGeom>
          <a:solidFill>
            <a:srgbClr val="ECE9FA"/>
          </a:solidFill>
          <a:ln w="12700">
            <a:solidFill>
              <a:srgbClr val="6A5BC2"/>
            </a:solidFill>
            <a:prstDash val="solid"/>
          </a:ln>
        </p:spPr>
      </p:sp>
      <p:sp>
        <p:nvSpPr>
          <p:cNvPr id="21" name="Shape 19"/>
          <p:cNvSpPr/>
          <p:nvPr/>
        </p:nvSpPr>
        <p:spPr>
          <a:xfrm>
            <a:off x="640080" y="3172968"/>
            <a:ext cx="292608" cy="292608"/>
          </a:xfrm>
          <a:prstGeom prst="ellipse">
            <a:avLst/>
          </a:prstGeom>
          <a:solidFill>
            <a:srgbClr val="6A5BC2"/>
          </a:solidFill>
          <a:ln w="12700">
            <a:solidFill>
              <a:srgbClr val="6A5BC2"/>
            </a:solidFill>
            <a:prstDash val="solid"/>
          </a:ln>
        </p:spPr>
      </p:sp>
      <p:sp>
        <p:nvSpPr>
          <p:cNvPr id="22" name="Text 20"/>
          <p:cNvSpPr txBox="1"/>
          <p:nvPr/>
        </p:nvSpPr>
        <p:spPr>
          <a:xfrm>
            <a:off x="640080"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1051560"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24" name="Shape 22"/>
          <p:cNvSpPr/>
          <p:nvPr/>
        </p:nvSpPr>
        <p:spPr>
          <a:xfrm>
            <a:off x="548640" y="3621024"/>
            <a:ext cx="5394960" cy="420624"/>
          </a:xfrm>
          <a:prstGeom prst="roundRect">
            <a:avLst>
              <a:gd name="adj" fmla="val 17391"/>
            </a:avLst>
          </a:prstGeom>
          <a:solidFill>
            <a:srgbClr val="E2F1EC"/>
          </a:solidFill>
          <a:ln w="12700">
            <a:solidFill>
              <a:srgbClr val="2F7F6B"/>
            </a:solidFill>
            <a:prstDash val="solid"/>
          </a:ln>
        </p:spPr>
      </p:sp>
      <p:sp>
        <p:nvSpPr>
          <p:cNvPr id="25" name="Shape 23"/>
          <p:cNvSpPr/>
          <p:nvPr/>
        </p:nvSpPr>
        <p:spPr>
          <a:xfrm>
            <a:off x="640080" y="3685032"/>
            <a:ext cx="292608" cy="292608"/>
          </a:xfrm>
          <a:prstGeom prst="ellipse">
            <a:avLst/>
          </a:prstGeom>
          <a:solidFill>
            <a:srgbClr val="2F7F6B"/>
          </a:solidFill>
          <a:ln w="12700">
            <a:solidFill>
              <a:srgbClr val="2F7F6B"/>
            </a:solidFill>
            <a:prstDash val="solid"/>
          </a:ln>
        </p:spPr>
      </p:sp>
      <p:sp>
        <p:nvSpPr>
          <p:cNvPr id="26" name="Text 24"/>
          <p:cNvSpPr txBox="1"/>
          <p:nvPr/>
        </p:nvSpPr>
        <p:spPr>
          <a:xfrm>
            <a:off x="640080"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1051560" y="3621024"/>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Review the evidence: verify or reject the ID</a:t>
            </a:r>
            <a:endParaRPr lang="en-US" sz="1300" dirty="0"/>
          </a:p>
        </p:txBody>
      </p:sp>
      <p:sp>
        <p:nvSpPr>
          <p:cNvPr id="28" name="Shape 26"/>
          <p:cNvSpPr/>
          <p:nvPr/>
        </p:nvSpPr>
        <p:spPr>
          <a:xfrm>
            <a:off x="548640" y="4133088"/>
            <a:ext cx="5394960" cy="420624"/>
          </a:xfrm>
          <a:prstGeom prst="roundRect">
            <a:avLst>
              <a:gd name="adj" fmla="val 17391"/>
            </a:avLst>
          </a:prstGeom>
          <a:solidFill>
            <a:srgbClr val="E2F1EC"/>
          </a:solidFill>
          <a:ln w="12700">
            <a:solidFill>
              <a:srgbClr val="2F7F6B"/>
            </a:solidFill>
            <a:prstDash val="solid"/>
          </a:ln>
        </p:spPr>
      </p:sp>
      <p:sp>
        <p:nvSpPr>
          <p:cNvPr id="29" name="Shape 27"/>
          <p:cNvSpPr/>
          <p:nvPr/>
        </p:nvSpPr>
        <p:spPr>
          <a:xfrm>
            <a:off x="640080" y="4197096"/>
            <a:ext cx="292608" cy="292608"/>
          </a:xfrm>
          <a:prstGeom prst="ellipse">
            <a:avLst/>
          </a:prstGeom>
          <a:solidFill>
            <a:srgbClr val="2F7F6B"/>
          </a:solidFill>
          <a:ln w="12700">
            <a:solidFill>
              <a:srgbClr val="2F7F6B"/>
            </a:solidFill>
            <a:prstDash val="solid"/>
          </a:ln>
        </p:spPr>
      </p:sp>
      <p:sp>
        <p:nvSpPr>
          <p:cNvPr id="30" name="Text 28"/>
          <p:cNvSpPr txBox="1"/>
          <p:nvPr/>
        </p:nvSpPr>
        <p:spPr>
          <a:xfrm>
            <a:off x="640080"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1051560" y="4133088"/>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Training and approval</a:t>
            </a:r>
            <a:endParaRPr lang="en-US" sz="1300" dirty="0"/>
          </a:p>
        </p:txBody>
      </p:sp>
      <p:sp>
        <p:nvSpPr>
          <p:cNvPr id="32" name="Shape 30"/>
          <p:cNvSpPr/>
          <p:nvPr/>
        </p:nvSpPr>
        <p:spPr>
          <a:xfrm>
            <a:off x="548640" y="4645152"/>
            <a:ext cx="5394960" cy="420624"/>
          </a:xfrm>
          <a:prstGeom prst="roundRect">
            <a:avLst>
              <a:gd name="adj" fmla="val 17391"/>
            </a:avLst>
          </a:prstGeom>
          <a:solidFill>
            <a:srgbClr val="ECEEF2"/>
          </a:solidFill>
          <a:ln w="12700">
            <a:solidFill>
              <a:srgbClr val="6B7482"/>
            </a:solidFill>
            <a:prstDash val="solid"/>
          </a:ln>
        </p:spPr>
      </p:sp>
      <p:sp>
        <p:nvSpPr>
          <p:cNvPr id="33" name="Shape 31"/>
          <p:cNvSpPr/>
          <p:nvPr/>
        </p:nvSpPr>
        <p:spPr>
          <a:xfrm>
            <a:off x="640080" y="4709160"/>
            <a:ext cx="292608" cy="292608"/>
          </a:xfrm>
          <a:prstGeom prst="ellipse">
            <a:avLst/>
          </a:prstGeom>
          <a:solidFill>
            <a:srgbClr val="6B7482"/>
          </a:solidFill>
          <a:ln w="12700">
            <a:solidFill>
              <a:srgbClr val="6B7482"/>
            </a:solidFill>
            <a:prstDash val="solid"/>
          </a:ln>
        </p:spPr>
      </p:sp>
      <p:sp>
        <p:nvSpPr>
          <p:cNvPr id="34" name="Text 32"/>
          <p:cNvSpPr txBox="1"/>
          <p:nvPr/>
        </p:nvSpPr>
        <p:spPr>
          <a:xfrm>
            <a:off x="640080" y="4709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5" name="Text 33"/>
          <p:cNvSpPr txBox="1"/>
          <p:nvPr/>
        </p:nvSpPr>
        <p:spPr>
          <a:xfrm>
            <a:off x="1051560" y="4645152"/>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Set entry and exit time, email the QR</a:t>
            </a:r>
            <a:endParaRPr lang="en-US" sz="1300" dirty="0"/>
          </a:p>
        </p:txBody>
      </p:sp>
      <p:sp>
        <p:nvSpPr>
          <p:cNvPr id="36" name="Shape 34"/>
          <p:cNvSpPr/>
          <p:nvPr/>
        </p:nvSpPr>
        <p:spPr>
          <a:xfrm>
            <a:off x="6245352" y="2084832"/>
            <a:ext cx="5394960" cy="420624"/>
          </a:xfrm>
          <a:prstGeom prst="roundRect">
            <a:avLst>
              <a:gd name="adj" fmla="val 17391"/>
            </a:avLst>
          </a:prstGeom>
          <a:solidFill>
            <a:srgbClr val="ECE9FA"/>
          </a:solidFill>
          <a:ln w="12700">
            <a:solidFill>
              <a:srgbClr val="6A5BC2"/>
            </a:solidFill>
            <a:prstDash val="solid"/>
          </a:ln>
        </p:spPr>
      </p:sp>
      <p:sp>
        <p:nvSpPr>
          <p:cNvPr id="37" name="Shape 35"/>
          <p:cNvSpPr/>
          <p:nvPr/>
        </p:nvSpPr>
        <p:spPr>
          <a:xfrm>
            <a:off x="6336792" y="2148840"/>
            <a:ext cx="292608" cy="292608"/>
          </a:xfrm>
          <a:prstGeom prst="ellipse">
            <a:avLst/>
          </a:prstGeom>
          <a:solidFill>
            <a:srgbClr val="6A5BC2"/>
          </a:solidFill>
          <a:ln w="12700">
            <a:solidFill>
              <a:srgbClr val="6A5BC2"/>
            </a:solidFill>
            <a:prstDash val="solid"/>
          </a:ln>
        </p:spPr>
      </p:sp>
      <p:sp>
        <p:nvSpPr>
          <p:cNvPr id="38" name="Text 36"/>
          <p:cNvSpPr txBox="1"/>
          <p:nvPr/>
        </p:nvSpPr>
        <p:spPr>
          <a:xfrm>
            <a:off x="6336792"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9" name="Text 37"/>
          <p:cNvSpPr txBox="1"/>
          <p:nvPr/>
        </p:nvSpPr>
        <p:spPr>
          <a:xfrm>
            <a:off x="6748272" y="2084832"/>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Scan the entrance sign</a:t>
            </a:r>
            <a:endParaRPr lang="en-US" sz="1300" dirty="0"/>
          </a:p>
        </p:txBody>
      </p:sp>
      <p:sp>
        <p:nvSpPr>
          <p:cNvPr id="40" name="Shape 38"/>
          <p:cNvSpPr/>
          <p:nvPr/>
        </p:nvSpPr>
        <p:spPr>
          <a:xfrm>
            <a:off x="6245352" y="2596896"/>
            <a:ext cx="5394960" cy="420624"/>
          </a:xfrm>
          <a:prstGeom prst="roundRect">
            <a:avLst>
              <a:gd name="adj" fmla="val 17391"/>
            </a:avLst>
          </a:prstGeom>
          <a:solidFill>
            <a:srgbClr val="ECE9FA"/>
          </a:solidFill>
          <a:ln w="12700">
            <a:solidFill>
              <a:srgbClr val="6A5BC2"/>
            </a:solidFill>
            <a:prstDash val="solid"/>
          </a:ln>
        </p:spPr>
      </p:sp>
      <p:sp>
        <p:nvSpPr>
          <p:cNvPr id="41" name="Shape 39"/>
          <p:cNvSpPr/>
          <p:nvPr/>
        </p:nvSpPr>
        <p:spPr>
          <a:xfrm>
            <a:off x="6336792" y="2660904"/>
            <a:ext cx="292608" cy="292608"/>
          </a:xfrm>
          <a:prstGeom prst="ellipse">
            <a:avLst/>
          </a:prstGeom>
          <a:solidFill>
            <a:srgbClr val="6A5BC2"/>
          </a:solidFill>
          <a:ln w="12700">
            <a:solidFill>
              <a:srgbClr val="6A5BC2"/>
            </a:solidFill>
            <a:prstDash val="solid"/>
          </a:ln>
        </p:spPr>
      </p:sp>
      <p:sp>
        <p:nvSpPr>
          <p:cNvPr id="42" name="Text 40"/>
          <p:cNvSpPr txBox="1"/>
          <p:nvPr/>
        </p:nvSpPr>
        <p:spPr>
          <a:xfrm>
            <a:off x="6336792"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1"/>
          <p:cNvSpPr txBox="1"/>
          <p:nvPr/>
        </p:nvSpPr>
        <p:spPr>
          <a:xfrm>
            <a:off x="6748272"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Fill in the form and upload an ID with its expiry date</a:t>
            </a:r>
            <a:endParaRPr lang="en-US" sz="1300" dirty="0"/>
          </a:p>
        </p:txBody>
      </p:sp>
      <p:sp>
        <p:nvSpPr>
          <p:cNvPr id="44" name="Shape 42"/>
          <p:cNvSpPr/>
          <p:nvPr/>
        </p:nvSpPr>
        <p:spPr>
          <a:xfrm>
            <a:off x="6245352" y="3108960"/>
            <a:ext cx="5394960" cy="420624"/>
          </a:xfrm>
          <a:prstGeom prst="roundRect">
            <a:avLst>
              <a:gd name="adj" fmla="val 17391"/>
            </a:avLst>
          </a:prstGeom>
          <a:solidFill>
            <a:srgbClr val="ECE9FA"/>
          </a:solidFill>
          <a:ln w="12700">
            <a:solidFill>
              <a:srgbClr val="6A5BC2"/>
            </a:solidFill>
            <a:prstDash val="solid"/>
          </a:ln>
        </p:spPr>
      </p:sp>
      <p:sp>
        <p:nvSpPr>
          <p:cNvPr id="45" name="Shape 43"/>
          <p:cNvSpPr/>
          <p:nvPr/>
        </p:nvSpPr>
        <p:spPr>
          <a:xfrm>
            <a:off x="6336792" y="3172968"/>
            <a:ext cx="292608" cy="292608"/>
          </a:xfrm>
          <a:prstGeom prst="ellipse">
            <a:avLst/>
          </a:prstGeom>
          <a:solidFill>
            <a:srgbClr val="6A5BC2"/>
          </a:solidFill>
          <a:ln w="12700">
            <a:solidFill>
              <a:srgbClr val="6A5BC2"/>
            </a:solidFill>
            <a:prstDash val="solid"/>
          </a:ln>
        </p:spPr>
      </p:sp>
      <p:sp>
        <p:nvSpPr>
          <p:cNvPr id="46" name="Text 44"/>
          <p:cNvSpPr txBox="1"/>
          <p:nvPr/>
        </p:nvSpPr>
        <p:spPr>
          <a:xfrm>
            <a:off x="6336792"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7" name="Text 45"/>
          <p:cNvSpPr txBox="1"/>
          <p:nvPr/>
        </p:nvSpPr>
        <p:spPr>
          <a:xfrm>
            <a:off x="6748272"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48" name="Shape 46"/>
          <p:cNvSpPr/>
          <p:nvPr/>
        </p:nvSpPr>
        <p:spPr>
          <a:xfrm>
            <a:off x="6245352" y="3621024"/>
            <a:ext cx="5394960" cy="420624"/>
          </a:xfrm>
          <a:prstGeom prst="roundRect">
            <a:avLst>
              <a:gd name="adj" fmla="val 17391"/>
            </a:avLst>
          </a:prstGeom>
          <a:solidFill>
            <a:srgbClr val="ECEEF2"/>
          </a:solidFill>
          <a:ln w="12700">
            <a:solidFill>
              <a:srgbClr val="6B7482"/>
            </a:solidFill>
            <a:prstDash val="solid"/>
          </a:ln>
        </p:spPr>
      </p:sp>
      <p:sp>
        <p:nvSpPr>
          <p:cNvPr id="49" name="Shape 47"/>
          <p:cNvSpPr/>
          <p:nvPr/>
        </p:nvSpPr>
        <p:spPr>
          <a:xfrm>
            <a:off x="6336792" y="3685032"/>
            <a:ext cx="292608" cy="292608"/>
          </a:xfrm>
          <a:prstGeom prst="ellipse">
            <a:avLst/>
          </a:prstGeom>
          <a:solidFill>
            <a:srgbClr val="6B7482"/>
          </a:solidFill>
          <a:ln w="12700">
            <a:solidFill>
              <a:srgbClr val="6B7482"/>
            </a:solidFill>
            <a:prstDash val="solid"/>
          </a:ln>
        </p:spPr>
      </p:sp>
      <p:sp>
        <p:nvSpPr>
          <p:cNvPr id="50" name="Text 48"/>
          <p:cNvSpPr txBox="1"/>
          <p:nvPr/>
        </p:nvSpPr>
        <p:spPr>
          <a:xfrm>
            <a:off x="6336792"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6748272" y="3621024"/>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Check the email address with a 6-digit code</a:t>
            </a:r>
            <a:endParaRPr lang="en-US" sz="1300" dirty="0"/>
          </a:p>
        </p:txBody>
      </p:sp>
      <p:sp>
        <p:nvSpPr>
          <p:cNvPr id="52" name="Shape 50"/>
          <p:cNvSpPr/>
          <p:nvPr/>
        </p:nvSpPr>
        <p:spPr>
          <a:xfrm>
            <a:off x="6245352" y="4133088"/>
            <a:ext cx="5394960" cy="420624"/>
          </a:xfrm>
          <a:prstGeom prst="roundRect">
            <a:avLst>
              <a:gd name="adj" fmla="val 17391"/>
            </a:avLst>
          </a:prstGeom>
          <a:solidFill>
            <a:srgbClr val="ECEEF2"/>
          </a:solidFill>
          <a:ln w="12700">
            <a:solidFill>
              <a:srgbClr val="6B7482"/>
            </a:solidFill>
            <a:prstDash val="solid"/>
          </a:ln>
        </p:spPr>
      </p:sp>
      <p:sp>
        <p:nvSpPr>
          <p:cNvPr id="53" name="Shape 51"/>
          <p:cNvSpPr/>
          <p:nvPr/>
        </p:nvSpPr>
        <p:spPr>
          <a:xfrm>
            <a:off x="6336792" y="4197096"/>
            <a:ext cx="292608" cy="292608"/>
          </a:xfrm>
          <a:prstGeom prst="ellipse">
            <a:avLst/>
          </a:prstGeom>
          <a:solidFill>
            <a:srgbClr val="6B7482"/>
          </a:solidFill>
          <a:ln w="12700">
            <a:solidFill>
              <a:srgbClr val="6B7482"/>
            </a:solidFill>
            <a:prstDash val="solid"/>
          </a:ln>
        </p:spPr>
      </p:sp>
      <p:sp>
        <p:nvSpPr>
          <p:cNvPr id="54" name="Text 52"/>
          <p:cNvSpPr txBox="1"/>
          <p:nvPr/>
        </p:nvSpPr>
        <p:spPr>
          <a:xfrm>
            <a:off x="6336792"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5" name="Text 53"/>
          <p:cNvSpPr txBox="1"/>
          <p:nvPr/>
        </p:nvSpPr>
        <p:spPr>
          <a:xfrm>
            <a:off x="6748272" y="4133088"/>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Entry QR, reference and validity issued</a:t>
            </a:r>
            <a:endParaRPr lang="en-US" sz="1300" dirty="0"/>
          </a:p>
        </p:txBody>
      </p:sp>
      <p:sp>
        <p:nvSpPr>
          <p:cNvPr id="56" name="Shape 54"/>
          <p:cNvSpPr/>
          <p:nvPr/>
        </p:nvSpPr>
        <p:spPr>
          <a:xfrm>
            <a:off x="6245352" y="4645152"/>
            <a:ext cx="5394960" cy="420624"/>
          </a:xfrm>
          <a:prstGeom prst="roundRect">
            <a:avLst>
              <a:gd name="adj" fmla="val 17391"/>
            </a:avLst>
          </a:prstGeom>
          <a:solidFill>
            <a:srgbClr val="FFFFFF"/>
          </a:solidFill>
          <a:ln w="12700">
            <a:solidFill>
              <a:srgbClr val="D85A30"/>
            </a:solidFill>
            <a:prstDash val="dash"/>
          </a:ln>
        </p:spPr>
      </p:sp>
      <p:sp>
        <p:nvSpPr>
          <p:cNvPr id="57" name="Text 55"/>
          <p:cNvSpPr txBox="1"/>
          <p:nvPr/>
        </p:nvSpPr>
        <p:spPr>
          <a:xfrm>
            <a:off x="6382512" y="4645152"/>
            <a:ext cx="5212080" cy="420624"/>
          </a:xfrm>
          <a:prstGeom prst="rect">
            <a:avLst/>
          </a:prstGeom>
          <a:noFill/>
          <a:ln/>
        </p:spPr>
        <p:txBody>
          <a:bodyPr wrap="square" lIns="0" tIns="0" rIns="0" bIns="0" rtlCol="0" anchor="ctr"/>
          <a:lstStyle/>
          <a:p>
            <a:pPr indent="0" marL="0">
              <a:buNone/>
            </a:pPr>
            <a:r>
              <a:rPr lang="en-US" sz="1200" dirty="0">
                <a:solidFill>
                  <a:srgbClr val="8A2E10"/>
                </a:solidFill>
                <a:latin typeface="Calibri" pitchFamily="34" charset="0"/>
                <a:ea typeface="Calibri" pitchFamily="34" charset="-122"/>
                <a:cs typeface="Calibri" pitchFamily="34" charset="-120"/>
              </a:rPr>
              <a:t>Open for Renewi: who may use Path B, and how do we know they are expected?</a:t>
            </a:r>
            <a:endParaRPr lang="en-US" sz="1200" dirty="0"/>
          </a:p>
        </p:txBody>
      </p:sp>
      <p:sp>
        <p:nvSpPr>
          <p:cNvPr id="58" name="Shape 56"/>
          <p:cNvSpPr/>
          <p:nvPr/>
        </p:nvSpPr>
        <p:spPr>
          <a:xfrm>
            <a:off x="548640" y="5166360"/>
            <a:ext cx="11091672" cy="457200"/>
          </a:xfrm>
          <a:prstGeom prst="roundRect">
            <a:avLst>
              <a:gd name="adj" fmla="val 16000"/>
            </a:avLst>
          </a:prstGeom>
          <a:solidFill>
            <a:srgbClr val="FBEFD9"/>
          </a:solidFill>
          <a:ln w="12700">
            <a:solidFill>
              <a:srgbClr val="B7791F"/>
            </a:solidFill>
            <a:prstDash val="solid"/>
          </a:ln>
        </p:spPr>
      </p:sp>
      <p:sp>
        <p:nvSpPr>
          <p:cNvPr id="59" name="Text 57"/>
          <p:cNvSpPr txBox="1"/>
          <p:nvPr/>
        </p:nvSpPr>
        <p:spPr>
          <a:xfrm>
            <a:off x="731520" y="5166360"/>
            <a:ext cx="10789920" cy="45720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AT THE GATE  </a:t>
            </a:r>
            <a:pPr indent="0" marL="0">
              <a:buNone/>
            </a:pPr>
            <a:r>
              <a:rPr lang="en-US" sz="1400" dirty="0">
                <a:solidFill>
                  <a:srgbClr val="573906"/>
                </a:solidFill>
                <a:latin typeface="Calibri" pitchFamily="34" charset="0"/>
                <a:ea typeface="Calibri" pitchFamily="34" charset="-122"/>
                <a:cs typeface="Calibri" pitchFamily="34" charset="-120"/>
              </a:rPr>
              <a:t>Read the code  →  Check entry and exit time and the records  →  Let in, or refuse and record why</a:t>
            </a:r>
            <a:endParaRPr lang="en-US" sz="1100" dirty="0"/>
          </a:p>
        </p:txBody>
      </p:sp>
      <p:sp>
        <p:nvSpPr>
          <p:cNvPr id="60" name="Shape 58"/>
          <p:cNvSpPr/>
          <p:nvPr/>
        </p:nvSpPr>
        <p:spPr>
          <a:xfrm>
            <a:off x="548640" y="5715000"/>
            <a:ext cx="11091672" cy="457200"/>
          </a:xfrm>
          <a:prstGeom prst="roundRect">
            <a:avLst>
              <a:gd name="adj" fmla="val 16000"/>
            </a:avLst>
          </a:prstGeom>
          <a:solidFill>
            <a:srgbClr val="ECEEF2"/>
          </a:solidFill>
          <a:ln w="12700">
            <a:solidFill>
              <a:srgbClr val="6B7482"/>
            </a:solidFill>
            <a:prstDash val="solid"/>
          </a:ln>
        </p:spPr>
      </p:sp>
      <p:sp>
        <p:nvSpPr>
          <p:cNvPr id="61" name="Text 59"/>
          <p:cNvSpPr txBox="1"/>
          <p:nvPr/>
        </p:nvSpPr>
        <p:spPr>
          <a:xfrm>
            <a:off x="731520" y="5715000"/>
            <a:ext cx="10789920" cy="457200"/>
          </a:xfrm>
          <a:prstGeom prst="rect">
            <a:avLst/>
          </a:prstGeom>
          <a:noFill/>
          <a:ln/>
        </p:spPr>
        <p:txBody>
          <a:bodyPr wrap="square" lIns="0" tIns="0" rIns="0" bIns="0" rtlCol="0" anchor="ctr"/>
          <a:lstStyle/>
          <a:p>
            <a:pPr indent="0" marL="0">
              <a:buNone/>
            </a:pPr>
            <a:r>
              <a:rPr lang="en-US" sz="1100" b="1" dirty="0">
                <a:solidFill>
                  <a:srgbClr val="6B7482"/>
                </a:solidFill>
                <a:latin typeface="Calibri" pitchFamily="34" charset="0"/>
                <a:ea typeface="Calibri" pitchFamily="34" charset="-122"/>
                <a:cs typeface="Calibri" pitchFamily="34" charset="-120"/>
              </a:rPr>
              <a:t>ON SITE AND AFTER  </a:t>
            </a:r>
            <a:pPr indent="0" marL="0">
              <a:buNone/>
            </a:pPr>
            <a:r>
              <a:rPr lang="en-US" sz="1400" dirty="0">
                <a:solidFill>
                  <a:srgbClr val="232831"/>
                </a:solidFill>
                <a:latin typeface="Calibri" pitchFamily="34" charset="0"/>
                <a:ea typeface="Calibri" pitchFamily="34" charset="-122"/>
                <a:cs typeface="Calibri" pitchFamily="34" charset="-120"/>
              </a:rPr>
              <a:t>Live roster and dashboard, both paths  →  Overdue flagged  →  Record exit  →  Audit trail</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planned arrival</a:t>
            </a:r>
            <a:endParaRPr lang="en-US" sz="3200" dirty="0"/>
          </a:p>
        </p:txBody>
      </p:sp>
      <p:sp>
        <p:nvSpPr>
          <p:cNvPr id="3" name="card Invite"/>
          <p:cNvSpPr/>
          <p:nvPr/>
        </p:nvSpPr>
        <p:spPr>
          <a:xfrm>
            <a:off x="548640" y="1325880"/>
            <a:ext cx="3566160" cy="2331720"/>
          </a:xfrm>
          <a:prstGeom prst="roundRect">
            <a:avLst>
              <a:gd name="adj" fmla="val 3922"/>
            </a:avLst>
          </a:prstGeom>
          <a:solidFill>
            <a:srgbClr val="E2F1EC"/>
          </a:solidFill>
          <a:ln w="12700">
            <a:solidFill>
              <a:srgbClr val="2F7F6B"/>
            </a:solidFill>
            <a:prstDash val="solid"/>
          </a:ln>
        </p:spPr>
      </p:sp>
      <p:sp>
        <p:nvSpPr>
          <p:cNvPr id="4" name="num 1"/>
          <p:cNvSpPr/>
          <p:nvPr/>
        </p:nvSpPr>
        <p:spPr>
          <a:xfrm>
            <a:off x="731520" y="1508760"/>
            <a:ext cx="384048" cy="384048"/>
          </a:xfrm>
          <a:prstGeom prst="ellipse">
            <a:avLst/>
          </a:prstGeom>
          <a:solidFill>
            <a:srgbClr val="2F7F6B"/>
          </a:solidFill>
          <a:ln w="12700">
            <a:solidFill>
              <a:srgbClr val="2F7F6B"/>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Invite</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enter the person's email, company, purpose and visit window. An email with an accept link is sent.</a:t>
            </a:r>
            <a:endParaRPr lang="en-US" sz="1400" dirty="0"/>
          </a:p>
        </p:txBody>
      </p:sp>
      <p:sp>
        <p:nvSpPr>
          <p:cNvPr id="9" name="card Accept and register"/>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Accept and register</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person opens the link, accepts, enters their name and uploads an ID document with its expiry date.</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Shape 17"/>
          <p:cNvSpPr/>
          <p:nvPr/>
        </p:nvSpPr>
        <p:spPr>
          <a:xfrm>
            <a:off x="10515600" y="1435608"/>
            <a:ext cx="914400" cy="237744"/>
          </a:xfrm>
          <a:prstGeom prst="roundRect">
            <a:avLst>
              <a:gd name="adj" fmla="val 50000"/>
            </a:avLst>
          </a:prstGeom>
          <a:solidFill>
            <a:srgbClr val="FFE3D8"/>
          </a:solidFill>
          <a:ln w="9525">
            <a:solidFill>
              <a:srgbClr val="D85A30"/>
            </a:solidFill>
            <a:prstDash val="solid"/>
          </a:ln>
        </p:spPr>
      </p:sp>
      <p:sp>
        <p:nvSpPr>
          <p:cNvPr id="20" name="Text 18"/>
          <p:cNvSpPr txBox="1"/>
          <p:nvPr/>
        </p:nvSpPr>
        <p:spPr>
          <a:xfrm>
            <a:off x="1051560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2" name="Text 20"/>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They tick one statement that they read and understood the rules. Wording, version and time are stored.</a:t>
            </a:r>
            <a:endParaRPr lang="en-US" sz="1400" dirty="0"/>
          </a:p>
        </p:txBody>
      </p:sp>
      <p:sp>
        <p:nvSpPr>
          <p:cNvPr id="23" name="card Review the evidence"/>
          <p:cNvSpPr/>
          <p:nvPr/>
        </p:nvSpPr>
        <p:spPr>
          <a:xfrm>
            <a:off x="548640" y="3840480"/>
            <a:ext cx="3566160" cy="2331720"/>
          </a:xfrm>
          <a:prstGeom prst="roundRect">
            <a:avLst>
              <a:gd name="adj" fmla="val 3922"/>
            </a:avLst>
          </a:prstGeom>
          <a:solidFill>
            <a:srgbClr val="E2F1EC"/>
          </a:solidFill>
          <a:ln w="12700">
            <a:solidFill>
              <a:srgbClr val="2F7F6B"/>
            </a:solidFill>
            <a:prstDash val="solid"/>
          </a:ln>
        </p:spPr>
      </p:sp>
      <p:sp>
        <p:nvSpPr>
          <p:cNvPr id="24" name="num 4"/>
          <p:cNvSpPr/>
          <p:nvPr/>
        </p:nvSpPr>
        <p:spPr>
          <a:xfrm>
            <a:off x="731520" y="4023360"/>
            <a:ext cx="384048" cy="384048"/>
          </a:xfrm>
          <a:prstGeom prst="ellipse">
            <a:avLst/>
          </a:prstGeom>
          <a:solidFill>
            <a:srgbClr val="2F7F6B"/>
          </a:solidFill>
          <a:ln w="12700">
            <a:solidFill>
              <a:srgbClr val="2F7F6B"/>
            </a:solidFill>
            <a:prstDash val="solid"/>
          </a:ln>
        </p:spPr>
      </p:sp>
      <p:sp>
        <p:nvSpPr>
          <p:cNvPr id="25" name="Text 23"/>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27" name="Text 25"/>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Review the evidence</a:t>
            </a:r>
            <a:endParaRPr lang="en-US" sz="1600" dirty="0"/>
          </a:p>
        </p:txBody>
      </p:sp>
      <p:sp>
        <p:nvSpPr>
          <p:cNvPr id="28" name="Text 26"/>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compare the ID with what was entered, then verify or reject it. Nothing moves on until it is verified.</a:t>
            </a:r>
            <a:endParaRPr lang="en-US" sz="1400" dirty="0"/>
          </a:p>
        </p:txBody>
      </p:sp>
      <p:sp>
        <p:nvSpPr>
          <p:cNvPr id="29" name="card Training and approval"/>
          <p:cNvSpPr/>
          <p:nvPr/>
        </p:nvSpPr>
        <p:spPr>
          <a:xfrm>
            <a:off x="4297680" y="3840480"/>
            <a:ext cx="3566160" cy="2331720"/>
          </a:xfrm>
          <a:prstGeom prst="roundRect">
            <a:avLst>
              <a:gd name="adj" fmla="val 3922"/>
            </a:avLst>
          </a:prstGeom>
          <a:solidFill>
            <a:srgbClr val="E2F1EC"/>
          </a:solidFill>
          <a:ln w="12700">
            <a:solidFill>
              <a:srgbClr val="2F7F6B"/>
            </a:solidFill>
            <a:prstDash val="solid"/>
          </a:ln>
        </p:spPr>
      </p:sp>
      <p:sp>
        <p:nvSpPr>
          <p:cNvPr id="30" name="num 5"/>
          <p:cNvSpPr/>
          <p:nvPr/>
        </p:nvSpPr>
        <p:spPr>
          <a:xfrm>
            <a:off x="4480560" y="4023360"/>
            <a:ext cx="384048" cy="384048"/>
          </a:xfrm>
          <a:prstGeom prst="ellipse">
            <a:avLst/>
          </a:prstGeom>
          <a:solidFill>
            <a:srgbClr val="2F7F6B"/>
          </a:solidFill>
          <a:ln w="12700">
            <a:solidFill>
              <a:srgbClr val="2F7F6B"/>
            </a:solidFill>
            <a:prstDash val="solid"/>
          </a:ln>
        </p:spPr>
      </p:sp>
      <p:sp>
        <p:nvSpPr>
          <p:cNvPr id="31" name="Text 29"/>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33" name="Text 31"/>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Training and approval</a:t>
            </a:r>
            <a:endParaRPr lang="en-US" sz="1600" dirty="0"/>
          </a:p>
        </p:txBody>
      </p:sp>
      <p:sp>
        <p:nvSpPr>
          <p:cNvPr id="34" name="Text 32"/>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An administrator confirms the training, then staff approve. Blacklist, compliance and the confirmation are checked.</a:t>
            </a:r>
            <a:endParaRPr lang="en-US" sz="1400" dirty="0"/>
          </a:p>
        </p:txBody>
      </p:sp>
      <p:sp>
        <p:nvSpPr>
          <p:cNvPr id="35" name="card Set times, issue QR"/>
          <p:cNvSpPr/>
          <p:nvPr/>
        </p:nvSpPr>
        <p:spPr>
          <a:xfrm>
            <a:off x="8046720" y="3840480"/>
            <a:ext cx="3566160" cy="2331720"/>
          </a:xfrm>
          <a:prstGeom prst="roundRect">
            <a:avLst>
              <a:gd name="adj" fmla="val 3922"/>
            </a:avLst>
          </a:prstGeom>
          <a:solidFill>
            <a:srgbClr val="ECEEF2"/>
          </a:solidFill>
          <a:ln w="12700">
            <a:solidFill>
              <a:srgbClr val="6B7482"/>
            </a:solidFill>
            <a:prstDash val="solid"/>
          </a:ln>
        </p:spPr>
      </p:sp>
      <p:sp>
        <p:nvSpPr>
          <p:cNvPr id="36" name="num 6"/>
          <p:cNvSpPr/>
          <p:nvPr/>
        </p:nvSpPr>
        <p:spPr>
          <a:xfrm>
            <a:off x="8229600" y="4023360"/>
            <a:ext cx="384048" cy="384048"/>
          </a:xfrm>
          <a:prstGeom prst="ellipse">
            <a:avLst/>
          </a:prstGeom>
          <a:solidFill>
            <a:srgbClr val="6B7482"/>
          </a:solidFill>
          <a:ln w="12700">
            <a:solidFill>
              <a:srgbClr val="6B7482"/>
            </a:solidFill>
            <a:prstDash val="solid"/>
          </a:ln>
        </p:spPr>
      </p:sp>
      <p:sp>
        <p:nvSpPr>
          <p:cNvPr id="37" name="Text 35"/>
          <p:cNvSpPr txBox="1"/>
          <p:nvPr/>
        </p:nvSpPr>
        <p:spPr>
          <a:xfrm>
            <a:off x="822960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873252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9" name="Text 37"/>
          <p:cNvSpPr txBox="1"/>
          <p:nvPr/>
        </p:nvSpPr>
        <p:spPr>
          <a:xfrm>
            <a:off x="873252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Set times, issue QR</a:t>
            </a:r>
            <a:endParaRPr lang="en-US" sz="1600" dirty="0"/>
          </a:p>
        </p:txBody>
      </p:sp>
      <p:sp>
        <p:nvSpPr>
          <p:cNvPr id="40" name="Text 38"/>
          <p:cNvSpPr txBox="1"/>
          <p:nvPr/>
        </p:nvSpPr>
        <p:spPr>
          <a:xfrm>
            <a:off x="873252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Staff set when the QR opens and stops, within the visit and the site's longest allowed time. It is emailed with both times.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user flow: planned arrival</a:t>
            </a:r>
            <a:endParaRPr lang="en-US" sz="3200" dirty="0"/>
          </a:p>
        </p:txBody>
      </p:sp>
      <p:sp>
        <p:nvSpPr>
          <p:cNvPr id="3" name="Shape 1"/>
          <p:cNvSpPr/>
          <p:nvPr/>
        </p:nvSpPr>
        <p:spPr>
          <a:xfrm>
            <a:off x="548640" y="1280160"/>
            <a:ext cx="11091672" cy="1097280"/>
          </a:xfrm>
          <a:prstGeom prst="rect">
            <a:avLst/>
          </a:prstGeom>
          <a:solidFill>
            <a:srgbClr val="F7F8FA"/>
          </a:solidFill>
          <a:ln w="9525">
            <a:solidFill>
              <a:srgbClr val="E1E5EA"/>
            </a:solidFill>
            <a:prstDash val="solid"/>
          </a:ln>
        </p:spPr>
      </p:sp>
      <p:sp>
        <p:nvSpPr>
          <p:cNvPr id="4" name="Shape 2"/>
          <p:cNvSpPr/>
          <p:nvPr/>
        </p:nvSpPr>
        <p:spPr>
          <a:xfrm>
            <a:off x="548640" y="1280160"/>
            <a:ext cx="1234440" cy="1097280"/>
          </a:xfrm>
          <a:prstGeom prst="rect">
            <a:avLst/>
          </a:prstGeom>
          <a:solidFill>
            <a:srgbClr val="E2F1EC"/>
          </a:solidFill>
          <a:ln w="12700">
            <a:solidFill>
              <a:srgbClr val="2F7F6B"/>
            </a:solidFill>
            <a:prstDash val="solid"/>
          </a:ln>
        </p:spPr>
      </p:sp>
      <p:sp>
        <p:nvSpPr>
          <p:cNvPr id="5" name="Text 3"/>
          <p:cNvSpPr txBox="1"/>
          <p:nvPr/>
        </p:nvSpPr>
        <p:spPr>
          <a:xfrm>
            <a:off x="594360" y="1280160"/>
            <a:ext cx="1143000" cy="1097280"/>
          </a:xfrm>
          <a:prstGeom prst="rect">
            <a:avLst/>
          </a:prstGeom>
          <a:noFill/>
          <a:ln/>
        </p:spPr>
        <p:txBody>
          <a:bodyPr wrap="square" lIns="0" tIns="0" rIns="0" bIns="0" rtlCol="0" anchor="ctr"/>
          <a:lstStyle/>
          <a:p>
            <a:pPr algn="ctr" indent="0" marL="0">
              <a:buNone/>
            </a:pPr>
            <a:r>
              <a:rPr lang="en-US" sz="1300" b="1" dirty="0">
                <a:solidFill>
                  <a:srgbClr val="14463B"/>
                </a:solidFill>
                <a:latin typeface="Calibri" pitchFamily="34" charset="0"/>
                <a:ea typeface="Calibri" pitchFamily="34" charset="-122"/>
                <a:cs typeface="Calibri" pitchFamily="34" charset="-120"/>
              </a:rPr>
              <a:t>Renewi staff</a:t>
            </a:r>
            <a:endParaRPr lang="en-US" sz="1300" dirty="0"/>
          </a:p>
        </p:txBody>
      </p:sp>
      <p:sp>
        <p:nvSpPr>
          <p:cNvPr id="6" name="Shape 4"/>
          <p:cNvSpPr/>
          <p:nvPr/>
        </p:nvSpPr>
        <p:spPr>
          <a:xfrm>
            <a:off x="548640" y="2423160"/>
            <a:ext cx="11091672" cy="1097280"/>
          </a:xfrm>
          <a:prstGeom prst="rect">
            <a:avLst/>
          </a:prstGeom>
          <a:solidFill>
            <a:srgbClr val="FFFFFF"/>
          </a:solidFill>
          <a:ln w="9525">
            <a:solidFill>
              <a:srgbClr val="E1E5EA"/>
            </a:solidFill>
            <a:prstDash val="solid"/>
          </a:ln>
        </p:spPr>
      </p:sp>
      <p:sp>
        <p:nvSpPr>
          <p:cNvPr id="7" name="Shape 5"/>
          <p:cNvSpPr/>
          <p:nvPr/>
        </p:nvSpPr>
        <p:spPr>
          <a:xfrm>
            <a:off x="548640" y="2423160"/>
            <a:ext cx="1234440" cy="1097280"/>
          </a:xfrm>
          <a:prstGeom prst="rect">
            <a:avLst/>
          </a:prstGeom>
          <a:solidFill>
            <a:srgbClr val="ECE9FA"/>
          </a:solidFill>
          <a:ln w="12700">
            <a:solidFill>
              <a:srgbClr val="6A5BC2"/>
            </a:solidFill>
            <a:prstDash val="solid"/>
          </a:ln>
        </p:spPr>
      </p:sp>
      <p:sp>
        <p:nvSpPr>
          <p:cNvPr id="8" name="Text 6"/>
          <p:cNvSpPr txBox="1"/>
          <p:nvPr/>
        </p:nvSpPr>
        <p:spPr>
          <a:xfrm>
            <a:off x="594360" y="2423160"/>
            <a:ext cx="1143000" cy="1097280"/>
          </a:xfrm>
          <a:prstGeom prst="rect">
            <a:avLst/>
          </a:prstGeom>
          <a:noFill/>
          <a:ln/>
        </p:spPr>
        <p:txBody>
          <a:bodyPr wrap="square" lIns="0" tIns="0" rIns="0" bIns="0" rtlCol="0" anchor="ctr"/>
          <a:lstStyle/>
          <a:p>
            <a:pPr algn="ctr" indent="0" marL="0">
              <a:buNone/>
            </a:pPr>
            <a:r>
              <a:rPr lang="en-US" sz="1300" b="1" dirty="0">
                <a:solidFill>
                  <a:srgbClr val="2D2570"/>
                </a:solidFill>
                <a:latin typeface="Calibri" pitchFamily="34" charset="0"/>
                <a:ea typeface="Calibri" pitchFamily="34" charset="-122"/>
                <a:cs typeface="Calibri" pitchFamily="34" charset="-120"/>
              </a:rPr>
              <a:t>Invitee</a:t>
            </a:r>
            <a:endParaRPr lang="en-US" sz="1300" dirty="0"/>
          </a:p>
        </p:txBody>
      </p:sp>
      <p:sp>
        <p:nvSpPr>
          <p:cNvPr id="9" name="Shape 7"/>
          <p:cNvSpPr/>
          <p:nvPr/>
        </p:nvSpPr>
        <p:spPr>
          <a:xfrm>
            <a:off x="548640" y="3566160"/>
            <a:ext cx="11091672" cy="1097280"/>
          </a:xfrm>
          <a:prstGeom prst="rect">
            <a:avLst/>
          </a:prstGeom>
          <a:solidFill>
            <a:srgbClr val="F7F8FA"/>
          </a:solidFill>
          <a:ln w="9525">
            <a:solidFill>
              <a:srgbClr val="E1E5EA"/>
            </a:solidFill>
            <a:prstDash val="solid"/>
          </a:ln>
        </p:spPr>
      </p:sp>
      <p:sp>
        <p:nvSpPr>
          <p:cNvPr id="10" name="Shape 8"/>
          <p:cNvSpPr/>
          <p:nvPr/>
        </p:nvSpPr>
        <p:spPr>
          <a:xfrm>
            <a:off x="548640" y="3566160"/>
            <a:ext cx="1234440" cy="1097280"/>
          </a:xfrm>
          <a:prstGeom prst="rect">
            <a:avLst/>
          </a:prstGeom>
          <a:solidFill>
            <a:srgbClr val="ECEEF2"/>
          </a:solidFill>
          <a:ln w="12700">
            <a:solidFill>
              <a:srgbClr val="6B7482"/>
            </a:solidFill>
            <a:prstDash val="solid"/>
          </a:ln>
        </p:spPr>
      </p:sp>
      <p:sp>
        <p:nvSpPr>
          <p:cNvPr id="11" name="Text 9"/>
          <p:cNvSpPr txBox="1"/>
          <p:nvPr/>
        </p:nvSpPr>
        <p:spPr>
          <a:xfrm>
            <a:off x="594360" y="3566160"/>
            <a:ext cx="1143000" cy="1097280"/>
          </a:xfrm>
          <a:prstGeom prst="rect">
            <a:avLst/>
          </a:prstGeom>
          <a:noFill/>
          <a:ln/>
        </p:spPr>
        <p:txBody>
          <a:bodyPr wrap="square" lIns="0" tIns="0" rIns="0" bIns="0" rtlCol="0" anchor="ctr"/>
          <a:lstStyle/>
          <a:p>
            <a:pPr algn="ctr" indent="0" marL="0">
              <a:buNone/>
            </a:pPr>
            <a:r>
              <a:rPr lang="en-US" sz="1300" b="1" dirty="0">
                <a:solidFill>
                  <a:srgbClr val="232831"/>
                </a:solidFill>
                <a:latin typeface="Calibri" pitchFamily="34" charset="0"/>
                <a:ea typeface="Calibri" pitchFamily="34" charset="-122"/>
                <a:cs typeface="Calibri" pitchFamily="34" charset="-120"/>
              </a:rPr>
              <a:t>The system</a:t>
            </a:r>
            <a:endParaRPr lang="en-US" sz="1300" dirty="0"/>
          </a:p>
        </p:txBody>
      </p:sp>
      <p:sp>
        <p:nvSpPr>
          <p:cNvPr id="12" name="Shape 10"/>
          <p:cNvSpPr/>
          <p:nvPr/>
        </p:nvSpPr>
        <p:spPr>
          <a:xfrm>
            <a:off x="548640" y="4709160"/>
            <a:ext cx="11091672" cy="1097280"/>
          </a:xfrm>
          <a:prstGeom prst="rect">
            <a:avLst/>
          </a:prstGeom>
          <a:solidFill>
            <a:srgbClr val="FFFFFF"/>
          </a:solidFill>
          <a:ln w="9525">
            <a:solidFill>
              <a:srgbClr val="E1E5EA"/>
            </a:solidFill>
            <a:prstDash val="solid"/>
          </a:ln>
        </p:spPr>
      </p:sp>
      <p:sp>
        <p:nvSpPr>
          <p:cNvPr id="13" name="Shape 11"/>
          <p:cNvSpPr/>
          <p:nvPr/>
        </p:nvSpPr>
        <p:spPr>
          <a:xfrm>
            <a:off x="548640" y="4709160"/>
            <a:ext cx="1234440" cy="1097280"/>
          </a:xfrm>
          <a:prstGeom prst="rect">
            <a:avLst/>
          </a:prstGeom>
          <a:solidFill>
            <a:srgbClr val="FBEFD9"/>
          </a:solidFill>
          <a:ln w="12700">
            <a:solidFill>
              <a:srgbClr val="B7791F"/>
            </a:solidFill>
            <a:prstDash val="solid"/>
          </a:ln>
        </p:spPr>
      </p:sp>
      <p:sp>
        <p:nvSpPr>
          <p:cNvPr id="14" name="Text 12"/>
          <p:cNvSpPr txBox="1"/>
          <p:nvPr/>
        </p:nvSpPr>
        <p:spPr>
          <a:xfrm>
            <a:off x="594360" y="4709160"/>
            <a:ext cx="1143000" cy="1097280"/>
          </a:xfrm>
          <a:prstGeom prst="rect">
            <a:avLst/>
          </a:prstGeom>
          <a:noFill/>
          <a:ln/>
        </p:spPr>
        <p:txBody>
          <a:bodyPr wrap="square" lIns="0" tIns="0" rIns="0" bIns="0" rtlCol="0" anchor="ctr"/>
          <a:lstStyle/>
          <a:p>
            <a:pPr algn="ctr" indent="0" marL="0">
              <a:buNone/>
            </a:pPr>
            <a:r>
              <a:rPr lang="en-US" sz="1300" b="1" dirty="0">
                <a:solidFill>
                  <a:srgbClr val="573906"/>
                </a:solidFill>
                <a:latin typeface="Calibri" pitchFamily="34" charset="0"/>
                <a:ea typeface="Calibri" pitchFamily="34" charset="-122"/>
                <a:cs typeface="Calibri" pitchFamily="34" charset="-120"/>
              </a:rPr>
              <a:t>Gate officer</a:t>
            </a:r>
            <a:endParaRPr lang="en-US" sz="1300" dirty="0"/>
          </a:p>
        </p:txBody>
      </p:sp>
      <p:sp>
        <p:nvSpPr>
          <p:cNvPr id="15" name="Shape 13"/>
          <p:cNvSpPr/>
          <p:nvPr/>
        </p:nvSpPr>
        <p:spPr>
          <a:xfrm>
            <a:off x="1892808" y="1335024"/>
            <a:ext cx="1115568" cy="987552"/>
          </a:xfrm>
          <a:prstGeom prst="roundRect">
            <a:avLst>
              <a:gd name="adj" fmla="val 7407"/>
            </a:avLst>
          </a:prstGeom>
          <a:solidFill>
            <a:srgbClr val="E2F1EC"/>
          </a:solidFill>
          <a:ln w="15875">
            <a:solidFill>
              <a:srgbClr val="2F7F6B"/>
            </a:solidFill>
            <a:prstDash val="solid"/>
          </a:ln>
        </p:spPr>
      </p:sp>
      <p:sp>
        <p:nvSpPr>
          <p:cNvPr id="16" name="Text 14"/>
          <p:cNvSpPr txBox="1"/>
          <p:nvPr/>
        </p:nvSpPr>
        <p:spPr>
          <a:xfrm>
            <a:off x="1956816" y="1380744"/>
            <a:ext cx="987552" cy="274320"/>
          </a:xfrm>
          <a:prstGeom prst="rect">
            <a:avLst/>
          </a:prstGeom>
          <a:noFill/>
          <a:ln/>
        </p:spPr>
        <p:txBody>
          <a:bodyPr wrap="square" lIns="0" tIns="0" rIns="0" bIns="0" rtlCol="0" anchor="ctr"/>
          <a:lstStyle/>
          <a:p>
            <a:pPr indent="0" marL="0">
              <a:buNone/>
            </a:pPr>
            <a:r>
              <a:rPr lang="en-US" sz="1200" b="1" dirty="0">
                <a:solidFill>
                  <a:srgbClr val="14463B"/>
                </a:solidFill>
                <a:latin typeface="Calibri" pitchFamily="34" charset="0"/>
                <a:ea typeface="Calibri" pitchFamily="34" charset="-122"/>
                <a:cs typeface="Calibri" pitchFamily="34" charset="-120"/>
              </a:rPr>
              <a:t>1 Invite</a:t>
            </a:r>
            <a:endParaRPr lang="en-US" sz="1200" dirty="0"/>
          </a:p>
        </p:txBody>
      </p:sp>
      <p:sp>
        <p:nvSpPr>
          <p:cNvPr id="17" name="Text 15"/>
          <p:cNvSpPr txBox="1"/>
          <p:nvPr/>
        </p:nvSpPr>
        <p:spPr>
          <a:xfrm>
            <a:off x="1956816" y="1664208"/>
            <a:ext cx="987552" cy="603504"/>
          </a:xfrm>
          <a:prstGeom prst="rect">
            <a:avLst/>
          </a:prstGeom>
          <a:noFill/>
          <a:ln/>
        </p:spPr>
        <p:txBody>
          <a:bodyPr wrap="square" lIns="0" tIns="0" rIns="0" bIns="0" rtlCol="0" anchor="t"/>
          <a:lstStyle/>
          <a:p>
            <a:pPr indent="0" marL="0">
              <a:buNone/>
            </a:pPr>
            <a:r>
              <a:rPr lang="en-US" sz="1100" dirty="0">
                <a:solidFill>
                  <a:srgbClr val="14463B"/>
                </a:solidFill>
                <a:latin typeface="Calibri" pitchFamily="34" charset="0"/>
                <a:ea typeface="Calibri" pitchFamily="34" charset="-122"/>
                <a:cs typeface="Calibri" pitchFamily="34" charset="-120"/>
              </a:rPr>
              <a:t>Email, company, purpose, dates</a:t>
            </a:r>
            <a:endParaRPr lang="en-US" sz="1100" dirty="0"/>
          </a:p>
        </p:txBody>
      </p:sp>
      <p:sp>
        <p:nvSpPr>
          <p:cNvPr id="18" name="Shape 16"/>
          <p:cNvSpPr/>
          <p:nvPr/>
        </p:nvSpPr>
        <p:spPr>
          <a:xfrm>
            <a:off x="3108960" y="3621024"/>
            <a:ext cx="1115568" cy="987552"/>
          </a:xfrm>
          <a:prstGeom prst="roundRect">
            <a:avLst>
              <a:gd name="adj" fmla="val 7407"/>
            </a:avLst>
          </a:prstGeom>
          <a:solidFill>
            <a:srgbClr val="ECEEF2"/>
          </a:solidFill>
          <a:ln w="15875">
            <a:solidFill>
              <a:srgbClr val="6B7482"/>
            </a:solidFill>
            <a:prstDash val="solid"/>
          </a:ln>
        </p:spPr>
      </p:sp>
      <p:sp>
        <p:nvSpPr>
          <p:cNvPr id="19" name="Text 17"/>
          <p:cNvSpPr txBox="1"/>
          <p:nvPr/>
        </p:nvSpPr>
        <p:spPr>
          <a:xfrm>
            <a:off x="3172968" y="366674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2 Email link</a:t>
            </a:r>
            <a:endParaRPr lang="en-US" sz="1200" dirty="0"/>
          </a:p>
        </p:txBody>
      </p:sp>
      <p:sp>
        <p:nvSpPr>
          <p:cNvPr id="20" name="Text 18"/>
          <p:cNvSpPr txBox="1"/>
          <p:nvPr/>
        </p:nvSpPr>
        <p:spPr>
          <a:xfrm>
            <a:off x="3172968" y="3950208"/>
            <a:ext cx="987552" cy="60350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One-time accept link</a:t>
            </a:r>
            <a:endParaRPr lang="en-US" sz="1100" dirty="0"/>
          </a:p>
        </p:txBody>
      </p:sp>
      <p:sp>
        <p:nvSpPr>
          <p:cNvPr id="21" name="Shape 19"/>
          <p:cNvSpPr/>
          <p:nvPr/>
        </p:nvSpPr>
        <p:spPr>
          <a:xfrm>
            <a:off x="4325112" y="2478024"/>
            <a:ext cx="1115568" cy="987552"/>
          </a:xfrm>
          <a:prstGeom prst="roundRect">
            <a:avLst>
              <a:gd name="adj" fmla="val 7407"/>
            </a:avLst>
          </a:prstGeom>
          <a:solidFill>
            <a:srgbClr val="ECE9FA"/>
          </a:solidFill>
          <a:ln w="15875">
            <a:solidFill>
              <a:srgbClr val="6A5BC2"/>
            </a:solidFill>
            <a:prstDash val="solid"/>
          </a:ln>
        </p:spPr>
      </p:sp>
      <p:sp>
        <p:nvSpPr>
          <p:cNvPr id="22" name="Text 20"/>
          <p:cNvSpPr txBox="1"/>
          <p:nvPr/>
        </p:nvSpPr>
        <p:spPr>
          <a:xfrm>
            <a:off x="4389120" y="252374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3 Register</a:t>
            </a:r>
            <a:endParaRPr lang="en-US" sz="1200" dirty="0"/>
          </a:p>
        </p:txBody>
      </p:sp>
      <p:sp>
        <p:nvSpPr>
          <p:cNvPr id="23" name="Text 21"/>
          <p:cNvSpPr txBox="1"/>
          <p:nvPr/>
        </p:nvSpPr>
        <p:spPr>
          <a:xfrm>
            <a:off x="4389120" y="2807208"/>
            <a:ext cx="987552" cy="60350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Name, ID, expiry, rules tick</a:t>
            </a:r>
            <a:endParaRPr lang="en-US" sz="1100" dirty="0"/>
          </a:p>
        </p:txBody>
      </p:sp>
      <p:sp>
        <p:nvSpPr>
          <p:cNvPr id="24" name="Shape 22"/>
          <p:cNvSpPr/>
          <p:nvPr/>
        </p:nvSpPr>
        <p:spPr>
          <a:xfrm>
            <a:off x="5541264" y="1335024"/>
            <a:ext cx="1115568" cy="987552"/>
          </a:xfrm>
          <a:prstGeom prst="roundRect">
            <a:avLst>
              <a:gd name="adj" fmla="val 7407"/>
            </a:avLst>
          </a:prstGeom>
          <a:solidFill>
            <a:srgbClr val="E2F1EC"/>
          </a:solidFill>
          <a:ln w="15875">
            <a:solidFill>
              <a:srgbClr val="2F7F6B"/>
            </a:solidFill>
            <a:prstDash val="solid"/>
          </a:ln>
        </p:spPr>
      </p:sp>
      <p:sp>
        <p:nvSpPr>
          <p:cNvPr id="25" name="Text 23"/>
          <p:cNvSpPr txBox="1"/>
          <p:nvPr/>
        </p:nvSpPr>
        <p:spPr>
          <a:xfrm>
            <a:off x="5605272" y="1380744"/>
            <a:ext cx="987552" cy="274320"/>
          </a:xfrm>
          <a:prstGeom prst="rect">
            <a:avLst/>
          </a:prstGeom>
          <a:noFill/>
          <a:ln/>
        </p:spPr>
        <p:txBody>
          <a:bodyPr wrap="square" lIns="0" tIns="0" rIns="0" bIns="0" rtlCol="0" anchor="ctr"/>
          <a:lstStyle/>
          <a:p>
            <a:pPr indent="0" marL="0">
              <a:buNone/>
            </a:pPr>
            <a:r>
              <a:rPr lang="en-US" sz="1200" b="1" dirty="0">
                <a:solidFill>
                  <a:srgbClr val="14463B"/>
                </a:solidFill>
                <a:latin typeface="Calibri" pitchFamily="34" charset="0"/>
                <a:ea typeface="Calibri" pitchFamily="34" charset="-122"/>
                <a:cs typeface="Calibri" pitchFamily="34" charset="-120"/>
              </a:rPr>
              <a:t>4 Approve</a:t>
            </a:r>
            <a:endParaRPr lang="en-US" sz="1200" dirty="0"/>
          </a:p>
        </p:txBody>
      </p:sp>
      <p:sp>
        <p:nvSpPr>
          <p:cNvPr id="26" name="Text 24"/>
          <p:cNvSpPr txBox="1"/>
          <p:nvPr/>
        </p:nvSpPr>
        <p:spPr>
          <a:xfrm>
            <a:off x="5605272" y="1664208"/>
            <a:ext cx="987552" cy="603504"/>
          </a:xfrm>
          <a:prstGeom prst="rect">
            <a:avLst/>
          </a:prstGeom>
          <a:noFill/>
          <a:ln/>
        </p:spPr>
        <p:txBody>
          <a:bodyPr wrap="square" lIns="0" tIns="0" rIns="0" bIns="0" rtlCol="0" anchor="t"/>
          <a:lstStyle/>
          <a:p>
            <a:pPr indent="0" marL="0">
              <a:buNone/>
            </a:pPr>
            <a:r>
              <a:rPr lang="en-US" sz="1100" dirty="0">
                <a:solidFill>
                  <a:srgbClr val="14463B"/>
                </a:solidFill>
                <a:latin typeface="Calibri" pitchFamily="34" charset="0"/>
                <a:ea typeface="Calibri" pitchFamily="34" charset="-122"/>
                <a:cs typeface="Calibri" pitchFamily="34" charset="-120"/>
              </a:rPr>
              <a:t>Verify ID, training, compliance</a:t>
            </a:r>
            <a:endParaRPr lang="en-US" sz="1100" dirty="0"/>
          </a:p>
        </p:txBody>
      </p:sp>
      <p:sp>
        <p:nvSpPr>
          <p:cNvPr id="27" name="Shape 25"/>
          <p:cNvSpPr/>
          <p:nvPr/>
        </p:nvSpPr>
        <p:spPr>
          <a:xfrm>
            <a:off x="6757416" y="1335024"/>
            <a:ext cx="1115568" cy="987552"/>
          </a:xfrm>
          <a:prstGeom prst="roundRect">
            <a:avLst>
              <a:gd name="adj" fmla="val 7407"/>
            </a:avLst>
          </a:prstGeom>
          <a:solidFill>
            <a:srgbClr val="E2F1EC"/>
          </a:solidFill>
          <a:ln w="15875">
            <a:solidFill>
              <a:srgbClr val="2F7F6B"/>
            </a:solidFill>
            <a:prstDash val="solid"/>
          </a:ln>
        </p:spPr>
      </p:sp>
      <p:sp>
        <p:nvSpPr>
          <p:cNvPr id="28" name="Text 26"/>
          <p:cNvSpPr txBox="1"/>
          <p:nvPr/>
        </p:nvSpPr>
        <p:spPr>
          <a:xfrm>
            <a:off x="6821424" y="1380744"/>
            <a:ext cx="987552" cy="274320"/>
          </a:xfrm>
          <a:prstGeom prst="rect">
            <a:avLst/>
          </a:prstGeom>
          <a:noFill/>
          <a:ln/>
        </p:spPr>
        <p:txBody>
          <a:bodyPr wrap="square" lIns="0" tIns="0" rIns="0" bIns="0" rtlCol="0" anchor="ctr"/>
          <a:lstStyle/>
          <a:p>
            <a:pPr indent="0" marL="0">
              <a:buNone/>
            </a:pPr>
            <a:r>
              <a:rPr lang="en-US" sz="1200" b="1" dirty="0">
                <a:solidFill>
                  <a:srgbClr val="14463B"/>
                </a:solidFill>
                <a:latin typeface="Calibri" pitchFamily="34" charset="0"/>
                <a:ea typeface="Calibri" pitchFamily="34" charset="-122"/>
                <a:cs typeface="Calibri" pitchFamily="34" charset="-120"/>
              </a:rPr>
              <a:t>5 Issue QR</a:t>
            </a:r>
            <a:endParaRPr lang="en-US" sz="1200" dirty="0"/>
          </a:p>
        </p:txBody>
      </p:sp>
      <p:sp>
        <p:nvSpPr>
          <p:cNvPr id="29" name="Text 27"/>
          <p:cNvSpPr txBox="1"/>
          <p:nvPr/>
        </p:nvSpPr>
        <p:spPr>
          <a:xfrm>
            <a:off x="6821424" y="1664208"/>
            <a:ext cx="987552" cy="603504"/>
          </a:xfrm>
          <a:prstGeom prst="rect">
            <a:avLst/>
          </a:prstGeom>
          <a:noFill/>
          <a:ln/>
        </p:spPr>
        <p:txBody>
          <a:bodyPr wrap="square" lIns="0" tIns="0" rIns="0" bIns="0" rtlCol="0" anchor="t"/>
          <a:lstStyle/>
          <a:p>
            <a:pPr indent="0" marL="0">
              <a:buNone/>
            </a:pPr>
            <a:r>
              <a:rPr lang="en-US" sz="1100" dirty="0">
                <a:solidFill>
                  <a:srgbClr val="14463B"/>
                </a:solidFill>
                <a:latin typeface="Calibri" pitchFamily="34" charset="0"/>
                <a:ea typeface="Calibri" pitchFamily="34" charset="-122"/>
                <a:cs typeface="Calibri" pitchFamily="34" charset="-120"/>
              </a:rPr>
              <a:t>Entry and exit, within the limit</a:t>
            </a:r>
            <a:endParaRPr lang="en-US" sz="1100" dirty="0"/>
          </a:p>
        </p:txBody>
      </p:sp>
      <p:sp>
        <p:nvSpPr>
          <p:cNvPr id="30" name="Shape 28"/>
          <p:cNvSpPr/>
          <p:nvPr/>
        </p:nvSpPr>
        <p:spPr>
          <a:xfrm>
            <a:off x="7973568" y="3621024"/>
            <a:ext cx="1115568" cy="987552"/>
          </a:xfrm>
          <a:prstGeom prst="roundRect">
            <a:avLst>
              <a:gd name="adj" fmla="val 7407"/>
            </a:avLst>
          </a:prstGeom>
          <a:solidFill>
            <a:srgbClr val="ECEEF2"/>
          </a:solidFill>
          <a:ln w="15875">
            <a:solidFill>
              <a:srgbClr val="6B7482"/>
            </a:solidFill>
            <a:prstDash val="solid"/>
          </a:ln>
        </p:spPr>
      </p:sp>
      <p:sp>
        <p:nvSpPr>
          <p:cNvPr id="31" name="Text 29"/>
          <p:cNvSpPr txBox="1"/>
          <p:nvPr/>
        </p:nvSpPr>
        <p:spPr>
          <a:xfrm>
            <a:off x="8037576" y="366674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6 Email QR</a:t>
            </a:r>
            <a:endParaRPr lang="en-US" sz="1200" dirty="0"/>
          </a:p>
        </p:txBody>
      </p:sp>
      <p:sp>
        <p:nvSpPr>
          <p:cNvPr id="32" name="Text 30"/>
          <p:cNvSpPr txBox="1"/>
          <p:nvPr/>
        </p:nvSpPr>
        <p:spPr>
          <a:xfrm>
            <a:off x="8037576" y="3950208"/>
            <a:ext cx="987552" cy="60350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Shown with both times</a:t>
            </a:r>
            <a:endParaRPr lang="en-US" sz="1100" dirty="0"/>
          </a:p>
        </p:txBody>
      </p:sp>
      <p:sp>
        <p:nvSpPr>
          <p:cNvPr id="33" name="Shape 31"/>
          <p:cNvSpPr/>
          <p:nvPr/>
        </p:nvSpPr>
        <p:spPr>
          <a:xfrm>
            <a:off x="9189720" y="4764024"/>
            <a:ext cx="1115568" cy="987552"/>
          </a:xfrm>
          <a:prstGeom prst="roundRect">
            <a:avLst>
              <a:gd name="adj" fmla="val 7407"/>
            </a:avLst>
          </a:prstGeom>
          <a:solidFill>
            <a:srgbClr val="FBEFD9"/>
          </a:solidFill>
          <a:ln w="15875">
            <a:solidFill>
              <a:srgbClr val="B7791F"/>
            </a:solidFill>
            <a:prstDash val="solid"/>
          </a:ln>
        </p:spPr>
      </p:sp>
      <p:sp>
        <p:nvSpPr>
          <p:cNvPr id="34" name="Text 32"/>
          <p:cNvSpPr txBox="1"/>
          <p:nvPr/>
        </p:nvSpPr>
        <p:spPr>
          <a:xfrm>
            <a:off x="9253728" y="48097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7 Scan</a:t>
            </a:r>
            <a:endParaRPr lang="en-US" sz="1200" dirty="0"/>
          </a:p>
        </p:txBody>
      </p:sp>
      <p:sp>
        <p:nvSpPr>
          <p:cNvPr id="35" name="Text 33"/>
          <p:cNvSpPr txBox="1"/>
          <p:nvPr/>
        </p:nvSpPr>
        <p:spPr>
          <a:xfrm>
            <a:off x="9253728" y="5093208"/>
            <a:ext cx="987552" cy="60350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Compare ID, tick, Grant Entry</a:t>
            </a:r>
            <a:endParaRPr lang="en-US" sz="1100" dirty="0"/>
          </a:p>
        </p:txBody>
      </p:sp>
      <p:sp>
        <p:nvSpPr>
          <p:cNvPr id="36" name="Shape 34"/>
          <p:cNvSpPr/>
          <p:nvPr/>
        </p:nvSpPr>
        <p:spPr>
          <a:xfrm>
            <a:off x="9189720" y="3621024"/>
            <a:ext cx="1115568" cy="987552"/>
          </a:xfrm>
          <a:prstGeom prst="roundRect">
            <a:avLst>
              <a:gd name="adj" fmla="val 7407"/>
            </a:avLst>
          </a:prstGeom>
          <a:solidFill>
            <a:srgbClr val="ECEEF2"/>
          </a:solidFill>
          <a:ln w="15875">
            <a:solidFill>
              <a:srgbClr val="6B7482"/>
            </a:solidFill>
            <a:prstDash val="solid"/>
          </a:ln>
        </p:spPr>
      </p:sp>
      <p:sp>
        <p:nvSpPr>
          <p:cNvPr id="37" name="Text 35"/>
          <p:cNvSpPr txBox="1"/>
          <p:nvPr/>
        </p:nvSpPr>
        <p:spPr>
          <a:xfrm>
            <a:off x="9253728" y="366674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Checks</a:t>
            </a:r>
            <a:endParaRPr lang="en-US" sz="1200" dirty="0"/>
          </a:p>
        </p:txBody>
      </p:sp>
      <p:sp>
        <p:nvSpPr>
          <p:cNvPr id="38" name="Text 36"/>
          <p:cNvSpPr txBox="1"/>
          <p:nvPr/>
        </p:nvSpPr>
        <p:spPr>
          <a:xfrm>
            <a:off x="9253728" y="3950208"/>
            <a:ext cx="987552" cy="60350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QR window, approval, rules</a:t>
            </a:r>
            <a:endParaRPr lang="en-US" sz="1100" dirty="0"/>
          </a:p>
        </p:txBody>
      </p:sp>
      <p:sp>
        <p:nvSpPr>
          <p:cNvPr id="39" name="Shape 37"/>
          <p:cNvSpPr/>
          <p:nvPr/>
        </p:nvSpPr>
        <p:spPr>
          <a:xfrm>
            <a:off x="10405872" y="4764024"/>
            <a:ext cx="1115568" cy="987552"/>
          </a:xfrm>
          <a:prstGeom prst="roundRect">
            <a:avLst>
              <a:gd name="adj" fmla="val 7407"/>
            </a:avLst>
          </a:prstGeom>
          <a:solidFill>
            <a:srgbClr val="FBEFD9"/>
          </a:solidFill>
          <a:ln w="15875">
            <a:solidFill>
              <a:srgbClr val="B7791F"/>
            </a:solidFill>
            <a:prstDash val="solid"/>
          </a:ln>
        </p:spPr>
      </p:sp>
      <p:sp>
        <p:nvSpPr>
          <p:cNvPr id="40" name="Text 38"/>
          <p:cNvSpPr txBox="1"/>
          <p:nvPr/>
        </p:nvSpPr>
        <p:spPr>
          <a:xfrm>
            <a:off x="10469880" y="48097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8 Exit</a:t>
            </a:r>
            <a:endParaRPr lang="en-US" sz="1200" dirty="0"/>
          </a:p>
        </p:txBody>
      </p:sp>
      <p:sp>
        <p:nvSpPr>
          <p:cNvPr id="41" name="Text 39"/>
          <p:cNvSpPr txBox="1"/>
          <p:nvPr/>
        </p:nvSpPr>
        <p:spPr>
          <a:xfrm>
            <a:off x="10469880" y="5093208"/>
            <a:ext cx="987552" cy="60350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Record exit when they leave</a:t>
            </a:r>
            <a:endParaRPr lang="en-US" sz="1100" dirty="0"/>
          </a:p>
        </p:txBody>
      </p:sp>
      <p:sp>
        <p:nvSpPr>
          <p:cNvPr id="42" name="Shape 40"/>
          <p:cNvSpPr/>
          <p:nvPr/>
        </p:nvSpPr>
        <p:spPr>
          <a:xfrm>
            <a:off x="3008376" y="1828800"/>
            <a:ext cx="100584" cy="2286000"/>
          </a:xfrm>
          <a:prstGeom prst="line">
            <a:avLst/>
          </a:prstGeom>
          <a:noFill/>
          <a:ln w="19050">
            <a:solidFill>
              <a:srgbClr val="4B5563"/>
            </a:solidFill>
            <a:prstDash val="solid"/>
            <a:tailEnd type="triangle"/>
          </a:ln>
        </p:spPr>
      </p:sp>
      <p:sp>
        <p:nvSpPr>
          <p:cNvPr id="43" name="Shape 41"/>
          <p:cNvSpPr/>
          <p:nvPr/>
        </p:nvSpPr>
        <p:spPr>
          <a:xfrm flipV="1">
            <a:off x="4224528" y="2971800"/>
            <a:ext cx="100584" cy="1143000"/>
          </a:xfrm>
          <a:prstGeom prst="line">
            <a:avLst/>
          </a:prstGeom>
          <a:noFill/>
          <a:ln w="19050">
            <a:solidFill>
              <a:srgbClr val="4B5563"/>
            </a:solidFill>
            <a:prstDash val="solid"/>
            <a:tailEnd type="triangle"/>
          </a:ln>
        </p:spPr>
      </p:sp>
      <p:sp>
        <p:nvSpPr>
          <p:cNvPr id="44" name="Shape 42"/>
          <p:cNvSpPr/>
          <p:nvPr/>
        </p:nvSpPr>
        <p:spPr>
          <a:xfrm flipV="1">
            <a:off x="5440680" y="1828800"/>
            <a:ext cx="100584" cy="1143000"/>
          </a:xfrm>
          <a:prstGeom prst="line">
            <a:avLst/>
          </a:prstGeom>
          <a:noFill/>
          <a:ln w="19050">
            <a:solidFill>
              <a:srgbClr val="4B5563"/>
            </a:solidFill>
            <a:prstDash val="solid"/>
            <a:tailEnd type="triangle"/>
          </a:ln>
        </p:spPr>
      </p:sp>
      <p:sp>
        <p:nvSpPr>
          <p:cNvPr id="45" name="Shape 43"/>
          <p:cNvSpPr/>
          <p:nvPr/>
        </p:nvSpPr>
        <p:spPr>
          <a:xfrm>
            <a:off x="6656832" y="1828800"/>
            <a:ext cx="100584" cy="0"/>
          </a:xfrm>
          <a:prstGeom prst="line">
            <a:avLst/>
          </a:prstGeom>
          <a:noFill/>
          <a:ln w="19050">
            <a:solidFill>
              <a:srgbClr val="4B5563"/>
            </a:solidFill>
            <a:prstDash val="solid"/>
            <a:tailEnd type="triangle"/>
          </a:ln>
        </p:spPr>
      </p:sp>
      <p:sp>
        <p:nvSpPr>
          <p:cNvPr id="46" name="Shape 44"/>
          <p:cNvSpPr/>
          <p:nvPr/>
        </p:nvSpPr>
        <p:spPr>
          <a:xfrm>
            <a:off x="7872984" y="1828800"/>
            <a:ext cx="100584" cy="2286000"/>
          </a:xfrm>
          <a:prstGeom prst="line">
            <a:avLst/>
          </a:prstGeom>
          <a:noFill/>
          <a:ln w="19050">
            <a:solidFill>
              <a:srgbClr val="4B5563"/>
            </a:solidFill>
            <a:prstDash val="solid"/>
            <a:tailEnd type="triangle"/>
          </a:ln>
        </p:spPr>
      </p:sp>
      <p:sp>
        <p:nvSpPr>
          <p:cNvPr id="47" name="Shape 45"/>
          <p:cNvSpPr/>
          <p:nvPr/>
        </p:nvSpPr>
        <p:spPr>
          <a:xfrm>
            <a:off x="9089136" y="4114800"/>
            <a:ext cx="100584" cy="1143000"/>
          </a:xfrm>
          <a:prstGeom prst="line">
            <a:avLst/>
          </a:prstGeom>
          <a:noFill/>
          <a:ln w="19050">
            <a:solidFill>
              <a:srgbClr val="4B5563"/>
            </a:solidFill>
            <a:prstDash val="solid"/>
            <a:tailEnd type="triangle"/>
          </a:ln>
        </p:spPr>
      </p:sp>
      <p:sp>
        <p:nvSpPr>
          <p:cNvPr id="48" name="Shape 46"/>
          <p:cNvSpPr/>
          <p:nvPr/>
        </p:nvSpPr>
        <p:spPr>
          <a:xfrm flipV="1">
            <a:off x="9747504" y="4608576"/>
            <a:ext cx="0" cy="155448"/>
          </a:xfrm>
          <a:prstGeom prst="line">
            <a:avLst/>
          </a:prstGeom>
          <a:noFill/>
          <a:ln w="19050">
            <a:solidFill>
              <a:srgbClr val="4B5563"/>
            </a:solidFill>
            <a:prstDash val="solid"/>
            <a:tailEnd type="triangle"/>
          </a:ln>
        </p:spPr>
      </p:sp>
      <p:sp>
        <p:nvSpPr>
          <p:cNvPr id="49" name="Shape 47"/>
          <p:cNvSpPr/>
          <p:nvPr/>
        </p:nvSpPr>
        <p:spPr>
          <a:xfrm>
            <a:off x="10305288" y="4114800"/>
            <a:ext cx="100584" cy="1143000"/>
          </a:xfrm>
          <a:prstGeom prst="line">
            <a:avLst/>
          </a:prstGeom>
          <a:noFill/>
          <a:ln w="19050">
            <a:solidFill>
              <a:srgbClr val="4B5563"/>
            </a:solidFill>
            <a:prstDash val="solid"/>
            <a:tailEnd type="triangle"/>
          </a:ln>
        </p:spPr>
      </p:sp>
      <p:sp>
        <p:nvSpPr>
          <p:cNvPr id="50" name="Shape 48"/>
          <p:cNvSpPr/>
          <p:nvPr/>
        </p:nvSpPr>
        <p:spPr>
          <a:xfrm>
            <a:off x="548640" y="5943600"/>
            <a:ext cx="11091672" cy="384048"/>
          </a:xfrm>
          <a:prstGeom prst="roundRect">
            <a:avLst>
              <a:gd name="adj" fmla="val 19048"/>
            </a:avLst>
          </a:prstGeom>
          <a:solidFill>
            <a:srgbClr val="ECEEF2"/>
          </a:solidFill>
          <a:ln w="12700">
            <a:solidFill>
              <a:srgbClr val="6B7482"/>
            </a:solidFill>
            <a:prstDash val="solid"/>
          </a:ln>
        </p:spPr>
      </p:sp>
      <p:sp>
        <p:nvSpPr>
          <p:cNvPr id="51" name="Text 49"/>
          <p:cNvSpPr txBox="1"/>
          <p:nvPr/>
        </p:nvSpPr>
        <p:spPr>
          <a:xfrm>
            <a:off x="731520" y="5943600"/>
            <a:ext cx="10789920" cy="384048"/>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Every step feeds the live dashboard (on site, entered, exited, overdue) and the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user flow: unexpected arrival</a:t>
            </a:r>
            <a:endParaRPr lang="en-US" sz="3200" dirty="0"/>
          </a:p>
        </p:txBody>
      </p:sp>
      <p:sp>
        <p:nvSpPr>
          <p:cNvPr id="3" name="Shape 1"/>
          <p:cNvSpPr/>
          <p:nvPr/>
        </p:nvSpPr>
        <p:spPr>
          <a:xfrm>
            <a:off x="548640" y="1325880"/>
            <a:ext cx="11091672" cy="1417320"/>
          </a:xfrm>
          <a:prstGeom prst="rect">
            <a:avLst/>
          </a:prstGeom>
          <a:solidFill>
            <a:srgbClr val="F7F8FA"/>
          </a:solidFill>
          <a:ln w="9525">
            <a:solidFill>
              <a:srgbClr val="E1E5EA"/>
            </a:solidFill>
            <a:prstDash val="solid"/>
          </a:ln>
        </p:spPr>
      </p:sp>
      <p:sp>
        <p:nvSpPr>
          <p:cNvPr id="4" name="Shape 2"/>
          <p:cNvSpPr/>
          <p:nvPr/>
        </p:nvSpPr>
        <p:spPr>
          <a:xfrm>
            <a:off x="548640" y="1325880"/>
            <a:ext cx="1234440" cy="1417320"/>
          </a:xfrm>
          <a:prstGeom prst="rect">
            <a:avLst/>
          </a:prstGeom>
          <a:solidFill>
            <a:srgbClr val="ECE9FA"/>
          </a:solidFill>
          <a:ln w="12700">
            <a:solidFill>
              <a:srgbClr val="6A5BC2"/>
            </a:solidFill>
            <a:prstDash val="solid"/>
          </a:ln>
        </p:spPr>
      </p:sp>
      <p:sp>
        <p:nvSpPr>
          <p:cNvPr id="5" name="Text 3"/>
          <p:cNvSpPr txBox="1"/>
          <p:nvPr/>
        </p:nvSpPr>
        <p:spPr>
          <a:xfrm>
            <a:off x="594360" y="1325880"/>
            <a:ext cx="1143000" cy="1417320"/>
          </a:xfrm>
          <a:prstGeom prst="rect">
            <a:avLst/>
          </a:prstGeom>
          <a:noFill/>
          <a:ln/>
        </p:spPr>
        <p:txBody>
          <a:bodyPr wrap="square" lIns="0" tIns="0" rIns="0" bIns="0" rtlCol="0" anchor="ctr"/>
          <a:lstStyle/>
          <a:p>
            <a:pPr algn="ctr" indent="0" marL="0">
              <a:buNone/>
            </a:pPr>
            <a:r>
              <a:rPr lang="en-US" sz="1300" b="1" dirty="0">
                <a:solidFill>
                  <a:srgbClr val="2D2570"/>
                </a:solidFill>
                <a:latin typeface="Calibri" pitchFamily="34" charset="0"/>
                <a:ea typeface="Calibri" pitchFamily="34" charset="-122"/>
                <a:cs typeface="Calibri" pitchFamily="34" charset="-120"/>
              </a:rPr>
              <a:t>The person</a:t>
            </a:r>
            <a:endParaRPr lang="en-US" sz="1300" dirty="0"/>
          </a:p>
        </p:txBody>
      </p:sp>
      <p:sp>
        <p:nvSpPr>
          <p:cNvPr id="6" name="Shape 4"/>
          <p:cNvSpPr/>
          <p:nvPr/>
        </p:nvSpPr>
        <p:spPr>
          <a:xfrm>
            <a:off x="548640" y="2788920"/>
            <a:ext cx="11091672" cy="1417320"/>
          </a:xfrm>
          <a:prstGeom prst="rect">
            <a:avLst/>
          </a:prstGeom>
          <a:solidFill>
            <a:srgbClr val="FFFFFF"/>
          </a:solidFill>
          <a:ln w="9525">
            <a:solidFill>
              <a:srgbClr val="E1E5EA"/>
            </a:solidFill>
            <a:prstDash val="solid"/>
          </a:ln>
        </p:spPr>
      </p:sp>
      <p:sp>
        <p:nvSpPr>
          <p:cNvPr id="7" name="Shape 5"/>
          <p:cNvSpPr/>
          <p:nvPr/>
        </p:nvSpPr>
        <p:spPr>
          <a:xfrm>
            <a:off x="548640" y="2788920"/>
            <a:ext cx="1234440" cy="1417320"/>
          </a:xfrm>
          <a:prstGeom prst="rect">
            <a:avLst/>
          </a:prstGeom>
          <a:solidFill>
            <a:srgbClr val="ECEEF2"/>
          </a:solidFill>
          <a:ln w="12700">
            <a:solidFill>
              <a:srgbClr val="6B7482"/>
            </a:solidFill>
            <a:prstDash val="solid"/>
          </a:ln>
        </p:spPr>
      </p:sp>
      <p:sp>
        <p:nvSpPr>
          <p:cNvPr id="8" name="Text 6"/>
          <p:cNvSpPr txBox="1"/>
          <p:nvPr/>
        </p:nvSpPr>
        <p:spPr>
          <a:xfrm>
            <a:off x="594360" y="2788920"/>
            <a:ext cx="1143000" cy="1417320"/>
          </a:xfrm>
          <a:prstGeom prst="rect">
            <a:avLst/>
          </a:prstGeom>
          <a:noFill/>
          <a:ln/>
        </p:spPr>
        <p:txBody>
          <a:bodyPr wrap="square" lIns="0" tIns="0" rIns="0" bIns="0" rtlCol="0" anchor="ctr"/>
          <a:lstStyle/>
          <a:p>
            <a:pPr algn="ctr" indent="0" marL="0">
              <a:buNone/>
            </a:pPr>
            <a:r>
              <a:rPr lang="en-US" sz="1300" b="1" dirty="0">
                <a:solidFill>
                  <a:srgbClr val="232831"/>
                </a:solidFill>
                <a:latin typeface="Calibri" pitchFamily="34" charset="0"/>
                <a:ea typeface="Calibri" pitchFamily="34" charset="-122"/>
                <a:cs typeface="Calibri" pitchFamily="34" charset="-120"/>
              </a:rPr>
              <a:t>The system</a:t>
            </a:r>
            <a:endParaRPr lang="en-US" sz="1300" dirty="0"/>
          </a:p>
        </p:txBody>
      </p:sp>
      <p:sp>
        <p:nvSpPr>
          <p:cNvPr id="9" name="Shape 7"/>
          <p:cNvSpPr/>
          <p:nvPr/>
        </p:nvSpPr>
        <p:spPr>
          <a:xfrm>
            <a:off x="548640" y="4251960"/>
            <a:ext cx="11091672" cy="1417320"/>
          </a:xfrm>
          <a:prstGeom prst="rect">
            <a:avLst/>
          </a:prstGeom>
          <a:solidFill>
            <a:srgbClr val="F7F8FA"/>
          </a:solidFill>
          <a:ln w="9525">
            <a:solidFill>
              <a:srgbClr val="E1E5EA"/>
            </a:solidFill>
            <a:prstDash val="solid"/>
          </a:ln>
        </p:spPr>
      </p:sp>
      <p:sp>
        <p:nvSpPr>
          <p:cNvPr id="10" name="Shape 8"/>
          <p:cNvSpPr/>
          <p:nvPr/>
        </p:nvSpPr>
        <p:spPr>
          <a:xfrm>
            <a:off x="548640" y="4251960"/>
            <a:ext cx="1234440" cy="1417320"/>
          </a:xfrm>
          <a:prstGeom prst="rect">
            <a:avLst/>
          </a:prstGeom>
          <a:solidFill>
            <a:srgbClr val="FBEFD9"/>
          </a:solidFill>
          <a:ln w="12700">
            <a:solidFill>
              <a:srgbClr val="B7791F"/>
            </a:solidFill>
            <a:prstDash val="solid"/>
          </a:ln>
        </p:spPr>
      </p:sp>
      <p:sp>
        <p:nvSpPr>
          <p:cNvPr id="11" name="Text 9"/>
          <p:cNvSpPr txBox="1"/>
          <p:nvPr/>
        </p:nvSpPr>
        <p:spPr>
          <a:xfrm>
            <a:off x="594360" y="4251960"/>
            <a:ext cx="1143000" cy="1417320"/>
          </a:xfrm>
          <a:prstGeom prst="rect">
            <a:avLst/>
          </a:prstGeom>
          <a:noFill/>
          <a:ln/>
        </p:spPr>
        <p:txBody>
          <a:bodyPr wrap="square" lIns="0" tIns="0" rIns="0" bIns="0" rtlCol="0" anchor="ctr"/>
          <a:lstStyle/>
          <a:p>
            <a:pPr algn="ctr" indent="0" marL="0">
              <a:buNone/>
            </a:pPr>
            <a:r>
              <a:rPr lang="en-US" sz="1300" b="1" dirty="0">
                <a:solidFill>
                  <a:srgbClr val="573906"/>
                </a:solidFill>
                <a:latin typeface="Calibri" pitchFamily="34" charset="0"/>
                <a:ea typeface="Calibri" pitchFamily="34" charset="-122"/>
                <a:cs typeface="Calibri" pitchFamily="34" charset="-120"/>
              </a:rPr>
              <a:t>Gate officer</a:t>
            </a:r>
            <a:endParaRPr lang="en-US" sz="1300" dirty="0"/>
          </a:p>
        </p:txBody>
      </p:sp>
      <p:sp>
        <p:nvSpPr>
          <p:cNvPr id="12" name="Shape 10"/>
          <p:cNvSpPr/>
          <p:nvPr/>
        </p:nvSpPr>
        <p:spPr>
          <a:xfrm>
            <a:off x="1892808" y="1380744"/>
            <a:ext cx="1115568" cy="1307592"/>
          </a:xfrm>
          <a:prstGeom prst="roundRect">
            <a:avLst>
              <a:gd name="adj" fmla="val 6557"/>
            </a:avLst>
          </a:prstGeom>
          <a:solidFill>
            <a:srgbClr val="ECE9FA"/>
          </a:solidFill>
          <a:ln w="15875">
            <a:solidFill>
              <a:srgbClr val="6A5BC2"/>
            </a:solidFill>
            <a:prstDash val="solid"/>
          </a:ln>
        </p:spPr>
      </p:sp>
      <p:sp>
        <p:nvSpPr>
          <p:cNvPr id="13" name="Text 11"/>
          <p:cNvSpPr txBox="1"/>
          <p:nvPr/>
        </p:nvSpPr>
        <p:spPr>
          <a:xfrm>
            <a:off x="1956816" y="142646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1 Scan sign</a:t>
            </a:r>
            <a:endParaRPr lang="en-US" sz="1200" dirty="0"/>
          </a:p>
        </p:txBody>
      </p:sp>
      <p:sp>
        <p:nvSpPr>
          <p:cNvPr id="14" name="Text 12"/>
          <p:cNvSpPr txBox="1"/>
          <p:nvPr/>
        </p:nvSpPr>
        <p:spPr>
          <a:xfrm>
            <a:off x="1956816" y="1709928"/>
            <a:ext cx="987552" cy="92354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The entrance QR opens the page</a:t>
            </a:r>
            <a:endParaRPr lang="en-US" sz="1100" dirty="0"/>
          </a:p>
        </p:txBody>
      </p:sp>
      <p:sp>
        <p:nvSpPr>
          <p:cNvPr id="15" name="Shape 13"/>
          <p:cNvSpPr/>
          <p:nvPr/>
        </p:nvSpPr>
        <p:spPr>
          <a:xfrm>
            <a:off x="3108960" y="1380744"/>
            <a:ext cx="1115568" cy="1307592"/>
          </a:xfrm>
          <a:prstGeom prst="roundRect">
            <a:avLst>
              <a:gd name="adj" fmla="val 6557"/>
            </a:avLst>
          </a:prstGeom>
          <a:solidFill>
            <a:srgbClr val="ECE9FA"/>
          </a:solidFill>
          <a:ln w="15875">
            <a:solidFill>
              <a:srgbClr val="6A5BC2"/>
            </a:solidFill>
            <a:prstDash val="solid"/>
          </a:ln>
        </p:spPr>
      </p:sp>
      <p:sp>
        <p:nvSpPr>
          <p:cNvPr id="16" name="Text 14"/>
          <p:cNvSpPr txBox="1"/>
          <p:nvPr/>
        </p:nvSpPr>
        <p:spPr>
          <a:xfrm>
            <a:off x="3172968" y="142646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2 Register</a:t>
            </a:r>
            <a:endParaRPr lang="en-US" sz="1200" dirty="0"/>
          </a:p>
        </p:txBody>
      </p:sp>
      <p:sp>
        <p:nvSpPr>
          <p:cNvPr id="17" name="Text 15"/>
          <p:cNvSpPr txBox="1"/>
          <p:nvPr/>
        </p:nvSpPr>
        <p:spPr>
          <a:xfrm>
            <a:off x="3172968" y="1709928"/>
            <a:ext cx="987552" cy="92354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Details, ID and expiry, rules tick</a:t>
            </a:r>
            <a:endParaRPr lang="en-US" sz="1100" dirty="0"/>
          </a:p>
        </p:txBody>
      </p:sp>
      <p:sp>
        <p:nvSpPr>
          <p:cNvPr id="18" name="Shape 16"/>
          <p:cNvSpPr/>
          <p:nvPr/>
        </p:nvSpPr>
        <p:spPr>
          <a:xfrm>
            <a:off x="4325112" y="2843784"/>
            <a:ext cx="1115568" cy="1307592"/>
          </a:xfrm>
          <a:prstGeom prst="roundRect">
            <a:avLst>
              <a:gd name="adj" fmla="val 6557"/>
            </a:avLst>
          </a:prstGeom>
          <a:solidFill>
            <a:srgbClr val="ECEEF2"/>
          </a:solidFill>
          <a:ln w="15875">
            <a:solidFill>
              <a:srgbClr val="6B7482"/>
            </a:solidFill>
            <a:prstDash val="solid"/>
          </a:ln>
        </p:spPr>
      </p:sp>
      <p:sp>
        <p:nvSpPr>
          <p:cNvPr id="19" name="Text 17"/>
          <p:cNvSpPr txBox="1"/>
          <p:nvPr/>
        </p:nvSpPr>
        <p:spPr>
          <a:xfrm>
            <a:off x="4389120" y="288950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3 Email code</a:t>
            </a:r>
            <a:endParaRPr lang="en-US" sz="1200" dirty="0"/>
          </a:p>
        </p:txBody>
      </p:sp>
      <p:sp>
        <p:nvSpPr>
          <p:cNvPr id="20" name="Text 18"/>
          <p:cNvSpPr txBox="1"/>
          <p:nvPr/>
        </p:nvSpPr>
        <p:spPr>
          <a:xfrm>
            <a:off x="4389120" y="3172968"/>
            <a:ext cx="987552" cy="92354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6 digits, valid 10 minutes</a:t>
            </a:r>
            <a:endParaRPr lang="en-US" sz="1100" dirty="0"/>
          </a:p>
        </p:txBody>
      </p:sp>
      <p:sp>
        <p:nvSpPr>
          <p:cNvPr id="21" name="Shape 19"/>
          <p:cNvSpPr/>
          <p:nvPr/>
        </p:nvSpPr>
        <p:spPr>
          <a:xfrm>
            <a:off x="5541264" y="1380744"/>
            <a:ext cx="1115568" cy="1307592"/>
          </a:xfrm>
          <a:prstGeom prst="roundRect">
            <a:avLst>
              <a:gd name="adj" fmla="val 6557"/>
            </a:avLst>
          </a:prstGeom>
          <a:solidFill>
            <a:srgbClr val="ECE9FA"/>
          </a:solidFill>
          <a:ln w="15875">
            <a:solidFill>
              <a:srgbClr val="6A5BC2"/>
            </a:solidFill>
            <a:prstDash val="solid"/>
          </a:ln>
        </p:spPr>
      </p:sp>
      <p:sp>
        <p:nvSpPr>
          <p:cNvPr id="22" name="Text 20"/>
          <p:cNvSpPr txBox="1"/>
          <p:nvPr/>
        </p:nvSpPr>
        <p:spPr>
          <a:xfrm>
            <a:off x="5605272" y="1426464"/>
            <a:ext cx="987552" cy="274320"/>
          </a:xfrm>
          <a:prstGeom prst="rect">
            <a:avLst/>
          </a:prstGeom>
          <a:noFill/>
          <a:ln/>
        </p:spPr>
        <p:txBody>
          <a:bodyPr wrap="square" lIns="0" tIns="0" rIns="0" bIns="0" rtlCol="0" anchor="ctr"/>
          <a:lstStyle/>
          <a:p>
            <a:pPr indent="0" marL="0">
              <a:buNone/>
            </a:pPr>
            <a:r>
              <a:rPr lang="en-US" sz="1200" b="1" dirty="0">
                <a:solidFill>
                  <a:srgbClr val="2D2570"/>
                </a:solidFill>
                <a:latin typeface="Calibri" pitchFamily="34" charset="0"/>
                <a:ea typeface="Calibri" pitchFamily="34" charset="-122"/>
                <a:cs typeface="Calibri" pitchFamily="34" charset="-120"/>
              </a:rPr>
              <a:t>4 Enter code</a:t>
            </a:r>
            <a:endParaRPr lang="en-US" sz="1200" dirty="0"/>
          </a:p>
        </p:txBody>
      </p:sp>
      <p:sp>
        <p:nvSpPr>
          <p:cNvPr id="23" name="Text 21"/>
          <p:cNvSpPr txBox="1"/>
          <p:nvPr/>
        </p:nvSpPr>
        <p:spPr>
          <a:xfrm>
            <a:off x="5605272" y="1709928"/>
            <a:ext cx="987552" cy="923544"/>
          </a:xfrm>
          <a:prstGeom prst="rect">
            <a:avLst/>
          </a:prstGeom>
          <a:noFill/>
          <a:ln/>
        </p:spPr>
        <p:txBody>
          <a:bodyPr wrap="square" lIns="0" tIns="0" rIns="0" bIns="0" rtlCol="0" anchor="t"/>
          <a:lstStyle/>
          <a:p>
            <a:pPr indent="0" marL="0">
              <a:buNone/>
            </a:pPr>
            <a:r>
              <a:rPr lang="en-US" sz="1100" dirty="0">
                <a:solidFill>
                  <a:srgbClr val="2D2570"/>
                </a:solidFill>
                <a:latin typeface="Calibri" pitchFamily="34" charset="0"/>
                <a:ea typeface="Calibri" pitchFamily="34" charset="-122"/>
                <a:cs typeface="Calibri" pitchFamily="34" charset="-120"/>
              </a:rPr>
              <a:t>The registration is saved</a:t>
            </a:r>
            <a:endParaRPr lang="en-US" sz="1100" dirty="0"/>
          </a:p>
        </p:txBody>
      </p:sp>
      <p:sp>
        <p:nvSpPr>
          <p:cNvPr id="24" name="Shape 22"/>
          <p:cNvSpPr/>
          <p:nvPr/>
        </p:nvSpPr>
        <p:spPr>
          <a:xfrm>
            <a:off x="6757416" y="2843784"/>
            <a:ext cx="1115568" cy="1307592"/>
          </a:xfrm>
          <a:prstGeom prst="roundRect">
            <a:avLst>
              <a:gd name="adj" fmla="val 6557"/>
            </a:avLst>
          </a:prstGeom>
          <a:solidFill>
            <a:srgbClr val="ECEEF2"/>
          </a:solidFill>
          <a:ln w="15875">
            <a:solidFill>
              <a:srgbClr val="6B7482"/>
            </a:solidFill>
            <a:prstDash val="solid"/>
          </a:ln>
        </p:spPr>
      </p:sp>
      <p:sp>
        <p:nvSpPr>
          <p:cNvPr id="25" name="Text 23"/>
          <p:cNvSpPr txBox="1"/>
          <p:nvPr/>
        </p:nvSpPr>
        <p:spPr>
          <a:xfrm>
            <a:off x="6821424" y="288950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5 Issue QR</a:t>
            </a:r>
            <a:endParaRPr lang="en-US" sz="1200" dirty="0"/>
          </a:p>
        </p:txBody>
      </p:sp>
      <p:sp>
        <p:nvSpPr>
          <p:cNvPr id="26" name="Text 24"/>
          <p:cNvSpPr txBox="1"/>
          <p:nvPr/>
        </p:nvSpPr>
        <p:spPr>
          <a:xfrm>
            <a:off x="6821424" y="3172968"/>
            <a:ext cx="987552" cy="92354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Reference and times, emailed</a:t>
            </a:r>
            <a:endParaRPr lang="en-US" sz="1100" dirty="0"/>
          </a:p>
        </p:txBody>
      </p:sp>
      <p:sp>
        <p:nvSpPr>
          <p:cNvPr id="27" name="Shape 25"/>
          <p:cNvSpPr/>
          <p:nvPr/>
        </p:nvSpPr>
        <p:spPr>
          <a:xfrm>
            <a:off x="7973568" y="4306824"/>
            <a:ext cx="1115568" cy="1307592"/>
          </a:xfrm>
          <a:prstGeom prst="roundRect">
            <a:avLst>
              <a:gd name="adj" fmla="val 6557"/>
            </a:avLst>
          </a:prstGeom>
          <a:solidFill>
            <a:srgbClr val="FBEFD9"/>
          </a:solidFill>
          <a:ln w="15875">
            <a:solidFill>
              <a:srgbClr val="B7791F"/>
            </a:solidFill>
            <a:prstDash val="solid"/>
          </a:ln>
        </p:spPr>
      </p:sp>
      <p:sp>
        <p:nvSpPr>
          <p:cNvPr id="28" name="Text 26"/>
          <p:cNvSpPr txBox="1"/>
          <p:nvPr/>
        </p:nvSpPr>
        <p:spPr>
          <a:xfrm>
            <a:off x="8037576" y="43525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6 Check</a:t>
            </a:r>
            <a:endParaRPr lang="en-US" sz="1200" dirty="0"/>
          </a:p>
        </p:txBody>
      </p:sp>
      <p:sp>
        <p:nvSpPr>
          <p:cNvPr id="29" name="Text 27"/>
          <p:cNvSpPr txBox="1"/>
          <p:nvPr/>
        </p:nvSpPr>
        <p:spPr>
          <a:xfrm>
            <a:off x="8037576" y="4636008"/>
            <a:ext cx="987552" cy="92354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Type or scan, open the ID</a:t>
            </a:r>
            <a:endParaRPr lang="en-US" sz="1100" dirty="0"/>
          </a:p>
        </p:txBody>
      </p:sp>
      <p:sp>
        <p:nvSpPr>
          <p:cNvPr id="30" name="Shape 28"/>
          <p:cNvSpPr/>
          <p:nvPr/>
        </p:nvSpPr>
        <p:spPr>
          <a:xfrm>
            <a:off x="9189720" y="2843784"/>
            <a:ext cx="1115568" cy="1307592"/>
          </a:xfrm>
          <a:prstGeom prst="roundRect">
            <a:avLst>
              <a:gd name="adj" fmla="val 6557"/>
            </a:avLst>
          </a:prstGeom>
          <a:solidFill>
            <a:srgbClr val="ECEEF2"/>
          </a:solidFill>
          <a:ln w="15875">
            <a:solidFill>
              <a:srgbClr val="6B7482"/>
            </a:solidFill>
            <a:prstDash val="solid"/>
          </a:ln>
        </p:spPr>
      </p:sp>
      <p:sp>
        <p:nvSpPr>
          <p:cNvPr id="31" name="Text 29"/>
          <p:cNvSpPr txBox="1"/>
          <p:nvPr/>
        </p:nvSpPr>
        <p:spPr>
          <a:xfrm>
            <a:off x="9253728" y="2889504"/>
            <a:ext cx="987552" cy="274320"/>
          </a:xfrm>
          <a:prstGeom prst="rect">
            <a:avLst/>
          </a:prstGeom>
          <a:noFill/>
          <a:ln/>
        </p:spPr>
        <p:txBody>
          <a:bodyPr wrap="square" lIns="0" tIns="0" rIns="0" bIns="0" rtlCol="0" anchor="ctr"/>
          <a:lstStyle/>
          <a:p>
            <a:pPr indent="0" marL="0">
              <a:buNone/>
            </a:pPr>
            <a:r>
              <a:rPr lang="en-US" sz="1200" b="1" dirty="0">
                <a:solidFill>
                  <a:srgbClr val="232831"/>
                </a:solidFill>
                <a:latin typeface="Calibri" pitchFamily="34" charset="0"/>
                <a:ea typeface="Calibri" pitchFamily="34" charset="-122"/>
                <a:cs typeface="Calibri" pitchFamily="34" charset="-120"/>
              </a:rPr>
              <a:t>Checks</a:t>
            </a:r>
            <a:endParaRPr lang="en-US" sz="1200" dirty="0"/>
          </a:p>
        </p:txBody>
      </p:sp>
      <p:sp>
        <p:nvSpPr>
          <p:cNvPr id="32" name="Text 30"/>
          <p:cNvSpPr txBox="1"/>
          <p:nvPr/>
        </p:nvSpPr>
        <p:spPr>
          <a:xfrm>
            <a:off x="9253728" y="3172968"/>
            <a:ext cx="987552" cy="923544"/>
          </a:xfrm>
          <a:prstGeom prst="rect">
            <a:avLst/>
          </a:prstGeom>
          <a:noFill/>
          <a:ln/>
        </p:spPr>
        <p:txBody>
          <a:bodyPr wrap="square" lIns="0" tIns="0" rIns="0" bIns="0" rtlCol="0" anchor="t"/>
          <a:lstStyle/>
          <a:p>
            <a:pPr indent="0" marL="0">
              <a:buNone/>
            </a:pPr>
            <a:r>
              <a:rPr lang="en-US" sz="1100" dirty="0">
                <a:solidFill>
                  <a:srgbClr val="232831"/>
                </a:solidFill>
                <a:latin typeface="Calibri" pitchFamily="34" charset="0"/>
                <a:ea typeface="Calibri" pitchFamily="34" charset="-122"/>
                <a:cs typeface="Calibri" pitchFamily="34" charset="-120"/>
              </a:rPr>
              <a:t>QR window, ID expiry, rules</a:t>
            </a:r>
            <a:endParaRPr lang="en-US" sz="1100" dirty="0"/>
          </a:p>
        </p:txBody>
      </p:sp>
      <p:sp>
        <p:nvSpPr>
          <p:cNvPr id="33" name="Shape 31"/>
          <p:cNvSpPr/>
          <p:nvPr/>
        </p:nvSpPr>
        <p:spPr>
          <a:xfrm>
            <a:off x="10405872" y="4306824"/>
            <a:ext cx="1115568" cy="1307592"/>
          </a:xfrm>
          <a:prstGeom prst="roundRect">
            <a:avLst>
              <a:gd name="adj" fmla="val 6557"/>
            </a:avLst>
          </a:prstGeom>
          <a:solidFill>
            <a:srgbClr val="FBEFD9"/>
          </a:solidFill>
          <a:ln w="15875">
            <a:solidFill>
              <a:srgbClr val="B7791F"/>
            </a:solidFill>
            <a:prstDash val="solid"/>
          </a:ln>
        </p:spPr>
      </p:sp>
      <p:sp>
        <p:nvSpPr>
          <p:cNvPr id="34" name="Text 32"/>
          <p:cNvSpPr txBox="1"/>
          <p:nvPr/>
        </p:nvSpPr>
        <p:spPr>
          <a:xfrm>
            <a:off x="10469880" y="4352544"/>
            <a:ext cx="987552" cy="274320"/>
          </a:xfrm>
          <a:prstGeom prst="rect">
            <a:avLst/>
          </a:prstGeom>
          <a:noFill/>
          <a:ln/>
        </p:spPr>
        <p:txBody>
          <a:bodyPr wrap="square" lIns="0" tIns="0" rIns="0" bIns="0" rtlCol="0" anchor="ctr"/>
          <a:lstStyle/>
          <a:p>
            <a:pPr indent="0" marL="0">
              <a:buNone/>
            </a:pPr>
            <a:r>
              <a:rPr lang="en-US" sz="1200" b="1" dirty="0">
                <a:solidFill>
                  <a:srgbClr val="573906"/>
                </a:solidFill>
                <a:latin typeface="Calibri" pitchFamily="34" charset="0"/>
                <a:ea typeface="Calibri" pitchFamily="34" charset="-122"/>
                <a:cs typeface="Calibri" pitchFamily="34" charset="-120"/>
              </a:rPr>
              <a:t>7 Decide</a:t>
            </a:r>
            <a:endParaRPr lang="en-US" sz="1200" dirty="0"/>
          </a:p>
        </p:txBody>
      </p:sp>
      <p:sp>
        <p:nvSpPr>
          <p:cNvPr id="35" name="Text 33"/>
          <p:cNvSpPr txBox="1"/>
          <p:nvPr/>
        </p:nvSpPr>
        <p:spPr>
          <a:xfrm>
            <a:off x="10469880" y="4636008"/>
            <a:ext cx="987552" cy="923544"/>
          </a:xfrm>
          <a:prstGeom prst="rect">
            <a:avLst/>
          </a:prstGeom>
          <a:noFill/>
          <a:ln/>
        </p:spPr>
        <p:txBody>
          <a:bodyPr wrap="square" lIns="0" tIns="0" rIns="0" bIns="0" rtlCol="0" anchor="t"/>
          <a:lstStyle/>
          <a:p>
            <a:pPr indent="0" marL="0">
              <a:buNone/>
            </a:pPr>
            <a:r>
              <a:rPr lang="en-US" sz="1100" dirty="0">
                <a:solidFill>
                  <a:srgbClr val="573906"/>
                </a:solidFill>
                <a:latin typeface="Calibri" pitchFamily="34" charset="0"/>
                <a:ea typeface="Calibri" pitchFamily="34" charset="-122"/>
                <a:cs typeface="Calibri" pitchFamily="34" charset="-120"/>
              </a:rPr>
              <a:t>Let in or refuse, then Record exit</a:t>
            </a:r>
            <a:endParaRPr lang="en-US" sz="1100" dirty="0"/>
          </a:p>
        </p:txBody>
      </p:sp>
      <p:sp>
        <p:nvSpPr>
          <p:cNvPr id="36" name="Shape 34"/>
          <p:cNvSpPr/>
          <p:nvPr/>
        </p:nvSpPr>
        <p:spPr>
          <a:xfrm>
            <a:off x="3008376" y="2034540"/>
            <a:ext cx="100584" cy="0"/>
          </a:xfrm>
          <a:prstGeom prst="line">
            <a:avLst/>
          </a:prstGeom>
          <a:noFill/>
          <a:ln w="19050">
            <a:solidFill>
              <a:srgbClr val="4B5563"/>
            </a:solidFill>
            <a:prstDash val="solid"/>
            <a:tailEnd type="triangle"/>
          </a:ln>
        </p:spPr>
      </p:sp>
      <p:sp>
        <p:nvSpPr>
          <p:cNvPr id="37" name="Shape 35"/>
          <p:cNvSpPr/>
          <p:nvPr/>
        </p:nvSpPr>
        <p:spPr>
          <a:xfrm>
            <a:off x="4224528" y="2034540"/>
            <a:ext cx="100584" cy="1463040"/>
          </a:xfrm>
          <a:prstGeom prst="line">
            <a:avLst/>
          </a:prstGeom>
          <a:noFill/>
          <a:ln w="19050">
            <a:solidFill>
              <a:srgbClr val="4B5563"/>
            </a:solidFill>
            <a:prstDash val="solid"/>
            <a:tailEnd type="triangle"/>
          </a:ln>
        </p:spPr>
      </p:sp>
      <p:sp>
        <p:nvSpPr>
          <p:cNvPr id="38" name="Shape 36"/>
          <p:cNvSpPr/>
          <p:nvPr/>
        </p:nvSpPr>
        <p:spPr>
          <a:xfrm flipV="1">
            <a:off x="5440680" y="2034540"/>
            <a:ext cx="100584" cy="1463040"/>
          </a:xfrm>
          <a:prstGeom prst="line">
            <a:avLst/>
          </a:prstGeom>
          <a:noFill/>
          <a:ln w="19050">
            <a:solidFill>
              <a:srgbClr val="4B5563"/>
            </a:solidFill>
            <a:prstDash val="solid"/>
            <a:tailEnd type="triangle"/>
          </a:ln>
        </p:spPr>
      </p:sp>
      <p:sp>
        <p:nvSpPr>
          <p:cNvPr id="39" name="Shape 37"/>
          <p:cNvSpPr/>
          <p:nvPr/>
        </p:nvSpPr>
        <p:spPr>
          <a:xfrm>
            <a:off x="6656832" y="2034540"/>
            <a:ext cx="100584" cy="1463040"/>
          </a:xfrm>
          <a:prstGeom prst="line">
            <a:avLst/>
          </a:prstGeom>
          <a:noFill/>
          <a:ln w="19050">
            <a:solidFill>
              <a:srgbClr val="4B5563"/>
            </a:solidFill>
            <a:prstDash val="solid"/>
            <a:tailEnd type="triangle"/>
          </a:ln>
        </p:spPr>
      </p:sp>
      <p:sp>
        <p:nvSpPr>
          <p:cNvPr id="40" name="Shape 38"/>
          <p:cNvSpPr/>
          <p:nvPr/>
        </p:nvSpPr>
        <p:spPr>
          <a:xfrm>
            <a:off x="7872984" y="3497580"/>
            <a:ext cx="100584" cy="1463040"/>
          </a:xfrm>
          <a:prstGeom prst="line">
            <a:avLst/>
          </a:prstGeom>
          <a:noFill/>
          <a:ln w="19050">
            <a:solidFill>
              <a:srgbClr val="4B5563"/>
            </a:solidFill>
            <a:prstDash val="solid"/>
            <a:tailEnd type="triangle"/>
          </a:ln>
        </p:spPr>
      </p:sp>
      <p:sp>
        <p:nvSpPr>
          <p:cNvPr id="41" name="Shape 39"/>
          <p:cNvSpPr/>
          <p:nvPr/>
        </p:nvSpPr>
        <p:spPr>
          <a:xfrm flipV="1">
            <a:off x="9089136" y="3497580"/>
            <a:ext cx="100584" cy="1463040"/>
          </a:xfrm>
          <a:prstGeom prst="line">
            <a:avLst/>
          </a:prstGeom>
          <a:noFill/>
          <a:ln w="19050">
            <a:solidFill>
              <a:srgbClr val="4B5563"/>
            </a:solidFill>
            <a:prstDash val="solid"/>
            <a:tailEnd type="triangle"/>
          </a:ln>
        </p:spPr>
      </p:sp>
      <p:sp>
        <p:nvSpPr>
          <p:cNvPr id="42" name="Shape 40"/>
          <p:cNvSpPr/>
          <p:nvPr/>
        </p:nvSpPr>
        <p:spPr>
          <a:xfrm>
            <a:off x="10305288" y="3497580"/>
            <a:ext cx="100584" cy="1463040"/>
          </a:xfrm>
          <a:prstGeom prst="line">
            <a:avLst/>
          </a:prstGeom>
          <a:noFill/>
          <a:ln w="19050">
            <a:solidFill>
              <a:srgbClr val="4B5563"/>
            </a:solidFill>
            <a:prstDash val="solid"/>
            <a:tailEnd type="triangle"/>
          </a:ln>
        </p:spPr>
      </p:sp>
      <p:sp>
        <p:nvSpPr>
          <p:cNvPr id="43" name="Shape 41"/>
          <p:cNvSpPr/>
          <p:nvPr/>
        </p:nvSpPr>
        <p:spPr>
          <a:xfrm>
            <a:off x="548640" y="5943600"/>
            <a:ext cx="11091672" cy="384048"/>
          </a:xfrm>
          <a:prstGeom prst="roundRect">
            <a:avLst>
              <a:gd name="adj" fmla="val 19048"/>
            </a:avLst>
          </a:prstGeom>
          <a:solidFill>
            <a:srgbClr val="ECEEF2"/>
          </a:solidFill>
          <a:ln w="12700">
            <a:solidFill>
              <a:srgbClr val="6B7482"/>
            </a:solidFill>
            <a:prstDash val="solid"/>
          </a:ln>
        </p:spPr>
      </p:sp>
      <p:sp>
        <p:nvSpPr>
          <p:cNvPr id="44" name="Text 42"/>
          <p:cNvSpPr txBox="1"/>
          <p:nvPr/>
        </p:nvSpPr>
        <p:spPr>
          <a:xfrm>
            <a:off x="731520" y="5943600"/>
            <a:ext cx="10789920" cy="384048"/>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No invitation and no account. Every step feeds the live dashboard and the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in detail: who does what</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96012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Who</a:t>
            </a:r>
            <a:endParaRPr lang="en-US" sz="1200" dirty="0"/>
          </a:p>
        </p:txBody>
      </p:sp>
      <p:sp>
        <p:nvSpPr>
          <p:cNvPr id="5" name="Text 3"/>
          <p:cNvSpPr txBox="1"/>
          <p:nvPr/>
        </p:nvSpPr>
        <p:spPr>
          <a:xfrm>
            <a:off x="3840480" y="1188720"/>
            <a:ext cx="17830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Where</a:t>
            </a:r>
            <a:endParaRPr lang="en-US" sz="1200" dirty="0"/>
          </a:p>
        </p:txBody>
      </p:sp>
      <p:sp>
        <p:nvSpPr>
          <p:cNvPr id="6" name="Text 4"/>
          <p:cNvSpPr txBox="1"/>
          <p:nvPr/>
        </p:nvSpPr>
        <p:spPr>
          <a:xfrm>
            <a:off x="5760720" y="1188720"/>
            <a:ext cx="58338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What is checked</a:t>
            </a:r>
            <a:endParaRPr lang="en-US" sz="1200" dirty="0"/>
          </a:p>
        </p:txBody>
      </p:sp>
      <p:sp>
        <p:nvSpPr>
          <p:cNvPr id="7" name="Shape 5"/>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8" name="Text 6"/>
          <p:cNvSpPr txBox="1"/>
          <p:nvPr/>
        </p:nvSpPr>
        <p:spPr>
          <a:xfrm>
            <a:off x="640080" y="1572768"/>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  Invite</a:t>
            </a:r>
            <a:endParaRPr lang="en-US" sz="1200" dirty="0"/>
          </a:p>
        </p:txBody>
      </p:sp>
      <p:sp>
        <p:nvSpPr>
          <p:cNvPr id="9" name="Text 7"/>
          <p:cNvSpPr txBox="1"/>
          <p:nvPr/>
        </p:nvSpPr>
        <p:spPr>
          <a:xfrm>
            <a:off x="2743200" y="1572768"/>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10" name="Text 8"/>
          <p:cNvSpPr txBox="1"/>
          <p:nvPr/>
        </p:nvSpPr>
        <p:spPr>
          <a:xfrm>
            <a:off x="3840480" y="1572768"/>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Invitations</a:t>
            </a:r>
            <a:endParaRPr lang="en-US" sz="1200" dirty="0"/>
          </a:p>
        </p:txBody>
      </p:sp>
      <p:sp>
        <p:nvSpPr>
          <p:cNvPr id="11" name="Text 9"/>
          <p:cNvSpPr txBox="1"/>
          <p:nvPr/>
        </p:nvSpPr>
        <p:spPr>
          <a:xfrm>
            <a:off x="5760720" y="1572768"/>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Email, company, purpose and visit window. The end is pre-filled from the site's default visit length. An email with an accept link is sent.</a:t>
            </a:r>
            <a:endParaRPr lang="en-US" sz="1200" dirty="0"/>
          </a:p>
        </p:txBody>
      </p:sp>
      <p:sp>
        <p:nvSpPr>
          <p:cNvPr id="12" name="Shape 10"/>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3" name="Text 11"/>
          <p:cNvSpPr txBox="1"/>
          <p:nvPr/>
        </p:nvSpPr>
        <p:spPr>
          <a:xfrm>
            <a:off x="640080" y="2185416"/>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2  Accept and register</a:t>
            </a:r>
            <a:endParaRPr lang="en-US" sz="1200" dirty="0"/>
          </a:p>
        </p:txBody>
      </p:sp>
      <p:sp>
        <p:nvSpPr>
          <p:cNvPr id="14" name="Text 12"/>
          <p:cNvSpPr txBox="1"/>
          <p:nvPr/>
        </p:nvSpPr>
        <p:spPr>
          <a:xfrm>
            <a:off x="2743200" y="2185416"/>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Invitee</a:t>
            </a:r>
            <a:endParaRPr lang="en-US" sz="1200" dirty="0"/>
          </a:p>
        </p:txBody>
      </p:sp>
      <p:sp>
        <p:nvSpPr>
          <p:cNvPr id="15" name="Text 13"/>
          <p:cNvSpPr txBox="1"/>
          <p:nvPr/>
        </p:nvSpPr>
        <p:spPr>
          <a:xfrm>
            <a:off x="3840480" y="2185416"/>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Link in the email</a:t>
            </a:r>
            <a:endParaRPr lang="en-US" sz="1200" dirty="0"/>
          </a:p>
        </p:txBody>
      </p:sp>
      <p:sp>
        <p:nvSpPr>
          <p:cNvPr id="16" name="Text 14"/>
          <p:cNvSpPr txBox="1"/>
          <p:nvPr/>
        </p:nvSpPr>
        <p:spPr>
          <a:xfrm>
            <a:off x="5760720" y="2185416"/>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Name, ID document and its expiry date, and the life-saving rules tick. Drivers must upload a driving licence.</a:t>
            </a:r>
            <a:endParaRPr lang="en-US" sz="1200" dirty="0"/>
          </a:p>
        </p:txBody>
      </p:sp>
      <p:sp>
        <p:nvSpPr>
          <p:cNvPr id="17" name="Shape 15"/>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8" name="Text 16"/>
          <p:cNvSpPr txBox="1"/>
          <p:nvPr/>
        </p:nvSpPr>
        <p:spPr>
          <a:xfrm>
            <a:off x="640080" y="2798064"/>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3  Verify the ID</a:t>
            </a:r>
            <a:endParaRPr lang="en-US" sz="1200" dirty="0"/>
          </a:p>
        </p:txBody>
      </p:sp>
      <p:sp>
        <p:nvSpPr>
          <p:cNvPr id="19" name="Text 17"/>
          <p:cNvSpPr txBox="1"/>
          <p:nvPr/>
        </p:nvSpPr>
        <p:spPr>
          <a:xfrm>
            <a:off x="2743200" y="2798064"/>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20" name="Text 18"/>
          <p:cNvSpPr txBox="1"/>
          <p:nvPr/>
        </p:nvSpPr>
        <p:spPr>
          <a:xfrm>
            <a:off x="3840480" y="2798064"/>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Invitations</a:t>
            </a:r>
            <a:endParaRPr lang="en-US" sz="1200" dirty="0"/>
          </a:p>
        </p:txBody>
      </p:sp>
      <p:sp>
        <p:nvSpPr>
          <p:cNvPr id="21" name="Text 19"/>
          <p:cNvSpPr txBox="1"/>
          <p:nvPr/>
        </p:nvSpPr>
        <p:spPr>
          <a:xfrm>
            <a:off x="5760720" y="2798064"/>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Preview the document, check the name and expiry, then Verify evidence with a reason.</a:t>
            </a:r>
            <a:endParaRPr lang="en-US" sz="1200" dirty="0"/>
          </a:p>
        </p:txBody>
      </p:sp>
      <p:sp>
        <p:nvSpPr>
          <p:cNvPr id="22" name="Shape 20"/>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23" name="Text 21"/>
          <p:cNvSpPr txBox="1"/>
          <p:nvPr/>
        </p:nvSpPr>
        <p:spPr>
          <a:xfrm>
            <a:off x="640080" y="3410712"/>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4  Training</a:t>
            </a:r>
            <a:endParaRPr lang="en-US" sz="1200" dirty="0"/>
          </a:p>
        </p:txBody>
      </p:sp>
      <p:sp>
        <p:nvSpPr>
          <p:cNvPr id="24" name="Text 22"/>
          <p:cNvSpPr txBox="1"/>
          <p:nvPr/>
        </p:nvSpPr>
        <p:spPr>
          <a:xfrm>
            <a:off x="2743200" y="3410712"/>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25" name="Text 23"/>
          <p:cNvSpPr txBox="1"/>
          <p:nvPr/>
        </p:nvSpPr>
        <p:spPr>
          <a:xfrm>
            <a:off x="3840480" y="3410712"/>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26" name="Text 24"/>
          <p:cNvSpPr txBox="1"/>
          <p:nvPr/>
        </p:nvSpPr>
        <p:spPr>
          <a:xfrm>
            <a:off x="5760720" y="3410712"/>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SHEQ Basics and the Vlaardingen site rules are confirmed and scored.</a:t>
            </a:r>
            <a:endParaRPr lang="en-US" sz="1200" dirty="0"/>
          </a:p>
        </p:txBody>
      </p:sp>
      <p:sp>
        <p:nvSpPr>
          <p:cNvPr id="27" name="Shape 25"/>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8" name="Text 26"/>
          <p:cNvSpPr txBox="1"/>
          <p:nvPr/>
        </p:nvSpPr>
        <p:spPr>
          <a:xfrm>
            <a:off x="640080" y="4023360"/>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5  Approval</a:t>
            </a:r>
            <a:endParaRPr lang="en-US" sz="1200" dirty="0"/>
          </a:p>
        </p:txBody>
      </p:sp>
      <p:sp>
        <p:nvSpPr>
          <p:cNvPr id="29" name="Text 27"/>
          <p:cNvSpPr txBox="1"/>
          <p:nvPr/>
        </p:nvSpPr>
        <p:spPr>
          <a:xfrm>
            <a:off x="2743200" y="4023360"/>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30" name="Text 28"/>
          <p:cNvSpPr txBox="1"/>
          <p:nvPr/>
        </p:nvSpPr>
        <p:spPr>
          <a:xfrm>
            <a:off x="3840480" y="4023360"/>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31" name="Text 29"/>
          <p:cNvSpPr txBox="1"/>
          <p:nvPr/>
        </p:nvSpPr>
        <p:spPr>
          <a:xfrm>
            <a:off x="5760720" y="4023360"/>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Compliance must show Eligible: ID, rules, training, blacklist. Then Approve eligible snapshot.</a:t>
            </a:r>
            <a:endParaRPr lang="en-US" sz="1200" dirty="0"/>
          </a:p>
        </p:txBody>
      </p:sp>
      <p:sp>
        <p:nvSpPr>
          <p:cNvPr id="32" name="Shape 30"/>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33" name="Text 31"/>
          <p:cNvSpPr txBox="1"/>
          <p:nvPr/>
        </p:nvSpPr>
        <p:spPr>
          <a:xfrm>
            <a:off x="640080" y="4636008"/>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6  Issue the QR</a:t>
            </a:r>
            <a:endParaRPr lang="en-US" sz="1200" dirty="0"/>
          </a:p>
        </p:txBody>
      </p:sp>
      <p:sp>
        <p:nvSpPr>
          <p:cNvPr id="34" name="Text 32"/>
          <p:cNvSpPr txBox="1"/>
          <p:nvPr/>
        </p:nvSpPr>
        <p:spPr>
          <a:xfrm>
            <a:off x="2743200" y="4636008"/>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Staff</a:t>
            </a:r>
            <a:endParaRPr lang="en-US" sz="1200" dirty="0"/>
          </a:p>
        </p:txBody>
      </p:sp>
      <p:sp>
        <p:nvSpPr>
          <p:cNvPr id="35" name="Text 33"/>
          <p:cNvSpPr txBox="1"/>
          <p:nvPr/>
        </p:nvSpPr>
        <p:spPr>
          <a:xfrm>
            <a:off x="3840480" y="4636008"/>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Visits</a:t>
            </a:r>
            <a:endParaRPr lang="en-US" sz="1200" dirty="0"/>
          </a:p>
        </p:txBody>
      </p:sp>
      <p:sp>
        <p:nvSpPr>
          <p:cNvPr id="36" name="Text 34"/>
          <p:cNvSpPr txBox="1"/>
          <p:nvPr/>
        </p:nvSpPr>
        <p:spPr>
          <a:xfrm>
            <a:off x="5760720" y="4636008"/>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Entry and exit time inside the visit and the site's longest QR. Emailed to the invitee.</a:t>
            </a:r>
            <a:endParaRPr lang="en-US" sz="1200" dirty="0"/>
          </a:p>
        </p:txBody>
      </p:sp>
      <p:sp>
        <p:nvSpPr>
          <p:cNvPr id="37" name="Shape 35"/>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8" name="Text 36"/>
          <p:cNvSpPr txBox="1"/>
          <p:nvPr/>
        </p:nvSpPr>
        <p:spPr>
          <a:xfrm>
            <a:off x="640080" y="5248656"/>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7  Gate</a:t>
            </a:r>
            <a:endParaRPr lang="en-US" sz="1200" dirty="0"/>
          </a:p>
        </p:txBody>
      </p:sp>
      <p:sp>
        <p:nvSpPr>
          <p:cNvPr id="39" name="Text 37"/>
          <p:cNvSpPr txBox="1"/>
          <p:nvPr/>
        </p:nvSpPr>
        <p:spPr>
          <a:xfrm>
            <a:off x="2743200" y="5248656"/>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Officer</a:t>
            </a:r>
            <a:endParaRPr lang="en-US" sz="1200" dirty="0"/>
          </a:p>
        </p:txBody>
      </p:sp>
      <p:sp>
        <p:nvSpPr>
          <p:cNvPr id="40" name="Text 38"/>
          <p:cNvSpPr txBox="1"/>
          <p:nvPr/>
        </p:nvSpPr>
        <p:spPr>
          <a:xfrm>
            <a:off x="3840480" y="5248656"/>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Gate kiosk</a:t>
            </a:r>
            <a:endParaRPr lang="en-US" sz="1200" dirty="0"/>
          </a:p>
        </p:txBody>
      </p:sp>
      <p:sp>
        <p:nvSpPr>
          <p:cNvPr id="41" name="Text 39"/>
          <p:cNvSpPr txBox="1"/>
          <p:nvPr/>
        </p:nvSpPr>
        <p:spPr>
          <a:xfrm>
            <a:off x="5760720" y="5248656"/>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QR window, compare the ID with the person, tick the box, then the server decides.</a:t>
            </a:r>
            <a:endParaRPr lang="en-US" sz="1200" dirty="0"/>
          </a:p>
        </p:txBody>
      </p:sp>
      <p:sp>
        <p:nvSpPr>
          <p:cNvPr id="42" name="Shape 40"/>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43" name="Text 41"/>
          <p:cNvSpPr txBox="1"/>
          <p:nvPr/>
        </p:nvSpPr>
        <p:spPr>
          <a:xfrm>
            <a:off x="640080" y="5861304"/>
            <a:ext cx="1920240" cy="54864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8  Exit</a:t>
            </a:r>
            <a:endParaRPr lang="en-US" sz="1200" dirty="0"/>
          </a:p>
        </p:txBody>
      </p:sp>
      <p:sp>
        <p:nvSpPr>
          <p:cNvPr id="44" name="Text 42"/>
          <p:cNvSpPr txBox="1"/>
          <p:nvPr/>
        </p:nvSpPr>
        <p:spPr>
          <a:xfrm>
            <a:off x="2743200" y="5861304"/>
            <a:ext cx="91440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Officer</a:t>
            </a:r>
            <a:endParaRPr lang="en-US" sz="1200" dirty="0"/>
          </a:p>
        </p:txBody>
      </p:sp>
      <p:sp>
        <p:nvSpPr>
          <p:cNvPr id="45" name="Text 43"/>
          <p:cNvSpPr txBox="1"/>
          <p:nvPr/>
        </p:nvSpPr>
        <p:spPr>
          <a:xfrm>
            <a:off x="3840480" y="5861304"/>
            <a:ext cx="1737360"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Roster or kiosk</a:t>
            </a:r>
            <a:endParaRPr lang="en-US" sz="1200" dirty="0"/>
          </a:p>
        </p:txBody>
      </p:sp>
      <p:sp>
        <p:nvSpPr>
          <p:cNvPr id="46" name="Text 44"/>
          <p:cNvSpPr txBox="1"/>
          <p:nvPr/>
        </p:nvSpPr>
        <p:spPr>
          <a:xfrm>
            <a:off x="5760720" y="5861304"/>
            <a:ext cx="5788152" cy="54864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Record exit. Overdue people are flagged.</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issuing the QR with entry and exit time</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The rules</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Staff see Entry from and Exit by on the Visits screen, pre-filled from the visit window.</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They can narrow the window, never widen it: no entry before the visit starts, no exit after it ends.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 exit cannot be more than the site's longest access QR after the entry. This is set by an administrator.</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Times are typed and shown on the site's clock (Amsterdam time), with the viewer's own clock shown below.</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The QR is shown once and emailed with both times. The server keeps only a hash of it.</a:t>
            </a:r>
            <a:endParaRPr lang="en-US" sz="1500" dirty="0"/>
          </a:p>
        </p:txBody>
      </p:sp>
      <p:sp>
        <p:nvSpPr>
          <p:cNvPr id="6" name="Shape 4"/>
          <p:cNvSpPr/>
          <p:nvPr/>
        </p:nvSpPr>
        <p:spPr>
          <a:xfrm>
            <a:off x="6245352" y="1280160"/>
            <a:ext cx="5394960" cy="4754880"/>
          </a:xfrm>
          <a:prstGeom prst="roundRect">
            <a:avLst>
              <a:gd name="adj" fmla="val 2308"/>
            </a:avLst>
          </a:prstGeom>
          <a:solidFill>
            <a:srgbClr val="F3F5F7"/>
          </a:solidFill>
          <a:ln w="12700">
            <a:solidFill>
              <a:srgbClr val="6B7482"/>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Example: longest QR is 3 hours</a:t>
            </a:r>
            <a:endParaRPr lang="en-US" sz="1700" dirty="0"/>
          </a:p>
        </p:txBody>
      </p:sp>
      <p:sp>
        <p:nvSpPr>
          <p:cNvPr id="8" name="Text 6"/>
          <p:cNvSpPr txBox="1"/>
          <p:nvPr/>
        </p:nvSpPr>
        <p:spPr>
          <a:xfrm>
            <a:off x="6473952" y="1828800"/>
            <a:ext cx="4937760" cy="320040"/>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Visit 13:00 to 19:15 Amsterdam time.</a:t>
            </a:r>
            <a:endParaRPr lang="en-US" sz="1300" dirty="0"/>
          </a:p>
        </p:txBody>
      </p:sp>
      <p:sp>
        <p:nvSpPr>
          <p:cNvPr id="9" name="Text 7"/>
          <p:cNvSpPr txBox="1"/>
          <p:nvPr/>
        </p:nvSpPr>
        <p:spPr>
          <a:xfrm>
            <a:off x="6492240" y="2194560"/>
            <a:ext cx="8686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Entry</a:t>
            </a:r>
            <a:endParaRPr lang="en-US" sz="1200" dirty="0"/>
          </a:p>
        </p:txBody>
      </p:sp>
      <p:sp>
        <p:nvSpPr>
          <p:cNvPr id="10" name="Text 8"/>
          <p:cNvSpPr txBox="1"/>
          <p:nvPr/>
        </p:nvSpPr>
        <p:spPr>
          <a:xfrm>
            <a:off x="7498080" y="2194560"/>
            <a:ext cx="86868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Exit</a:t>
            </a:r>
            <a:endParaRPr lang="en-US" sz="1200" dirty="0"/>
          </a:p>
        </p:txBody>
      </p:sp>
      <p:sp>
        <p:nvSpPr>
          <p:cNvPr id="11" name="Text 9"/>
          <p:cNvSpPr txBox="1"/>
          <p:nvPr/>
        </p:nvSpPr>
        <p:spPr>
          <a:xfrm>
            <a:off x="8503920" y="2194560"/>
            <a:ext cx="297180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Result</a:t>
            </a:r>
            <a:endParaRPr lang="en-US" sz="1200" dirty="0"/>
          </a:p>
        </p:txBody>
      </p:sp>
      <p:sp>
        <p:nvSpPr>
          <p:cNvPr id="12" name="Shape 10"/>
          <p:cNvSpPr/>
          <p:nvPr/>
        </p:nvSpPr>
        <p:spPr>
          <a:xfrm>
            <a:off x="6400800" y="2578608"/>
            <a:ext cx="5120640" cy="594360"/>
          </a:xfrm>
          <a:prstGeom prst="roundRect">
            <a:avLst>
              <a:gd name="adj" fmla="val 9231"/>
            </a:avLst>
          </a:prstGeom>
          <a:solidFill>
            <a:srgbClr val="F3F5F7"/>
          </a:solidFill>
          <a:ln w="9525">
            <a:solidFill>
              <a:srgbClr val="E1E5EA"/>
            </a:solidFill>
            <a:prstDash val="solid"/>
          </a:ln>
        </p:spPr>
      </p:sp>
      <p:sp>
        <p:nvSpPr>
          <p:cNvPr id="13" name="Text 11"/>
          <p:cNvSpPr txBox="1"/>
          <p:nvPr/>
        </p:nvSpPr>
        <p:spPr>
          <a:xfrm>
            <a:off x="6492240" y="2578608"/>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14" name="Text 12"/>
          <p:cNvSpPr txBox="1"/>
          <p:nvPr/>
        </p:nvSpPr>
        <p:spPr>
          <a:xfrm>
            <a:off x="7498080" y="2578608"/>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16:30</a:t>
            </a:r>
            <a:endParaRPr lang="en-US" sz="1200" dirty="0"/>
          </a:p>
        </p:txBody>
      </p:sp>
      <p:sp>
        <p:nvSpPr>
          <p:cNvPr id="15" name="Text 13"/>
          <p:cNvSpPr txBox="1"/>
          <p:nvPr/>
        </p:nvSpPr>
        <p:spPr>
          <a:xfrm>
            <a:off x="8503920" y="2578608"/>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Issued. 2.5 hours, inside the limit.</a:t>
            </a:r>
            <a:endParaRPr lang="en-US" sz="1200" dirty="0"/>
          </a:p>
        </p:txBody>
      </p:sp>
      <p:sp>
        <p:nvSpPr>
          <p:cNvPr id="16" name="Shape 14"/>
          <p:cNvSpPr/>
          <p:nvPr/>
        </p:nvSpPr>
        <p:spPr>
          <a:xfrm>
            <a:off x="6400800" y="3236976"/>
            <a:ext cx="5120640" cy="594360"/>
          </a:xfrm>
          <a:prstGeom prst="roundRect">
            <a:avLst>
              <a:gd name="adj" fmla="val 9231"/>
            </a:avLst>
          </a:prstGeom>
          <a:solidFill>
            <a:srgbClr val="FFFFFF"/>
          </a:solidFill>
          <a:ln w="9525">
            <a:solidFill>
              <a:srgbClr val="E1E5EA"/>
            </a:solidFill>
            <a:prstDash val="solid"/>
          </a:ln>
        </p:spPr>
      </p:sp>
      <p:sp>
        <p:nvSpPr>
          <p:cNvPr id="17" name="Text 15"/>
          <p:cNvSpPr txBox="1"/>
          <p:nvPr/>
        </p:nvSpPr>
        <p:spPr>
          <a:xfrm>
            <a:off x="6492240" y="3236976"/>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18" name="Text 16"/>
          <p:cNvSpPr txBox="1"/>
          <p:nvPr/>
        </p:nvSpPr>
        <p:spPr>
          <a:xfrm>
            <a:off x="7498080" y="3236976"/>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17:30</a:t>
            </a:r>
            <a:endParaRPr lang="en-US" sz="1200" dirty="0"/>
          </a:p>
        </p:txBody>
      </p:sp>
      <p:sp>
        <p:nvSpPr>
          <p:cNvPr id="19" name="Text 17"/>
          <p:cNvSpPr txBox="1"/>
          <p:nvPr/>
        </p:nvSpPr>
        <p:spPr>
          <a:xfrm>
            <a:off x="8503920" y="3236976"/>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this site allows at most 3 hours.</a:t>
            </a:r>
            <a:endParaRPr lang="en-US" sz="1200" dirty="0"/>
          </a:p>
        </p:txBody>
      </p:sp>
      <p:sp>
        <p:nvSpPr>
          <p:cNvPr id="20" name="Shape 18"/>
          <p:cNvSpPr/>
          <p:nvPr/>
        </p:nvSpPr>
        <p:spPr>
          <a:xfrm>
            <a:off x="6400800" y="3895344"/>
            <a:ext cx="5120640" cy="594360"/>
          </a:xfrm>
          <a:prstGeom prst="roundRect">
            <a:avLst>
              <a:gd name="adj" fmla="val 9231"/>
            </a:avLst>
          </a:prstGeom>
          <a:solidFill>
            <a:srgbClr val="F3F5F7"/>
          </a:solidFill>
          <a:ln w="9525">
            <a:solidFill>
              <a:srgbClr val="E1E5EA"/>
            </a:solidFill>
            <a:prstDash val="solid"/>
          </a:ln>
        </p:spPr>
      </p:sp>
      <p:sp>
        <p:nvSpPr>
          <p:cNvPr id="21" name="Text 19"/>
          <p:cNvSpPr txBox="1"/>
          <p:nvPr/>
        </p:nvSpPr>
        <p:spPr>
          <a:xfrm>
            <a:off x="6492240" y="3895344"/>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12:00</a:t>
            </a:r>
            <a:endParaRPr lang="en-US" sz="1200" dirty="0"/>
          </a:p>
        </p:txBody>
      </p:sp>
      <p:sp>
        <p:nvSpPr>
          <p:cNvPr id="22" name="Text 20"/>
          <p:cNvSpPr txBox="1"/>
          <p:nvPr/>
        </p:nvSpPr>
        <p:spPr>
          <a:xfrm>
            <a:off x="7498080" y="3895344"/>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15:00</a:t>
            </a:r>
            <a:endParaRPr lang="en-US" sz="1200" dirty="0"/>
          </a:p>
        </p:txBody>
      </p:sp>
      <p:sp>
        <p:nvSpPr>
          <p:cNvPr id="23" name="Text 21"/>
          <p:cNvSpPr txBox="1"/>
          <p:nvPr/>
        </p:nvSpPr>
        <p:spPr>
          <a:xfrm>
            <a:off x="8503920" y="3895344"/>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entry before the visit starts.</a:t>
            </a:r>
            <a:endParaRPr lang="en-US" sz="1200" dirty="0"/>
          </a:p>
        </p:txBody>
      </p:sp>
      <p:sp>
        <p:nvSpPr>
          <p:cNvPr id="24" name="Shape 22"/>
          <p:cNvSpPr/>
          <p:nvPr/>
        </p:nvSpPr>
        <p:spPr>
          <a:xfrm>
            <a:off x="6400800" y="4553712"/>
            <a:ext cx="5120640" cy="594360"/>
          </a:xfrm>
          <a:prstGeom prst="roundRect">
            <a:avLst>
              <a:gd name="adj" fmla="val 9231"/>
            </a:avLst>
          </a:prstGeom>
          <a:solidFill>
            <a:srgbClr val="FFFFFF"/>
          </a:solidFill>
          <a:ln w="9525">
            <a:solidFill>
              <a:srgbClr val="E1E5EA"/>
            </a:solidFill>
            <a:prstDash val="solid"/>
          </a:ln>
        </p:spPr>
      </p:sp>
      <p:sp>
        <p:nvSpPr>
          <p:cNvPr id="25" name="Text 23"/>
          <p:cNvSpPr txBox="1"/>
          <p:nvPr/>
        </p:nvSpPr>
        <p:spPr>
          <a:xfrm>
            <a:off x="6492240" y="4553712"/>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14:00</a:t>
            </a:r>
            <a:endParaRPr lang="en-US" sz="1200" dirty="0"/>
          </a:p>
        </p:txBody>
      </p:sp>
      <p:sp>
        <p:nvSpPr>
          <p:cNvPr id="26" name="Text 24"/>
          <p:cNvSpPr txBox="1"/>
          <p:nvPr/>
        </p:nvSpPr>
        <p:spPr>
          <a:xfrm>
            <a:off x="7498080" y="4553712"/>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14:00</a:t>
            </a:r>
            <a:endParaRPr lang="en-US" sz="1200" dirty="0"/>
          </a:p>
        </p:txBody>
      </p:sp>
      <p:sp>
        <p:nvSpPr>
          <p:cNvPr id="27" name="Text 25"/>
          <p:cNvSpPr txBox="1"/>
          <p:nvPr/>
        </p:nvSpPr>
        <p:spPr>
          <a:xfrm>
            <a:off x="8503920" y="4553712"/>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Refused: entry must be before exit.</a:t>
            </a:r>
            <a:endParaRPr lang="en-US" sz="1200" dirty="0"/>
          </a:p>
        </p:txBody>
      </p:sp>
      <p:sp>
        <p:nvSpPr>
          <p:cNvPr id="28" name="Shape 26"/>
          <p:cNvSpPr/>
          <p:nvPr/>
        </p:nvSpPr>
        <p:spPr>
          <a:xfrm>
            <a:off x="6400800" y="5212080"/>
            <a:ext cx="5120640" cy="594360"/>
          </a:xfrm>
          <a:prstGeom prst="roundRect">
            <a:avLst>
              <a:gd name="adj" fmla="val 9231"/>
            </a:avLst>
          </a:prstGeom>
          <a:solidFill>
            <a:srgbClr val="F3F5F7"/>
          </a:solidFill>
          <a:ln w="9525">
            <a:solidFill>
              <a:srgbClr val="E1E5EA"/>
            </a:solidFill>
            <a:prstDash val="solid"/>
          </a:ln>
        </p:spPr>
      </p:sp>
      <p:sp>
        <p:nvSpPr>
          <p:cNvPr id="29" name="Text 27"/>
          <p:cNvSpPr txBox="1"/>
          <p:nvPr/>
        </p:nvSpPr>
        <p:spPr>
          <a:xfrm>
            <a:off x="6492240" y="5212080"/>
            <a:ext cx="822960" cy="594360"/>
          </a:xfrm>
          <a:prstGeom prst="rect">
            <a:avLst/>
          </a:prstGeom>
          <a:noFill/>
          <a:ln/>
        </p:spPr>
        <p:txBody>
          <a:bodyPr wrap="square" lIns="0" tIns="0" rIns="0" bIns="0" rtlCol="0" anchor="ctr"/>
          <a:lstStyle/>
          <a:p>
            <a:pPr indent="0" marL="0">
              <a:buNone/>
            </a:pPr>
            <a:r>
              <a:rPr lang="en-US" sz="1200" b="1" dirty="0">
                <a:solidFill>
                  <a:srgbClr val="0E3B3F"/>
                </a:solidFill>
                <a:latin typeface="Calibri" pitchFamily="34" charset="0"/>
                <a:ea typeface="Calibri" pitchFamily="34" charset="-122"/>
                <a:cs typeface="Calibri" pitchFamily="34" charset="-120"/>
              </a:rPr>
              <a:t>Default</a:t>
            </a:r>
            <a:endParaRPr lang="en-US" sz="1200" dirty="0"/>
          </a:p>
        </p:txBody>
      </p:sp>
      <p:sp>
        <p:nvSpPr>
          <p:cNvPr id="30" name="Text 28"/>
          <p:cNvSpPr txBox="1"/>
          <p:nvPr/>
        </p:nvSpPr>
        <p:spPr>
          <a:xfrm>
            <a:off x="7498080" y="5212080"/>
            <a:ext cx="82296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Default</a:t>
            </a:r>
            <a:endParaRPr lang="en-US" sz="1200" dirty="0"/>
          </a:p>
        </p:txBody>
      </p:sp>
      <p:sp>
        <p:nvSpPr>
          <p:cNvPr id="31" name="Text 29"/>
          <p:cNvSpPr txBox="1"/>
          <p:nvPr/>
        </p:nvSpPr>
        <p:spPr>
          <a:xfrm>
            <a:off x="8503920" y="5212080"/>
            <a:ext cx="2926080" cy="594360"/>
          </a:xfrm>
          <a:prstGeom prst="rect">
            <a:avLst/>
          </a:prstGeom>
          <a:noFill/>
          <a:ln/>
        </p:spPr>
        <p:txBody>
          <a:bodyPr wrap="square" lIns="0" tIns="0" rIns="0" bIns="0" rtlCol="0" anchor="ctr"/>
          <a:lstStyle/>
          <a:p>
            <a:pPr indent="0" marL="0">
              <a:buNone/>
            </a:pPr>
            <a:r>
              <a:rPr lang="en-US" sz="1200" dirty="0">
                <a:solidFill>
                  <a:srgbClr val="1B1F27"/>
                </a:solidFill>
                <a:latin typeface="Calibri" pitchFamily="34" charset="0"/>
                <a:ea typeface="Calibri" pitchFamily="34" charset="-122"/>
                <a:cs typeface="Calibri" pitchFamily="34" charset="-120"/>
              </a:rPr>
              <a:t>Exit = the earlier of entry + 3 hours and the visit end.</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unexpected arrival, step by step</a:t>
            </a:r>
            <a:endParaRPr lang="en-US" sz="3200" dirty="0"/>
          </a:p>
        </p:txBody>
      </p:sp>
      <p:sp>
        <p:nvSpPr>
          <p:cNvPr id="3" name="card Scan the entrance sign"/>
          <p:cNvSpPr/>
          <p:nvPr/>
        </p:nvSpPr>
        <p:spPr>
          <a:xfrm>
            <a:off x="548640" y="1280160"/>
            <a:ext cx="3566160" cy="2148840"/>
          </a:xfrm>
          <a:prstGeom prst="roundRect">
            <a:avLst>
              <a:gd name="adj" fmla="val 4255"/>
            </a:avLst>
          </a:prstGeom>
          <a:solidFill>
            <a:srgbClr val="ECE9FA"/>
          </a:solidFill>
          <a:ln w="12700">
            <a:solidFill>
              <a:srgbClr val="6A5BC2"/>
            </a:solidFill>
            <a:prstDash val="solid"/>
          </a:ln>
        </p:spPr>
      </p:sp>
      <p:sp>
        <p:nvSpPr>
          <p:cNvPr id="4" name="num 1"/>
          <p:cNvSpPr/>
          <p:nvPr/>
        </p:nvSpPr>
        <p:spPr>
          <a:xfrm>
            <a:off x="731520" y="1463040"/>
            <a:ext cx="384048" cy="384048"/>
          </a:xfrm>
          <a:prstGeom prst="ellipse">
            <a:avLst/>
          </a:prstGeom>
          <a:solidFill>
            <a:srgbClr val="6A5BC2"/>
          </a:solidFill>
          <a:ln w="12700">
            <a:solidFill>
              <a:srgbClr val="6A5BC2"/>
            </a:solidFill>
            <a:prstDash val="solid"/>
          </a:ln>
        </p:spPr>
      </p:sp>
      <p:sp>
        <p:nvSpPr>
          <p:cNvPr id="5" name="Text 3"/>
          <p:cNvSpPr txBox="1"/>
          <p:nvPr/>
        </p:nvSpPr>
        <p:spPr>
          <a:xfrm>
            <a:off x="731520"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0817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7" name="Text 5"/>
          <p:cNvSpPr txBox="1"/>
          <p:nvPr/>
        </p:nvSpPr>
        <p:spPr>
          <a:xfrm>
            <a:off x="1234440" y="166420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Scan the entrance sign</a:t>
            </a:r>
            <a:endParaRPr lang="en-US" sz="1600" dirty="0"/>
          </a:p>
        </p:txBody>
      </p:sp>
      <p:sp>
        <p:nvSpPr>
          <p:cNvPr id="8" name="Text 6"/>
          <p:cNvSpPr txBox="1"/>
          <p:nvPr/>
        </p:nvSpPr>
        <p:spPr>
          <a:xfrm>
            <a:off x="1234440" y="2066544"/>
            <a:ext cx="2697480" cy="128016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A fixed QR at the entrance opens the registration page. No app, no invitation and no account.</a:t>
            </a:r>
            <a:endParaRPr lang="en-US" sz="1400" dirty="0"/>
          </a:p>
        </p:txBody>
      </p:sp>
      <p:sp>
        <p:nvSpPr>
          <p:cNvPr id="9" name="card Fill in the form and ID"/>
          <p:cNvSpPr/>
          <p:nvPr/>
        </p:nvSpPr>
        <p:spPr>
          <a:xfrm>
            <a:off x="4297680" y="1280160"/>
            <a:ext cx="3566160" cy="2148840"/>
          </a:xfrm>
          <a:prstGeom prst="roundRect">
            <a:avLst>
              <a:gd name="adj" fmla="val 4255"/>
            </a:avLst>
          </a:prstGeom>
          <a:solidFill>
            <a:srgbClr val="ECE9FA"/>
          </a:solidFill>
          <a:ln w="12700">
            <a:solidFill>
              <a:srgbClr val="6A5BC2"/>
            </a:solidFill>
            <a:prstDash val="solid"/>
          </a:ln>
        </p:spPr>
      </p:sp>
      <p:sp>
        <p:nvSpPr>
          <p:cNvPr id="10" name="num 2"/>
          <p:cNvSpPr/>
          <p:nvPr/>
        </p:nvSpPr>
        <p:spPr>
          <a:xfrm>
            <a:off x="4480560" y="146304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0817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66420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Fill in the form and ID</a:t>
            </a:r>
            <a:endParaRPr lang="en-US" sz="1600" dirty="0"/>
          </a:p>
        </p:txBody>
      </p:sp>
      <p:sp>
        <p:nvSpPr>
          <p:cNvPr id="14" name="Text 12"/>
          <p:cNvSpPr txBox="1"/>
          <p:nvPr/>
        </p:nvSpPr>
        <p:spPr>
          <a:xfrm>
            <a:off x="4983480" y="2066544"/>
            <a:ext cx="2697480" cy="128016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Name, company, email and category, plus a photo or scan of their ID and its expiry date, with a preview before submitting.</a:t>
            </a:r>
            <a:endParaRPr lang="en-US" sz="1400" dirty="0"/>
          </a:p>
        </p:txBody>
      </p:sp>
      <p:sp>
        <p:nvSpPr>
          <p:cNvPr id="15" name="card Confirm life-saving rules"/>
          <p:cNvSpPr/>
          <p:nvPr/>
        </p:nvSpPr>
        <p:spPr>
          <a:xfrm>
            <a:off x="8046720" y="1280160"/>
            <a:ext cx="3566160" cy="2148840"/>
          </a:xfrm>
          <a:prstGeom prst="roundRect">
            <a:avLst>
              <a:gd name="adj" fmla="val 4255"/>
            </a:avLst>
          </a:prstGeom>
          <a:solidFill>
            <a:srgbClr val="ECE9FA"/>
          </a:solidFill>
          <a:ln w="12700">
            <a:solidFill>
              <a:srgbClr val="6A5BC2"/>
            </a:solidFill>
            <a:prstDash val="solid"/>
          </a:ln>
        </p:spPr>
      </p:sp>
      <p:sp>
        <p:nvSpPr>
          <p:cNvPr id="16" name="num 3"/>
          <p:cNvSpPr/>
          <p:nvPr/>
        </p:nvSpPr>
        <p:spPr>
          <a:xfrm>
            <a:off x="8229600" y="146304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0817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Text 17"/>
          <p:cNvSpPr txBox="1"/>
          <p:nvPr/>
        </p:nvSpPr>
        <p:spPr>
          <a:xfrm>
            <a:off x="8732520" y="166420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0" name="Text 18"/>
          <p:cNvSpPr txBox="1"/>
          <p:nvPr/>
        </p:nvSpPr>
        <p:spPr>
          <a:xfrm>
            <a:off x="8732520" y="2066544"/>
            <a:ext cx="2697480" cy="128016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same rules and tick as Path A, in English or Dutch. Wording, version and time are stored.</a:t>
            </a:r>
            <a:endParaRPr lang="en-US" sz="1400" dirty="0"/>
          </a:p>
        </p:txBody>
      </p:sp>
      <p:sp>
        <p:nvSpPr>
          <p:cNvPr id="21" name="card Check the email address"/>
          <p:cNvSpPr/>
          <p:nvPr/>
        </p:nvSpPr>
        <p:spPr>
          <a:xfrm>
            <a:off x="548640" y="3566160"/>
            <a:ext cx="3566160" cy="2148840"/>
          </a:xfrm>
          <a:prstGeom prst="roundRect">
            <a:avLst>
              <a:gd name="adj" fmla="val 4255"/>
            </a:avLst>
          </a:prstGeom>
          <a:solidFill>
            <a:srgbClr val="ECEEF2"/>
          </a:solidFill>
          <a:ln w="12700">
            <a:solidFill>
              <a:srgbClr val="6B7482"/>
            </a:solidFill>
            <a:prstDash val="solid"/>
          </a:ln>
        </p:spPr>
      </p:sp>
      <p:sp>
        <p:nvSpPr>
          <p:cNvPr id="22" name="num 4"/>
          <p:cNvSpPr/>
          <p:nvPr/>
        </p:nvSpPr>
        <p:spPr>
          <a:xfrm>
            <a:off x="731520" y="3749040"/>
            <a:ext cx="384048" cy="384048"/>
          </a:xfrm>
          <a:prstGeom prst="ellipse">
            <a:avLst/>
          </a:prstGeom>
          <a:solidFill>
            <a:srgbClr val="6B7482"/>
          </a:solidFill>
          <a:ln w="12700">
            <a:solidFill>
              <a:srgbClr val="6B7482"/>
            </a:solidFill>
            <a:prstDash val="solid"/>
          </a:ln>
        </p:spPr>
      </p:sp>
      <p:sp>
        <p:nvSpPr>
          <p:cNvPr id="23" name="Text 21"/>
          <p:cNvSpPr txBox="1"/>
          <p:nvPr/>
        </p:nvSpPr>
        <p:spPr>
          <a:xfrm>
            <a:off x="731520" y="3749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234440" y="369417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25" name="Text 23"/>
          <p:cNvSpPr txBox="1"/>
          <p:nvPr/>
        </p:nvSpPr>
        <p:spPr>
          <a:xfrm>
            <a:off x="1234440" y="395020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email address</a:t>
            </a:r>
            <a:endParaRPr lang="en-US" sz="1600" dirty="0"/>
          </a:p>
        </p:txBody>
      </p:sp>
      <p:sp>
        <p:nvSpPr>
          <p:cNvPr id="26" name="Text 24"/>
          <p:cNvSpPr txBox="1"/>
          <p:nvPr/>
        </p:nvSpPr>
        <p:spPr>
          <a:xfrm>
            <a:off x="1234440" y="4352544"/>
            <a:ext cx="26974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A 6-digit code is emailed, valid 10 minutes with 5 tries. Nothing is saved until it is entered.</a:t>
            </a:r>
            <a:endParaRPr lang="en-US" sz="1400" dirty="0"/>
          </a:p>
        </p:txBody>
      </p:sp>
      <p:sp>
        <p:nvSpPr>
          <p:cNvPr id="27" name="card Entry QR issued"/>
          <p:cNvSpPr/>
          <p:nvPr/>
        </p:nvSpPr>
        <p:spPr>
          <a:xfrm>
            <a:off x="4297680" y="3566160"/>
            <a:ext cx="3566160" cy="2148840"/>
          </a:xfrm>
          <a:prstGeom prst="roundRect">
            <a:avLst>
              <a:gd name="adj" fmla="val 4255"/>
            </a:avLst>
          </a:prstGeom>
          <a:solidFill>
            <a:srgbClr val="ECEEF2"/>
          </a:solidFill>
          <a:ln w="12700">
            <a:solidFill>
              <a:srgbClr val="6B7482"/>
            </a:solidFill>
            <a:prstDash val="solid"/>
          </a:ln>
        </p:spPr>
      </p:sp>
      <p:sp>
        <p:nvSpPr>
          <p:cNvPr id="28" name="num 5"/>
          <p:cNvSpPr/>
          <p:nvPr/>
        </p:nvSpPr>
        <p:spPr>
          <a:xfrm>
            <a:off x="4480560" y="3749040"/>
            <a:ext cx="384048" cy="384048"/>
          </a:xfrm>
          <a:prstGeom prst="ellipse">
            <a:avLst/>
          </a:prstGeom>
          <a:solidFill>
            <a:srgbClr val="6B7482"/>
          </a:solidFill>
          <a:ln w="12700">
            <a:solidFill>
              <a:srgbClr val="6B7482"/>
            </a:solidFill>
            <a:prstDash val="solid"/>
          </a:ln>
        </p:spPr>
      </p:sp>
      <p:sp>
        <p:nvSpPr>
          <p:cNvPr id="29" name="Text 27"/>
          <p:cNvSpPr txBox="1"/>
          <p:nvPr/>
        </p:nvSpPr>
        <p:spPr>
          <a:xfrm>
            <a:off x="4480560" y="3749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983480" y="369417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1" name="Text 29"/>
          <p:cNvSpPr txBox="1"/>
          <p:nvPr/>
        </p:nvSpPr>
        <p:spPr>
          <a:xfrm>
            <a:off x="4983480" y="395020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Entry QR issued</a:t>
            </a:r>
            <a:endParaRPr lang="en-US" sz="1600" dirty="0"/>
          </a:p>
        </p:txBody>
      </p:sp>
      <p:sp>
        <p:nvSpPr>
          <p:cNvPr id="32" name="Text 30"/>
          <p:cNvSpPr txBox="1"/>
          <p:nvPr/>
        </p:nvSpPr>
        <p:spPr>
          <a:xfrm>
            <a:off x="4983480" y="4352544"/>
            <a:ext cx="26974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A QR and an 8-character reference with Entry from and Exit by. The site sets when it opens and how long it lasts. A copy is emailed.</a:t>
            </a:r>
            <a:endParaRPr lang="en-US" sz="1400" dirty="0"/>
          </a:p>
        </p:txBody>
      </p:sp>
      <p:sp>
        <p:nvSpPr>
          <p:cNvPr id="33" name="card At the gate"/>
          <p:cNvSpPr/>
          <p:nvPr/>
        </p:nvSpPr>
        <p:spPr>
          <a:xfrm>
            <a:off x="8046720" y="3566160"/>
            <a:ext cx="3566160" cy="2148840"/>
          </a:xfrm>
          <a:prstGeom prst="roundRect">
            <a:avLst>
              <a:gd name="adj" fmla="val 4255"/>
            </a:avLst>
          </a:prstGeom>
          <a:solidFill>
            <a:srgbClr val="FBEFD9"/>
          </a:solidFill>
          <a:ln w="12700">
            <a:solidFill>
              <a:srgbClr val="B7791F"/>
            </a:solidFill>
            <a:prstDash val="solid"/>
          </a:ln>
        </p:spPr>
      </p:sp>
      <p:sp>
        <p:nvSpPr>
          <p:cNvPr id="34" name="num 6"/>
          <p:cNvSpPr/>
          <p:nvPr/>
        </p:nvSpPr>
        <p:spPr>
          <a:xfrm>
            <a:off x="8229600" y="3749040"/>
            <a:ext cx="384048" cy="384048"/>
          </a:xfrm>
          <a:prstGeom prst="ellipse">
            <a:avLst/>
          </a:prstGeom>
          <a:solidFill>
            <a:srgbClr val="B7791F"/>
          </a:solidFill>
          <a:ln w="12700">
            <a:solidFill>
              <a:srgbClr val="B7791F"/>
            </a:solidFill>
            <a:prstDash val="solid"/>
          </a:ln>
        </p:spPr>
      </p:sp>
      <p:sp>
        <p:nvSpPr>
          <p:cNvPr id="35" name="Text 33"/>
          <p:cNvSpPr txBox="1"/>
          <p:nvPr/>
        </p:nvSpPr>
        <p:spPr>
          <a:xfrm>
            <a:off x="8229600" y="3749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6" name="Text 34"/>
          <p:cNvSpPr txBox="1"/>
          <p:nvPr/>
        </p:nvSpPr>
        <p:spPr>
          <a:xfrm>
            <a:off x="8732520" y="369417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37" name="Text 35"/>
          <p:cNvSpPr txBox="1"/>
          <p:nvPr/>
        </p:nvSpPr>
        <p:spPr>
          <a:xfrm>
            <a:off x="8732520" y="395020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At the gate</a:t>
            </a:r>
            <a:endParaRPr lang="en-US" sz="1600" dirty="0"/>
          </a:p>
        </p:txBody>
      </p:sp>
      <p:sp>
        <p:nvSpPr>
          <p:cNvPr id="38" name="Text 36"/>
          <p:cNvSpPr txBox="1"/>
          <p:nvPr/>
        </p:nvSpPr>
        <p:spPr>
          <a:xfrm>
            <a:off x="8732520" y="4352544"/>
            <a:ext cx="2697480" cy="12801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checks the reference or QR, opens the ID to compare, then lets them in or refuses. Exit is recorded when they leave.</a:t>
            </a:r>
            <a:endParaRPr lang="en-US" sz="1400" dirty="0"/>
          </a:p>
        </p:txBody>
      </p:sp>
      <p:sp>
        <p:nvSpPr>
          <p:cNvPr id="39" name="Shape 37"/>
          <p:cNvSpPr/>
          <p:nvPr/>
        </p:nvSpPr>
        <p:spPr>
          <a:xfrm>
            <a:off x="548640" y="5897880"/>
            <a:ext cx="11091672" cy="457200"/>
          </a:xfrm>
          <a:prstGeom prst="roundRect">
            <a:avLst>
              <a:gd name="adj" fmla="val 16000"/>
            </a:avLst>
          </a:prstGeom>
          <a:solidFill>
            <a:srgbClr val="FFFFFF"/>
          </a:solidFill>
          <a:ln w="12700">
            <a:solidFill>
              <a:srgbClr val="D85A30"/>
            </a:solidFill>
            <a:prstDash val="dash"/>
          </a:ln>
        </p:spPr>
      </p:sp>
      <p:sp>
        <p:nvSpPr>
          <p:cNvPr id="40" name="Text 38"/>
          <p:cNvSpPr txBox="1"/>
          <p:nvPr/>
        </p:nvSpPr>
        <p:spPr>
          <a:xfrm>
            <a:off x="731520" y="5897880"/>
            <a:ext cx="10789920" cy="457200"/>
          </a:xfrm>
          <a:prstGeom prst="rect">
            <a:avLst/>
          </a:prstGeom>
          <a:noFill/>
          <a:ln/>
        </p:spPr>
        <p:txBody>
          <a:bodyPr wrap="square" lIns="0" tIns="0" rIns="0" bIns="0" rtlCol="0" anchor="ctr"/>
          <a:lstStyle/>
          <a:p>
            <a:pPr indent="0" marL="0">
              <a:buNone/>
            </a:pPr>
            <a:r>
              <a:rPr lang="en-US" sz="1100" b="1" dirty="0">
                <a:solidFill>
                  <a:srgbClr val="D85A30"/>
                </a:solidFill>
                <a:latin typeface="Calibri" pitchFamily="34" charset="0"/>
                <a:ea typeface="Calibri" pitchFamily="34" charset="-122"/>
                <a:cs typeface="Calibri" pitchFamily="34" charset="-120"/>
              </a:rPr>
              <a:t>OPEN FOR RENEWI  </a:t>
            </a:r>
            <a:pPr indent="0" marL="0">
              <a:buNone/>
            </a:pPr>
            <a:r>
              <a:rPr lang="en-US" sz="1400" dirty="0">
                <a:solidFill>
                  <a:srgbClr val="8A2E10"/>
                </a:solidFill>
                <a:latin typeface="Calibri" pitchFamily="34" charset="0"/>
                <a:ea typeface="Calibri" pitchFamily="34" charset="-122"/>
                <a:cs typeface="Calibri" pitchFamily="34" charset="-120"/>
              </a:rPr>
              <a:t>Who may use Path B, and how do we know they are expected?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what the person fills in</a:t>
            </a:r>
            <a:endParaRPr lang="en-US" sz="3200" dirty="0"/>
          </a:p>
        </p:txBody>
      </p:sp>
      <p:sp>
        <p:nvSpPr>
          <p:cNvPr id="3" name="Shape 1"/>
          <p:cNvSpPr/>
          <p:nvPr/>
        </p:nvSpPr>
        <p:spPr>
          <a:xfrm>
            <a:off x="548640" y="1280160"/>
            <a:ext cx="5394960" cy="4754880"/>
          </a:xfrm>
          <a:prstGeom prst="roundRect">
            <a:avLst>
              <a:gd name="adj" fmla="val 2308"/>
            </a:avLst>
          </a:prstGeom>
          <a:solidFill>
            <a:srgbClr val="ECE9FA"/>
          </a:solidFill>
          <a:ln w="12700">
            <a:solidFill>
              <a:srgbClr val="6A5BC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On the registration page</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First name, last name, company and email.</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Which of six categories they are: Renewi driver, temporary driver, external driver, maintenance contractor, permanent contractor, visitor.</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A photo or scan of their ID card or driving licence, with a preview, and the expiry date printed on it.</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The life-saving rules in English or Dutch, and one tick that they read and understood them.</a:t>
            </a:r>
            <a:endParaRPr lang="en-US" sz="1500" dirty="0"/>
          </a:p>
          <a:p>
            <a:pPr marL="342900" indent="-342900">
              <a:spcAft>
                <a:spcPts val="700"/>
              </a:spcAft>
              <a:buSzPct val="100000"/>
              <a:buChar char="•"/>
            </a:pPr>
            <a:r>
              <a:rPr lang="en-US" sz="1500" dirty="0">
                <a:solidFill>
                  <a:srgbClr val="2D2570"/>
                </a:solidFill>
                <a:latin typeface="Calibri" pitchFamily="34" charset="0"/>
                <a:ea typeface="Calibri" pitchFamily="34" charset="-122"/>
                <a:cs typeface="Calibri" pitchFamily="34" charset="-120"/>
              </a:rPr>
              <a:t>Then a 6-digit code from their email, so the address is proven.</a:t>
            </a:r>
            <a:endParaRPr lang="en-US" sz="1500" dirty="0"/>
          </a:p>
        </p:txBody>
      </p:sp>
      <p:sp>
        <p:nvSpPr>
          <p:cNvPr id="6" name="Shape 4"/>
          <p:cNvSpPr/>
          <p:nvPr/>
        </p:nvSpPr>
        <p:spPr>
          <a:xfrm>
            <a:off x="6245352" y="1280160"/>
            <a:ext cx="5394960" cy="4754880"/>
          </a:xfrm>
          <a:prstGeom prst="roundRect">
            <a:avLst>
              <a:gd name="adj" fmla="val 2308"/>
            </a:avLst>
          </a:prstGeom>
          <a:solidFill>
            <a:srgbClr val="F3F5F7"/>
          </a:solidFill>
          <a:ln w="12700">
            <a:solidFill>
              <a:srgbClr val="6B7482"/>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What is checked on the document</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PNG, JPG or PDF, up to 5 MB, and the file must really be an image or PDF.</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Expiry date typed by the person: not in the past, not more than 25 years ahead.</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Stored privately. Only a gate officer can open it, and each opening is recorded in the audit trail.</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If the person never enters the email code, the file is deleted. Erasing a person removes it too.</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At the kiosk, a document that has expired since registering stops entry.</a:t>
            </a:r>
            <a:endParaRPr lang="en-US" sz="1400" dirty="0"/>
          </a:p>
          <a:p>
            <a:pPr marL="342900" indent="-342900">
              <a:spcAft>
                <a:spcPts val="700"/>
              </a:spcAft>
              <a:buSzPct val="100000"/>
              <a:buChar char="•"/>
            </a:pPr>
            <a:r>
              <a:rPr lang="en-US" sz="1400" dirty="0">
                <a:solidFill>
                  <a:srgbClr val="232831"/>
                </a:solidFill>
                <a:latin typeface="Calibri" pitchFamily="34" charset="0"/>
                <a:ea typeface="Calibri" pitchFamily="34" charset="-122"/>
                <a:cs typeface="Calibri" pitchFamily="34" charset="-120"/>
              </a:rPr>
              <a:t>Renewi can switch the requirement off with WALK_UP_ID_DOCUMENT=off.</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email check and entry QR work</a:t>
            </a:r>
            <a:endParaRPr lang="en-US" sz="3200" dirty="0"/>
          </a:p>
        </p:txBody>
      </p:sp>
      <p:sp>
        <p:nvSpPr>
          <p:cNvPr id="3" name="Shape 1"/>
          <p:cNvSpPr/>
          <p:nvPr/>
        </p:nvSpPr>
        <p:spPr>
          <a:xfrm>
            <a:off x="548640" y="1280160"/>
            <a:ext cx="2651760" cy="1554480"/>
          </a:xfrm>
          <a:prstGeom prst="roundRect">
            <a:avLst>
              <a:gd name="adj" fmla="val 5882"/>
            </a:avLst>
          </a:prstGeom>
          <a:solidFill>
            <a:srgbClr val="ECEEF2"/>
          </a:solidFill>
          <a:ln w="12700">
            <a:solidFill>
              <a:srgbClr val="6B7482"/>
            </a:solidFill>
            <a:prstDash val="solid"/>
          </a:ln>
        </p:spPr>
      </p:sp>
      <p:sp>
        <p:nvSpPr>
          <p:cNvPr id="4" name="Text 2"/>
          <p:cNvSpPr txBox="1"/>
          <p:nvPr/>
        </p:nvSpPr>
        <p:spPr>
          <a:xfrm>
            <a:off x="548640"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10 min</a:t>
            </a:r>
            <a:endParaRPr lang="en-US" sz="4400" dirty="0"/>
          </a:p>
        </p:txBody>
      </p:sp>
      <p:sp>
        <p:nvSpPr>
          <p:cNvPr id="5" name="Text 3"/>
          <p:cNvSpPr txBox="1"/>
          <p:nvPr/>
        </p:nvSpPr>
        <p:spPr>
          <a:xfrm>
            <a:off x="548640"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code is valid</a:t>
            </a:r>
            <a:endParaRPr lang="en-US" sz="1600" dirty="0"/>
          </a:p>
        </p:txBody>
      </p:sp>
      <p:sp>
        <p:nvSpPr>
          <p:cNvPr id="6" name="Shape 4"/>
          <p:cNvSpPr/>
          <p:nvPr/>
        </p:nvSpPr>
        <p:spPr>
          <a:xfrm>
            <a:off x="3364992" y="1280160"/>
            <a:ext cx="2651760" cy="1554480"/>
          </a:xfrm>
          <a:prstGeom prst="roundRect">
            <a:avLst>
              <a:gd name="adj" fmla="val 5882"/>
            </a:avLst>
          </a:prstGeom>
          <a:solidFill>
            <a:srgbClr val="ECEEF2"/>
          </a:solidFill>
          <a:ln w="12700">
            <a:solidFill>
              <a:srgbClr val="6B7482"/>
            </a:solidFill>
            <a:prstDash val="solid"/>
          </a:ln>
        </p:spPr>
      </p:sp>
      <p:sp>
        <p:nvSpPr>
          <p:cNvPr id="7" name="Text 5"/>
          <p:cNvSpPr txBox="1"/>
          <p:nvPr/>
        </p:nvSpPr>
        <p:spPr>
          <a:xfrm>
            <a:off x="3364992"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5</a:t>
            </a:r>
            <a:endParaRPr lang="en-US" sz="4400" dirty="0"/>
          </a:p>
        </p:txBody>
      </p:sp>
      <p:sp>
        <p:nvSpPr>
          <p:cNvPr id="8" name="Text 6"/>
          <p:cNvSpPr txBox="1"/>
          <p:nvPr/>
        </p:nvSpPr>
        <p:spPr>
          <a:xfrm>
            <a:off x="3364992"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wrong tries allowed</a:t>
            </a:r>
            <a:endParaRPr lang="en-US" sz="1600" dirty="0"/>
          </a:p>
        </p:txBody>
      </p:sp>
      <p:sp>
        <p:nvSpPr>
          <p:cNvPr id="9" name="Shape 7"/>
          <p:cNvSpPr/>
          <p:nvPr/>
        </p:nvSpPr>
        <p:spPr>
          <a:xfrm>
            <a:off x="6181344" y="1280160"/>
            <a:ext cx="2651760" cy="1554480"/>
          </a:xfrm>
          <a:prstGeom prst="roundRect">
            <a:avLst>
              <a:gd name="adj" fmla="val 5882"/>
            </a:avLst>
          </a:prstGeom>
          <a:solidFill>
            <a:srgbClr val="ECEEF2"/>
          </a:solidFill>
          <a:ln w="12700">
            <a:solidFill>
              <a:srgbClr val="6B7482"/>
            </a:solidFill>
            <a:prstDash val="solid"/>
          </a:ln>
        </p:spPr>
      </p:sp>
      <p:sp>
        <p:nvSpPr>
          <p:cNvPr id="10" name="Text 8"/>
          <p:cNvSpPr txBox="1"/>
          <p:nvPr/>
        </p:nvSpPr>
        <p:spPr>
          <a:xfrm>
            <a:off x="6181344"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3</a:t>
            </a:r>
            <a:endParaRPr lang="en-US" sz="4400" dirty="0"/>
          </a:p>
        </p:txBody>
      </p:sp>
      <p:sp>
        <p:nvSpPr>
          <p:cNvPr id="11" name="Text 9"/>
          <p:cNvSpPr txBox="1"/>
          <p:nvPr/>
        </p:nvSpPr>
        <p:spPr>
          <a:xfrm>
            <a:off x="6181344"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sends per registration</a:t>
            </a:r>
            <a:endParaRPr lang="en-US" sz="1600" dirty="0"/>
          </a:p>
        </p:txBody>
      </p:sp>
      <p:sp>
        <p:nvSpPr>
          <p:cNvPr id="12" name="Shape 10"/>
          <p:cNvSpPr/>
          <p:nvPr/>
        </p:nvSpPr>
        <p:spPr>
          <a:xfrm>
            <a:off x="8997696" y="1280160"/>
            <a:ext cx="2651760" cy="1554480"/>
          </a:xfrm>
          <a:prstGeom prst="roundRect">
            <a:avLst>
              <a:gd name="adj" fmla="val 5882"/>
            </a:avLst>
          </a:prstGeom>
          <a:solidFill>
            <a:srgbClr val="ECEEF2"/>
          </a:solidFill>
          <a:ln w="12700">
            <a:solidFill>
              <a:srgbClr val="6B7482"/>
            </a:solidFill>
            <a:prstDash val="solid"/>
          </a:ln>
        </p:spPr>
      </p:sp>
      <p:sp>
        <p:nvSpPr>
          <p:cNvPr id="13" name="Text 11"/>
          <p:cNvSpPr txBox="1"/>
          <p:nvPr/>
        </p:nvSpPr>
        <p:spPr>
          <a:xfrm>
            <a:off x="8997696"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 to 72 h</a:t>
            </a:r>
            <a:endParaRPr lang="en-US" sz="4400" dirty="0"/>
          </a:p>
        </p:txBody>
      </p:sp>
      <p:sp>
        <p:nvSpPr>
          <p:cNvPr id="14" name="Text 12"/>
          <p:cNvSpPr txBox="1"/>
          <p:nvPr/>
        </p:nvSpPr>
        <p:spPr>
          <a:xfrm>
            <a:off x="8997696"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QR validity, set per site</a:t>
            </a:r>
            <a:endParaRPr lang="en-US" sz="1600" dirty="0"/>
          </a:p>
        </p:txBody>
      </p:sp>
      <p:sp>
        <p:nvSpPr>
          <p:cNvPr id="15" name="Text 13"/>
          <p:cNvSpPr txBox="1"/>
          <p:nvPr/>
        </p:nvSpPr>
        <p:spPr>
          <a:xfrm>
            <a:off x="548640" y="3200400"/>
            <a:ext cx="1106424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Nothing is saved as a person until the code is entered, so typing someone else's email creates no record.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30-second wait applies between resends, and each email address is limited to 5 codes an hour.</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The entry QR carries the reference and a secret. The server keeps only a hash of the secret.</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If the phone cannot be scanned, the officer types the 8-character reference instead.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person who has left must register again to come back in.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Validity is configurable, per site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An administrator sets these on the Settings page. Nothing is fixed in the code, and every change is audited.</a:t>
            </a:r>
            <a:endParaRPr lang="en-US" sz="1800" dirty="0"/>
          </a:p>
        </p:txBody>
      </p:sp>
      <p:sp>
        <p:nvSpPr>
          <p:cNvPr id="4" name="Shape 2"/>
          <p:cNvSpPr/>
          <p:nvPr/>
        </p:nvSpPr>
        <p:spPr>
          <a:xfrm>
            <a:off x="548640" y="1783080"/>
            <a:ext cx="5394960" cy="3200400"/>
          </a:xfrm>
          <a:prstGeom prst="roundRect">
            <a:avLst>
              <a:gd name="adj" fmla="val 3429"/>
            </a:avLst>
          </a:prstGeom>
          <a:solidFill>
            <a:srgbClr val="ECE9FA"/>
          </a:solidFill>
          <a:ln w="12700">
            <a:solidFill>
              <a:srgbClr val="6A5BC2"/>
            </a:solidFill>
            <a:prstDash val="solid"/>
          </a:ln>
        </p:spPr>
      </p:sp>
      <p:sp>
        <p:nvSpPr>
          <p:cNvPr id="5" name="Text 3"/>
          <p:cNvSpPr txBox="1"/>
          <p:nvPr/>
        </p:nvSpPr>
        <p:spPr>
          <a:xfrm>
            <a:off x="822960" y="1920240"/>
            <a:ext cx="4846320" cy="411480"/>
          </a:xfrm>
          <a:prstGeom prst="rect">
            <a:avLst/>
          </a:prstGeom>
          <a:noFill/>
          <a:ln/>
        </p:spPr>
        <p:txBody>
          <a:bodyPr wrap="square" lIns="0" tIns="0" rIns="0" bIns="0" rtlCol="0" anchor="ctr"/>
          <a:lstStyle/>
          <a:p>
            <a:pPr indent="0" marL="0">
              <a:buNone/>
            </a:pPr>
            <a:r>
              <a:rPr lang="en-US" sz="2000" b="1" dirty="0">
                <a:solidFill>
                  <a:srgbClr val="2D2570"/>
                </a:solidFill>
                <a:latin typeface="Calibri" pitchFamily="34" charset="0"/>
                <a:ea typeface="Calibri" pitchFamily="34" charset="-122"/>
                <a:cs typeface="Calibri" pitchFamily="34" charset="-120"/>
              </a:rPr>
              <a:t>Path A: planned arrival</a:t>
            </a:r>
            <a:endParaRPr lang="en-US" sz="2000" dirty="0"/>
          </a:p>
        </p:txBody>
      </p:sp>
      <p:sp>
        <p:nvSpPr>
          <p:cNvPr id="6" name="Text 4"/>
          <p:cNvSpPr txBox="1"/>
          <p:nvPr/>
        </p:nvSpPr>
        <p:spPr>
          <a:xfrm>
            <a:off x="822960" y="251460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Default visit length</a:t>
            </a:r>
            <a:endParaRPr lang="en-US" sz="1700" dirty="0"/>
          </a:p>
        </p:txBody>
      </p:sp>
      <p:sp>
        <p:nvSpPr>
          <p:cNvPr id="7" name="Text 5"/>
          <p:cNvSpPr txBox="1"/>
          <p:nvPr/>
        </p:nvSpPr>
        <p:spPr>
          <a:xfrm>
            <a:off x="822960" y="292608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Pre-fills the end of a new invitation (1 to 168 hours).</a:t>
            </a:r>
            <a:endParaRPr lang="en-US" sz="1500" dirty="0"/>
          </a:p>
        </p:txBody>
      </p:sp>
      <p:sp>
        <p:nvSpPr>
          <p:cNvPr id="8" name="Text 6"/>
          <p:cNvSpPr txBox="1"/>
          <p:nvPr/>
        </p:nvSpPr>
        <p:spPr>
          <a:xfrm>
            <a:off x="822960" y="370332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Longest access QR</a:t>
            </a:r>
            <a:endParaRPr lang="en-US" sz="1700" dirty="0"/>
          </a:p>
        </p:txBody>
      </p:sp>
      <p:sp>
        <p:nvSpPr>
          <p:cNvPr id="9" name="Text 7"/>
          <p:cNvSpPr txBox="1"/>
          <p:nvPr/>
        </p:nvSpPr>
        <p:spPr>
          <a:xfrm>
            <a:off x="822960" y="411480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Staff cannot issue a QR that lasts longer (1 to 168 hours).</a:t>
            </a:r>
            <a:endParaRPr lang="en-US" sz="1500" dirty="0"/>
          </a:p>
        </p:txBody>
      </p:sp>
      <p:sp>
        <p:nvSpPr>
          <p:cNvPr id="10" name="Shape 8"/>
          <p:cNvSpPr/>
          <p:nvPr/>
        </p:nvSpPr>
        <p:spPr>
          <a:xfrm>
            <a:off x="6245352" y="1783080"/>
            <a:ext cx="5394960" cy="3200400"/>
          </a:xfrm>
          <a:prstGeom prst="roundRect">
            <a:avLst>
              <a:gd name="adj" fmla="val 3429"/>
            </a:avLst>
          </a:prstGeom>
          <a:solidFill>
            <a:srgbClr val="FFE3D8"/>
          </a:solidFill>
          <a:ln w="12700">
            <a:solidFill>
              <a:srgbClr val="D85A30"/>
            </a:solidFill>
            <a:prstDash val="solid"/>
          </a:ln>
        </p:spPr>
      </p:sp>
      <p:sp>
        <p:nvSpPr>
          <p:cNvPr id="11" name="Text 9"/>
          <p:cNvSpPr txBox="1"/>
          <p:nvPr/>
        </p:nvSpPr>
        <p:spPr>
          <a:xfrm>
            <a:off x="6519672" y="19202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Path B: unexpected arrival</a:t>
            </a:r>
            <a:endParaRPr lang="en-US" sz="2000" dirty="0"/>
          </a:p>
        </p:txBody>
      </p:sp>
      <p:sp>
        <p:nvSpPr>
          <p:cNvPr id="12" name="Text 10"/>
          <p:cNvSpPr txBox="1"/>
          <p:nvPr/>
        </p:nvSpPr>
        <p:spPr>
          <a:xfrm>
            <a:off x="6519672" y="251460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QR valid for</a:t>
            </a:r>
            <a:endParaRPr lang="en-US" sz="1700" dirty="0"/>
          </a:p>
        </p:txBody>
      </p:sp>
      <p:sp>
        <p:nvSpPr>
          <p:cNvPr id="13" name="Text 11"/>
          <p:cNvSpPr txBox="1"/>
          <p:nvPr/>
        </p:nvSpPr>
        <p:spPr>
          <a:xfrm>
            <a:off x="6519672" y="292608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How long a walk-up QR works once it opens (1 to 72 hours).</a:t>
            </a:r>
            <a:endParaRPr lang="en-US" sz="1500" dirty="0"/>
          </a:p>
        </p:txBody>
      </p:sp>
      <p:sp>
        <p:nvSpPr>
          <p:cNvPr id="14" name="Text 12"/>
          <p:cNvSpPr txBox="1"/>
          <p:nvPr/>
        </p:nvSpPr>
        <p:spPr>
          <a:xfrm>
            <a:off x="6519672" y="370332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Entry opens after</a:t>
            </a:r>
            <a:endParaRPr lang="en-US" sz="1700" dirty="0"/>
          </a:p>
        </p:txBody>
      </p:sp>
      <p:sp>
        <p:nvSpPr>
          <p:cNvPr id="15" name="Text 13"/>
          <p:cNvSpPr txBox="1"/>
          <p:nvPr/>
        </p:nvSpPr>
        <p:spPr>
          <a:xfrm>
            <a:off x="6519672" y="411480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Minutes after registering before the QR starts working (0 to 240).</a:t>
            </a:r>
            <a:endParaRPr lang="en-US" sz="1500" dirty="0"/>
          </a:p>
        </p:txBody>
      </p:sp>
      <p:sp>
        <p:nvSpPr>
          <p:cNvPr id="16" name="Text 14"/>
          <p:cNvSpPr txBox="1"/>
          <p:nvPr/>
        </p:nvSpPr>
        <p:spPr>
          <a:xfrm>
            <a:off x="548640" y="5166360"/>
            <a:ext cx="11064240" cy="1097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Staff still choose each Path A QR's entry and exit time, inside the visit and the longest allowed.</a:t>
            </a:r>
            <a:endParaRPr lang="en-US" sz="1600" dirty="0"/>
          </a:p>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A change affects new invitations and new QR codes. QR codes already issued keep their times.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validity works, from setting to gate</a:t>
            </a:r>
            <a:endParaRPr lang="en-US" sz="3200" dirty="0"/>
          </a:p>
        </p:txBody>
      </p:sp>
      <p:sp>
        <p:nvSpPr>
          <p:cNvPr id="3" name="Shape 1"/>
          <p:cNvSpPr/>
          <p:nvPr/>
        </p:nvSpPr>
        <p:spPr>
          <a:xfrm>
            <a:off x="3383280" y="1097280"/>
            <a:ext cx="5394960" cy="548640"/>
          </a:xfrm>
          <a:prstGeom prst="roundRect">
            <a:avLst>
              <a:gd name="adj" fmla="val 16667"/>
            </a:avLst>
          </a:prstGeom>
          <a:solidFill>
            <a:srgbClr val="E1F5EE"/>
          </a:solidFill>
          <a:ln w="12700">
            <a:solidFill>
              <a:srgbClr val="0F6E56"/>
            </a:solidFill>
            <a:prstDash val="solid"/>
          </a:ln>
        </p:spPr>
      </p:sp>
      <p:sp>
        <p:nvSpPr>
          <p:cNvPr id="4" name="Text 2"/>
          <p:cNvSpPr txBox="1"/>
          <p:nvPr/>
        </p:nvSpPr>
        <p:spPr>
          <a:xfrm>
            <a:off x="3383280" y="1097280"/>
            <a:ext cx="5394960" cy="548640"/>
          </a:xfrm>
          <a:prstGeom prst="rect">
            <a:avLst/>
          </a:prstGeom>
          <a:noFill/>
          <a:ln/>
        </p:spPr>
        <p:txBody>
          <a:bodyPr wrap="square" lIns="0" tIns="0" rIns="0" bIns="0" rtlCol="0" anchor="ctr"/>
          <a:lstStyle/>
          <a:p>
            <a:pPr algn="ctr" indent="0" marL="0">
              <a:buNone/>
            </a:pPr>
            <a:r>
              <a:rPr lang="en-US" sz="1600" b="1" dirty="0">
                <a:solidFill>
                  <a:srgbClr val="085041"/>
                </a:solidFill>
                <a:latin typeface="Calibri" pitchFamily="34" charset="0"/>
                <a:ea typeface="Calibri" pitchFamily="34" charset="-122"/>
                <a:cs typeface="Calibri" pitchFamily="34" charset="-120"/>
              </a:rPr>
              <a:t>Admin sets validity, per site (Settings page, audited)</a:t>
            </a:r>
            <a:endParaRPr lang="en-US" sz="1600" dirty="0"/>
          </a:p>
        </p:txBody>
      </p:sp>
      <p:sp>
        <p:nvSpPr>
          <p:cNvPr id="5" name="Text 3"/>
          <p:cNvSpPr txBox="1"/>
          <p:nvPr/>
        </p:nvSpPr>
        <p:spPr>
          <a:xfrm>
            <a:off x="548640"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A: planned arrival</a:t>
            </a:r>
            <a:endParaRPr lang="en-US" sz="1500" dirty="0"/>
          </a:p>
        </p:txBody>
      </p:sp>
      <p:sp>
        <p:nvSpPr>
          <p:cNvPr id="6" name="Text 4"/>
          <p:cNvSpPr txBox="1"/>
          <p:nvPr/>
        </p:nvSpPr>
        <p:spPr>
          <a:xfrm>
            <a:off x="6245352"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B: unexpected arrival</a:t>
            </a:r>
            <a:endParaRPr lang="en-US" sz="1500" dirty="0"/>
          </a:p>
        </p:txBody>
      </p:sp>
      <p:sp>
        <p:nvSpPr>
          <p:cNvPr id="7" name="Shape 5"/>
          <p:cNvSpPr/>
          <p:nvPr/>
        </p:nvSpPr>
        <p:spPr>
          <a:xfrm>
            <a:off x="548640" y="2194560"/>
            <a:ext cx="5394960" cy="457200"/>
          </a:xfrm>
          <a:prstGeom prst="roundRect">
            <a:avLst>
              <a:gd name="adj" fmla="val 16000"/>
            </a:avLst>
          </a:prstGeom>
          <a:solidFill>
            <a:srgbClr val="F3F5F7"/>
          </a:solidFill>
          <a:ln w="12700">
            <a:solidFill>
              <a:srgbClr val="CBD0DA"/>
            </a:solidFill>
            <a:prstDash val="solid"/>
          </a:ln>
        </p:spPr>
      </p:sp>
      <p:sp>
        <p:nvSpPr>
          <p:cNvPr id="8" name="Text 6"/>
          <p:cNvSpPr txBox="1"/>
          <p:nvPr/>
        </p:nvSpPr>
        <p:spPr>
          <a:xfrm>
            <a:off x="731520"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Default visit length pre-fills the visit window</a:t>
            </a:r>
            <a:endParaRPr lang="en-US" sz="1400" dirty="0"/>
          </a:p>
        </p:txBody>
      </p:sp>
      <p:sp>
        <p:nvSpPr>
          <p:cNvPr id="9" name="Shape 7"/>
          <p:cNvSpPr/>
          <p:nvPr/>
        </p:nvSpPr>
        <p:spPr>
          <a:xfrm>
            <a:off x="3246120" y="2651760"/>
            <a:ext cx="0" cy="182880"/>
          </a:xfrm>
          <a:prstGeom prst="line">
            <a:avLst/>
          </a:prstGeom>
          <a:noFill/>
          <a:ln w="15875">
            <a:solidFill>
              <a:srgbClr val="6B7482"/>
            </a:solidFill>
            <a:prstDash val="solid"/>
            <a:tailEnd type="triangle"/>
          </a:ln>
        </p:spPr>
      </p:sp>
      <p:sp>
        <p:nvSpPr>
          <p:cNvPr id="10" name="Shape 8"/>
          <p:cNvSpPr/>
          <p:nvPr/>
        </p:nvSpPr>
        <p:spPr>
          <a:xfrm>
            <a:off x="548640" y="2834640"/>
            <a:ext cx="5394960" cy="457200"/>
          </a:xfrm>
          <a:prstGeom prst="roundRect">
            <a:avLst>
              <a:gd name="adj" fmla="val 16000"/>
            </a:avLst>
          </a:prstGeom>
          <a:solidFill>
            <a:srgbClr val="F3F5F7"/>
          </a:solidFill>
          <a:ln w="12700">
            <a:solidFill>
              <a:srgbClr val="CBD0DA"/>
            </a:solidFill>
            <a:prstDash val="solid"/>
          </a:ln>
        </p:spPr>
      </p:sp>
      <p:sp>
        <p:nvSpPr>
          <p:cNvPr id="11" name="Text 9"/>
          <p:cNvSpPr txBox="1"/>
          <p:nvPr/>
        </p:nvSpPr>
        <p:spPr>
          <a:xfrm>
            <a:off x="731520"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Staff set entry and exit, within the longest QR allowed</a:t>
            </a:r>
            <a:endParaRPr lang="en-US" sz="1400" dirty="0"/>
          </a:p>
        </p:txBody>
      </p:sp>
      <p:sp>
        <p:nvSpPr>
          <p:cNvPr id="12" name="Shape 10"/>
          <p:cNvSpPr/>
          <p:nvPr/>
        </p:nvSpPr>
        <p:spPr>
          <a:xfrm>
            <a:off x="3246120" y="3291840"/>
            <a:ext cx="0" cy="182880"/>
          </a:xfrm>
          <a:prstGeom prst="line">
            <a:avLst/>
          </a:prstGeom>
          <a:noFill/>
          <a:ln w="15875">
            <a:solidFill>
              <a:srgbClr val="6B7482"/>
            </a:solidFill>
            <a:prstDash val="solid"/>
            <a:tailEnd type="triangle"/>
          </a:ln>
        </p:spPr>
      </p:sp>
      <p:sp>
        <p:nvSpPr>
          <p:cNvPr id="13" name="Shape 11"/>
          <p:cNvSpPr/>
          <p:nvPr/>
        </p:nvSpPr>
        <p:spPr>
          <a:xfrm>
            <a:off x="548640" y="3474720"/>
            <a:ext cx="5394960" cy="457200"/>
          </a:xfrm>
          <a:prstGeom prst="roundRect">
            <a:avLst>
              <a:gd name="adj" fmla="val 16000"/>
            </a:avLst>
          </a:prstGeom>
          <a:solidFill>
            <a:srgbClr val="F3F5F7"/>
          </a:solidFill>
          <a:ln w="12700">
            <a:solidFill>
              <a:srgbClr val="CBD0DA"/>
            </a:solidFill>
            <a:prstDash val="solid"/>
          </a:ln>
        </p:spPr>
      </p:sp>
      <p:sp>
        <p:nvSpPr>
          <p:cNvPr id="14" name="Text 12"/>
          <p:cNvSpPr txBox="1"/>
          <p:nvPr/>
        </p:nvSpPr>
        <p:spPr>
          <a:xfrm>
            <a:off x="731520"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emailed with both times, in the site's time zone</a:t>
            </a:r>
            <a:endParaRPr lang="en-US" sz="1400" dirty="0"/>
          </a:p>
        </p:txBody>
      </p:sp>
      <p:sp>
        <p:nvSpPr>
          <p:cNvPr id="15" name="Shape 13"/>
          <p:cNvSpPr/>
          <p:nvPr/>
        </p:nvSpPr>
        <p:spPr>
          <a:xfrm>
            <a:off x="6245352" y="2194560"/>
            <a:ext cx="5394960" cy="457200"/>
          </a:xfrm>
          <a:prstGeom prst="roundRect">
            <a:avLst>
              <a:gd name="adj" fmla="val 16000"/>
            </a:avLst>
          </a:prstGeom>
          <a:solidFill>
            <a:srgbClr val="F3F5F7"/>
          </a:solidFill>
          <a:ln w="12700">
            <a:solidFill>
              <a:srgbClr val="CBD0DA"/>
            </a:solidFill>
            <a:prstDash val="solid"/>
          </a:ln>
        </p:spPr>
      </p:sp>
      <p:sp>
        <p:nvSpPr>
          <p:cNvPr id="16" name="Text 14"/>
          <p:cNvSpPr txBox="1"/>
          <p:nvPr/>
        </p:nvSpPr>
        <p:spPr>
          <a:xfrm>
            <a:off x="6428232"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Person registers, confirms the rules, enters the email code</a:t>
            </a:r>
            <a:endParaRPr lang="en-US" sz="1400" dirty="0"/>
          </a:p>
        </p:txBody>
      </p:sp>
      <p:sp>
        <p:nvSpPr>
          <p:cNvPr id="17" name="Shape 15"/>
          <p:cNvSpPr/>
          <p:nvPr/>
        </p:nvSpPr>
        <p:spPr>
          <a:xfrm>
            <a:off x="8942832" y="2651760"/>
            <a:ext cx="0" cy="182880"/>
          </a:xfrm>
          <a:prstGeom prst="line">
            <a:avLst/>
          </a:prstGeom>
          <a:noFill/>
          <a:ln w="15875">
            <a:solidFill>
              <a:srgbClr val="6B7482"/>
            </a:solidFill>
            <a:prstDash val="solid"/>
            <a:tailEnd type="triangle"/>
          </a:ln>
        </p:spPr>
      </p:sp>
      <p:sp>
        <p:nvSpPr>
          <p:cNvPr id="18" name="Shape 16"/>
          <p:cNvSpPr/>
          <p:nvPr/>
        </p:nvSpPr>
        <p:spPr>
          <a:xfrm>
            <a:off x="6245352" y="2834640"/>
            <a:ext cx="5394960" cy="457200"/>
          </a:xfrm>
          <a:prstGeom prst="roundRect">
            <a:avLst>
              <a:gd name="adj" fmla="val 16000"/>
            </a:avLst>
          </a:prstGeom>
          <a:solidFill>
            <a:srgbClr val="F3F5F7"/>
          </a:solidFill>
          <a:ln w="12700">
            <a:solidFill>
              <a:srgbClr val="CBD0DA"/>
            </a:solidFill>
            <a:prstDash val="solid"/>
          </a:ln>
        </p:spPr>
      </p:sp>
      <p:sp>
        <p:nvSpPr>
          <p:cNvPr id="19" name="Text 17"/>
          <p:cNvSpPr txBox="1"/>
          <p:nvPr/>
        </p:nvSpPr>
        <p:spPr>
          <a:xfrm>
            <a:off x="6428232"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Entry opens after the delay, then lasts the set hours</a:t>
            </a:r>
            <a:endParaRPr lang="en-US" sz="1400" dirty="0"/>
          </a:p>
        </p:txBody>
      </p:sp>
      <p:sp>
        <p:nvSpPr>
          <p:cNvPr id="20" name="Shape 18"/>
          <p:cNvSpPr/>
          <p:nvPr/>
        </p:nvSpPr>
        <p:spPr>
          <a:xfrm>
            <a:off x="8942832" y="3291840"/>
            <a:ext cx="0" cy="182880"/>
          </a:xfrm>
          <a:prstGeom prst="line">
            <a:avLst/>
          </a:prstGeom>
          <a:noFill/>
          <a:ln w="15875">
            <a:solidFill>
              <a:srgbClr val="6B7482"/>
            </a:solidFill>
            <a:prstDash val="solid"/>
            <a:tailEnd type="triangle"/>
          </a:ln>
        </p:spPr>
      </p:sp>
      <p:sp>
        <p:nvSpPr>
          <p:cNvPr id="21" name="Shape 19"/>
          <p:cNvSpPr/>
          <p:nvPr/>
        </p:nvSpPr>
        <p:spPr>
          <a:xfrm>
            <a:off x="6245352" y="3474720"/>
            <a:ext cx="5394960" cy="457200"/>
          </a:xfrm>
          <a:prstGeom prst="roundRect">
            <a:avLst>
              <a:gd name="adj" fmla="val 16000"/>
            </a:avLst>
          </a:prstGeom>
          <a:solidFill>
            <a:srgbClr val="F3F5F7"/>
          </a:solidFill>
          <a:ln w="12700">
            <a:solidFill>
              <a:srgbClr val="CBD0DA"/>
            </a:solidFill>
            <a:prstDash val="solid"/>
          </a:ln>
        </p:spPr>
      </p:sp>
      <p:sp>
        <p:nvSpPr>
          <p:cNvPr id="22" name="Text 20"/>
          <p:cNvSpPr txBox="1"/>
          <p:nvPr/>
        </p:nvSpPr>
        <p:spPr>
          <a:xfrm>
            <a:off x="6428232"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and reference issued, with entry and exit time</a:t>
            </a:r>
            <a:endParaRPr lang="en-US" sz="1400" dirty="0"/>
          </a:p>
        </p:txBody>
      </p:sp>
      <p:sp>
        <p:nvSpPr>
          <p:cNvPr id="23" name="Shape 21"/>
          <p:cNvSpPr/>
          <p:nvPr/>
        </p:nvSpPr>
        <p:spPr>
          <a:xfrm>
            <a:off x="3246120" y="3931920"/>
            <a:ext cx="0" cy="320040"/>
          </a:xfrm>
          <a:prstGeom prst="line">
            <a:avLst/>
          </a:prstGeom>
          <a:noFill/>
          <a:ln w="15875">
            <a:solidFill>
              <a:srgbClr val="6B7482"/>
            </a:solidFill>
            <a:prstDash val="solid"/>
            <a:tailEnd type="triangle"/>
          </a:ln>
        </p:spPr>
      </p:sp>
      <p:sp>
        <p:nvSpPr>
          <p:cNvPr id="24" name="Shape 22"/>
          <p:cNvSpPr/>
          <p:nvPr/>
        </p:nvSpPr>
        <p:spPr>
          <a:xfrm>
            <a:off x="8942832" y="3931920"/>
            <a:ext cx="0" cy="320040"/>
          </a:xfrm>
          <a:prstGeom prst="line">
            <a:avLst/>
          </a:prstGeom>
          <a:noFill/>
          <a:ln w="15875">
            <a:solidFill>
              <a:srgbClr val="6B7482"/>
            </a:solidFill>
            <a:prstDash val="solid"/>
            <a:tailEnd type="triangle"/>
          </a:ln>
        </p:spPr>
      </p:sp>
      <p:sp>
        <p:nvSpPr>
          <p:cNvPr id="25" name="Shape 23"/>
          <p:cNvSpPr/>
          <p:nvPr/>
        </p:nvSpPr>
        <p:spPr>
          <a:xfrm>
            <a:off x="548640" y="4297680"/>
            <a:ext cx="11091672" cy="502920"/>
          </a:xfrm>
          <a:prstGeom prst="roundRect">
            <a:avLst>
              <a:gd name="adj" fmla="val 18182"/>
            </a:avLst>
          </a:prstGeom>
          <a:solidFill>
            <a:srgbClr val="ECEEF2"/>
          </a:solidFill>
          <a:ln w="12700">
            <a:solidFill>
              <a:srgbClr val="6B7482"/>
            </a:solidFill>
            <a:prstDash val="solid"/>
          </a:ln>
        </p:spPr>
      </p:sp>
      <p:sp>
        <p:nvSpPr>
          <p:cNvPr id="26" name="Text 24"/>
          <p:cNvSpPr txBox="1"/>
          <p:nvPr/>
        </p:nvSpPr>
        <p:spPr>
          <a:xfrm>
            <a:off x="548640" y="4297680"/>
            <a:ext cx="11091672" cy="502920"/>
          </a:xfrm>
          <a:prstGeom prst="rect">
            <a:avLst/>
          </a:prstGeom>
          <a:noFill/>
          <a:ln/>
        </p:spPr>
        <p:txBody>
          <a:bodyPr wrap="square" lIns="0" tIns="0" rIns="0" bIns="0" rtlCol="0" anchor="ctr"/>
          <a:lstStyle/>
          <a:p>
            <a:pPr algn="ctr" indent="0" marL="0">
              <a:buNone/>
            </a:pPr>
            <a:r>
              <a:rPr lang="en-US" sz="1600" b="1" dirty="0">
                <a:solidFill>
                  <a:srgbClr val="232831"/>
                </a:solidFill>
                <a:latin typeface="Calibri" pitchFamily="34" charset="0"/>
                <a:ea typeface="Calibri" pitchFamily="34" charset="-122"/>
                <a:cs typeface="Calibri" pitchFamily="34" charset="-120"/>
              </a:rPr>
              <a:t>Gate kiosk checks the QR: entry time, exit time, then the other checks</a:t>
            </a:r>
            <a:endParaRPr lang="en-US" sz="1600" dirty="0"/>
          </a:p>
        </p:txBody>
      </p:sp>
      <p:sp>
        <p:nvSpPr>
          <p:cNvPr id="27" name="Shape 25"/>
          <p:cNvSpPr/>
          <p:nvPr/>
        </p:nvSpPr>
        <p:spPr>
          <a:xfrm>
            <a:off x="2331720" y="4800600"/>
            <a:ext cx="0" cy="274320"/>
          </a:xfrm>
          <a:prstGeom prst="line">
            <a:avLst/>
          </a:prstGeom>
          <a:noFill/>
          <a:ln w="15875">
            <a:solidFill>
              <a:srgbClr val="6B7482"/>
            </a:solidFill>
            <a:prstDash val="solid"/>
            <a:tailEnd type="triangle"/>
          </a:ln>
        </p:spPr>
      </p:sp>
      <p:sp>
        <p:nvSpPr>
          <p:cNvPr id="28" name="Shape 26"/>
          <p:cNvSpPr/>
          <p:nvPr/>
        </p:nvSpPr>
        <p:spPr>
          <a:xfrm>
            <a:off x="548640" y="5120640"/>
            <a:ext cx="3566160" cy="868680"/>
          </a:xfrm>
          <a:prstGeom prst="roundRect">
            <a:avLst>
              <a:gd name="adj" fmla="val 10526"/>
            </a:avLst>
          </a:prstGeom>
          <a:solidFill>
            <a:srgbClr val="FBE4E2"/>
          </a:solidFill>
          <a:ln w="12700">
            <a:solidFill>
              <a:srgbClr val="C0392B"/>
            </a:solidFill>
            <a:prstDash val="solid"/>
          </a:ln>
        </p:spPr>
      </p:sp>
      <p:sp>
        <p:nvSpPr>
          <p:cNvPr id="29" name="Text 27"/>
          <p:cNvSpPr txBox="1"/>
          <p:nvPr/>
        </p:nvSpPr>
        <p:spPr>
          <a:xfrm>
            <a:off x="73152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Before entry: refused</a:t>
            </a:r>
            <a:endParaRPr lang="en-US" sz="1500" dirty="0"/>
          </a:p>
        </p:txBody>
      </p:sp>
      <p:sp>
        <p:nvSpPr>
          <p:cNvPr id="30" name="Text 28"/>
          <p:cNvSpPr txBox="1"/>
          <p:nvPr/>
        </p:nvSpPr>
        <p:spPr>
          <a:xfrm>
            <a:off x="73152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Not valid yet. The reason is recorded.</a:t>
            </a:r>
            <a:endParaRPr lang="en-US" sz="1300" dirty="0"/>
          </a:p>
        </p:txBody>
      </p:sp>
      <p:sp>
        <p:nvSpPr>
          <p:cNvPr id="31" name="Shape 29"/>
          <p:cNvSpPr/>
          <p:nvPr/>
        </p:nvSpPr>
        <p:spPr>
          <a:xfrm>
            <a:off x="6080760" y="4800600"/>
            <a:ext cx="0" cy="274320"/>
          </a:xfrm>
          <a:prstGeom prst="line">
            <a:avLst/>
          </a:prstGeom>
          <a:noFill/>
          <a:ln w="15875">
            <a:solidFill>
              <a:srgbClr val="6B7482"/>
            </a:solidFill>
            <a:prstDash val="solid"/>
            <a:tailEnd type="triangle"/>
          </a:ln>
        </p:spPr>
      </p:sp>
      <p:sp>
        <p:nvSpPr>
          <p:cNvPr id="32" name="Shape 30"/>
          <p:cNvSpPr/>
          <p:nvPr/>
        </p:nvSpPr>
        <p:spPr>
          <a:xfrm>
            <a:off x="4297680" y="5120640"/>
            <a:ext cx="3566160" cy="868680"/>
          </a:xfrm>
          <a:prstGeom prst="roundRect">
            <a:avLst>
              <a:gd name="adj" fmla="val 10526"/>
            </a:avLst>
          </a:prstGeom>
          <a:solidFill>
            <a:srgbClr val="FBE4E2"/>
          </a:solidFill>
          <a:ln w="12700">
            <a:solidFill>
              <a:srgbClr val="C0392B"/>
            </a:solidFill>
            <a:prstDash val="solid"/>
          </a:ln>
        </p:spPr>
      </p:sp>
      <p:sp>
        <p:nvSpPr>
          <p:cNvPr id="33" name="Text 31"/>
          <p:cNvSpPr txBox="1"/>
          <p:nvPr/>
        </p:nvSpPr>
        <p:spPr>
          <a:xfrm>
            <a:off x="448056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After exit: refused</a:t>
            </a:r>
            <a:endParaRPr lang="en-US" sz="1500" dirty="0"/>
          </a:p>
        </p:txBody>
      </p:sp>
      <p:sp>
        <p:nvSpPr>
          <p:cNvPr id="34" name="Text 32"/>
          <p:cNvSpPr txBox="1"/>
          <p:nvPr/>
        </p:nvSpPr>
        <p:spPr>
          <a:xfrm>
            <a:off x="448056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The QR has expired. The reason is recorded.</a:t>
            </a:r>
            <a:endParaRPr lang="en-US" sz="1300" dirty="0"/>
          </a:p>
        </p:txBody>
      </p:sp>
      <p:sp>
        <p:nvSpPr>
          <p:cNvPr id="35" name="Shape 33"/>
          <p:cNvSpPr/>
          <p:nvPr/>
        </p:nvSpPr>
        <p:spPr>
          <a:xfrm>
            <a:off x="9829800" y="4800600"/>
            <a:ext cx="0" cy="274320"/>
          </a:xfrm>
          <a:prstGeom prst="line">
            <a:avLst/>
          </a:prstGeom>
          <a:noFill/>
          <a:ln w="15875">
            <a:solidFill>
              <a:srgbClr val="6B7482"/>
            </a:solidFill>
            <a:prstDash val="solid"/>
            <a:tailEnd type="triangle"/>
          </a:ln>
        </p:spPr>
      </p:sp>
      <p:sp>
        <p:nvSpPr>
          <p:cNvPr id="36" name="Shape 34"/>
          <p:cNvSpPr/>
          <p:nvPr/>
        </p:nvSpPr>
        <p:spPr>
          <a:xfrm>
            <a:off x="8046720" y="5120640"/>
            <a:ext cx="3566160" cy="868680"/>
          </a:xfrm>
          <a:prstGeom prst="roundRect">
            <a:avLst>
              <a:gd name="adj" fmla="val 10526"/>
            </a:avLst>
          </a:prstGeom>
          <a:solidFill>
            <a:srgbClr val="E1F5EE"/>
          </a:solidFill>
          <a:ln w="12700">
            <a:solidFill>
              <a:srgbClr val="0F6E56"/>
            </a:solidFill>
            <a:prstDash val="solid"/>
          </a:ln>
        </p:spPr>
      </p:sp>
      <p:sp>
        <p:nvSpPr>
          <p:cNvPr id="37" name="Text 35"/>
          <p:cNvSpPr txBox="1"/>
          <p:nvPr/>
        </p:nvSpPr>
        <p:spPr>
          <a:xfrm>
            <a:off x="8229600" y="5175504"/>
            <a:ext cx="3200400" cy="320040"/>
          </a:xfrm>
          <a:prstGeom prst="rect">
            <a:avLst/>
          </a:prstGeom>
          <a:noFill/>
          <a:ln/>
        </p:spPr>
        <p:txBody>
          <a:bodyPr wrap="square" lIns="0" tIns="0" rIns="0" bIns="0" rtlCol="0" anchor="ctr"/>
          <a:lstStyle/>
          <a:p>
            <a:pPr indent="0" marL="0">
              <a:buNone/>
            </a:pPr>
            <a:r>
              <a:rPr lang="en-US" sz="1500" b="1" dirty="0">
                <a:solidFill>
                  <a:srgbClr val="085041"/>
                </a:solidFill>
                <a:latin typeface="Calibri" pitchFamily="34" charset="0"/>
                <a:ea typeface="Calibri" pitchFamily="34" charset="-122"/>
                <a:cs typeface="Calibri" pitchFamily="34" charset="-120"/>
              </a:rPr>
              <a:t>Inside the window</a:t>
            </a:r>
            <a:endParaRPr lang="en-US" sz="1500" dirty="0"/>
          </a:p>
        </p:txBody>
      </p:sp>
      <p:sp>
        <p:nvSpPr>
          <p:cNvPr id="38" name="Text 36"/>
          <p:cNvSpPr txBox="1"/>
          <p:nvPr/>
        </p:nvSpPr>
        <p:spPr>
          <a:xfrm>
            <a:off x="8229600" y="5504688"/>
            <a:ext cx="3200400" cy="457200"/>
          </a:xfrm>
          <a:prstGeom prst="rect">
            <a:avLst/>
          </a:prstGeom>
          <a:noFill/>
          <a:ln/>
        </p:spPr>
        <p:txBody>
          <a:bodyPr wrap="square" lIns="0" tIns="0" rIns="0" bIns="0" rtlCol="0" anchor="t"/>
          <a:lstStyle/>
          <a:p>
            <a:pPr indent="0" marL="0">
              <a:buNone/>
            </a:pPr>
            <a:r>
              <a:rPr lang="en-US" sz="1300" dirty="0">
                <a:solidFill>
                  <a:srgbClr val="085041"/>
                </a:solidFill>
                <a:latin typeface="Calibri" pitchFamily="34" charset="0"/>
                <a:ea typeface="Calibri" pitchFamily="34" charset="-122"/>
                <a:cs typeface="Calibri" pitchFamily="34" charset="-120"/>
              </a:rPr>
              <a:t>The officer lets them in. Entry is counted on the dashboard.</a:t>
            </a:r>
            <a:endParaRPr lang="en-US" sz="1300" dirty="0"/>
          </a:p>
        </p:txBody>
      </p:sp>
      <p:sp>
        <p:nvSpPr>
          <p:cNvPr id="39" name="Text 37"/>
          <p:cNvSpPr txBox="1"/>
          <p:nvPr/>
        </p:nvSpPr>
        <p:spPr>
          <a:xfrm>
            <a:off x="548640" y="6053328"/>
            <a:ext cx="10424160" cy="320040"/>
          </a:xfrm>
          <a:prstGeom prst="rect">
            <a:avLst/>
          </a:prstGeom>
          <a:noFill/>
          <a:ln/>
        </p:spPr>
        <p:txBody>
          <a:bodyPr wrap="square" lIns="0" tIns="0" rIns="0" bIns="0" rtlCol="0" anchor="ctr"/>
          <a:lstStyle/>
          <a:p>
            <a:pPr indent="0" marL="0">
              <a:buNone/>
            </a:pPr>
            <a:r>
              <a:rPr lang="en-US" sz="1400" dirty="0">
                <a:solidFill>
                  <a:srgbClr val="556070"/>
                </a:solidFill>
                <a:latin typeface="Calibri" pitchFamily="34" charset="0"/>
                <a:ea typeface="Calibri" pitchFamily="34" charset="-122"/>
                <a:cs typeface="Calibri" pitchFamily="34" charset="-120"/>
              </a:rPr>
              <a:t>After entry, both paths: live roster and dashboard, Record exit, overdue flag, audit trail.</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one kiosk, two panels</a:t>
            </a:r>
            <a:endParaRPr lang="en-US" sz="3200" dirty="0"/>
          </a:p>
        </p:txBody>
      </p:sp>
      <p:sp>
        <p:nvSpPr>
          <p:cNvPr id="3" name="card Read the code"/>
          <p:cNvSpPr/>
          <p:nvPr/>
        </p:nvSpPr>
        <p:spPr>
          <a:xfrm>
            <a:off x="548640" y="1325880"/>
            <a:ext cx="3566160" cy="2377440"/>
          </a:xfrm>
          <a:prstGeom prst="roundRect">
            <a:avLst>
              <a:gd name="adj" fmla="val 3846"/>
            </a:avLst>
          </a:prstGeom>
          <a:solidFill>
            <a:srgbClr val="FBEFD9"/>
          </a:solidFill>
          <a:ln w="12700">
            <a:solidFill>
              <a:srgbClr val="B7791F"/>
            </a:solidFill>
            <a:prstDash val="solid"/>
          </a:ln>
        </p:spPr>
      </p:sp>
      <p:sp>
        <p:nvSpPr>
          <p:cNvPr id="4" name="num 1"/>
          <p:cNvSpPr/>
          <p:nvPr/>
        </p:nvSpPr>
        <p:spPr>
          <a:xfrm>
            <a:off x="731520" y="1508760"/>
            <a:ext cx="384048" cy="384048"/>
          </a:xfrm>
          <a:prstGeom prst="ellipse">
            <a:avLst/>
          </a:prstGeom>
          <a:solidFill>
            <a:srgbClr val="B7791F"/>
          </a:solidFill>
          <a:ln w="12700">
            <a:solidFill>
              <a:srgbClr val="B7791F"/>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Read the code</a:t>
            </a:r>
            <a:endParaRPr lang="en-US" sz="1600" dirty="0"/>
          </a:p>
        </p:txBody>
      </p:sp>
      <p:sp>
        <p:nvSpPr>
          <p:cNvPr id="8" name="Text 6"/>
          <p:cNvSpPr txBox="1"/>
          <p:nvPr/>
        </p:nvSpPr>
        <p:spPr>
          <a:xfrm>
            <a:off x="123444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Path A: upload the access QR. Path B: scan the entry QR or type the reference, then open the uploaded ID to compare. The kiosk shows the QR window and time left.</a:t>
            </a:r>
            <a:endParaRPr lang="en-US" sz="1400" dirty="0"/>
          </a:p>
        </p:txBody>
      </p:sp>
      <p:sp>
        <p:nvSpPr>
          <p:cNvPr id="9" name="card Check the records"/>
          <p:cNvSpPr/>
          <p:nvPr/>
        </p:nvSpPr>
        <p:spPr>
          <a:xfrm>
            <a:off x="4297680" y="1325880"/>
            <a:ext cx="3566160" cy="2377440"/>
          </a:xfrm>
          <a:prstGeom prst="roundRect">
            <a:avLst>
              <a:gd name="adj" fmla="val 3846"/>
            </a:avLst>
          </a:prstGeom>
          <a:solidFill>
            <a:srgbClr val="ECEEF2"/>
          </a:solidFill>
          <a:ln w="12700">
            <a:solidFill>
              <a:srgbClr val="6B7482"/>
            </a:solidFill>
            <a:prstDash val="solid"/>
          </a:ln>
        </p:spPr>
      </p:sp>
      <p:sp>
        <p:nvSpPr>
          <p:cNvPr id="10" name="num 2"/>
          <p:cNvSpPr/>
          <p:nvPr/>
        </p:nvSpPr>
        <p:spPr>
          <a:xfrm>
            <a:off x="4480560" y="1508760"/>
            <a:ext cx="384048" cy="384048"/>
          </a:xfrm>
          <a:prstGeom prst="ellipse">
            <a:avLst/>
          </a:prstGeom>
          <a:solidFill>
            <a:srgbClr val="6B7482"/>
          </a:solidFill>
          <a:ln w="12700">
            <a:solidFill>
              <a:srgbClr val="6B748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13" name="Shape 11"/>
          <p:cNvSpPr/>
          <p:nvPr/>
        </p:nvSpPr>
        <p:spPr>
          <a:xfrm>
            <a:off x="6766560" y="1435608"/>
            <a:ext cx="914400" cy="237744"/>
          </a:xfrm>
          <a:prstGeom prst="roundRect">
            <a:avLst>
              <a:gd name="adj" fmla="val 50000"/>
            </a:avLst>
          </a:prstGeom>
          <a:solidFill>
            <a:srgbClr val="FFE3D8"/>
          </a:solidFill>
          <a:ln w="9525">
            <a:solidFill>
              <a:srgbClr val="D85A30"/>
            </a:solidFill>
            <a:prstDash val="solid"/>
          </a:ln>
        </p:spPr>
      </p:sp>
      <p:sp>
        <p:nvSpPr>
          <p:cNvPr id="14" name="Text 12"/>
          <p:cNvSpPr txBox="1"/>
          <p:nvPr/>
        </p:nvSpPr>
        <p:spPr>
          <a:xfrm>
            <a:off x="676656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15" name="Text 13"/>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records</a:t>
            </a:r>
            <a:endParaRPr lang="en-US" sz="1600" dirty="0"/>
          </a:p>
        </p:txBody>
      </p:sp>
      <p:sp>
        <p:nvSpPr>
          <p:cNvPr id="16" name="Text 14"/>
          <p:cNvSpPr txBox="1"/>
          <p:nvPr/>
        </p:nvSpPr>
        <p:spPr>
          <a:xfrm>
            <a:off x="4983480" y="2112264"/>
            <a:ext cx="2697480" cy="15087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Path A: ID verified, approval, QR open, visit window, blacklist, rules. Path B: QR open, rules current, not blocked, not already left.</a:t>
            </a:r>
            <a:endParaRPr lang="en-US" sz="1400" dirty="0"/>
          </a:p>
        </p:txBody>
      </p:sp>
      <p:sp>
        <p:nvSpPr>
          <p:cNvPr id="17" name="card Compare and decide"/>
          <p:cNvSpPr/>
          <p:nvPr/>
        </p:nvSpPr>
        <p:spPr>
          <a:xfrm>
            <a:off x="8046720" y="1325880"/>
            <a:ext cx="3566160" cy="2377440"/>
          </a:xfrm>
          <a:prstGeom prst="roundRect">
            <a:avLst>
              <a:gd name="adj" fmla="val 3846"/>
            </a:avLst>
          </a:prstGeom>
          <a:solidFill>
            <a:srgbClr val="FBEFD9"/>
          </a:solidFill>
          <a:ln w="12700">
            <a:solidFill>
              <a:srgbClr val="B7791F"/>
            </a:solidFill>
            <a:prstDash val="solid"/>
          </a:ln>
        </p:spPr>
      </p:sp>
      <p:sp>
        <p:nvSpPr>
          <p:cNvPr id="18" name="num 3"/>
          <p:cNvSpPr/>
          <p:nvPr/>
        </p:nvSpPr>
        <p:spPr>
          <a:xfrm>
            <a:off x="8229600" y="1508760"/>
            <a:ext cx="384048" cy="384048"/>
          </a:xfrm>
          <a:prstGeom prst="ellipse">
            <a:avLst/>
          </a:prstGeom>
          <a:solidFill>
            <a:srgbClr val="B7791F"/>
          </a:solidFill>
          <a:ln w="12700">
            <a:solidFill>
              <a:srgbClr val="B7791F"/>
            </a:solidFill>
            <a:prstDash val="solid"/>
          </a:ln>
        </p:spPr>
      </p:sp>
      <p:sp>
        <p:nvSpPr>
          <p:cNvPr id="19" name="Text 17"/>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Compare and decide</a:t>
            </a:r>
            <a:endParaRPr lang="en-US" sz="1600" dirty="0"/>
          </a:p>
        </p:txBody>
      </p:sp>
      <p:sp>
        <p:nvSpPr>
          <p:cNvPr id="22" name="Text 20"/>
          <p:cNvSpPr txBox="1"/>
          <p:nvPr/>
        </p:nvSpPr>
        <p:spPr>
          <a:xfrm>
            <a:off x="873252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looks at the person and the screen or ID, then presses Let in or Refuse entry.</a:t>
            </a:r>
            <a:endParaRPr lang="en-US" sz="1400" dirty="0"/>
          </a:p>
        </p:txBody>
      </p:sp>
      <p:sp>
        <p:nvSpPr>
          <p:cNvPr id="23" name="card Do not admit"/>
          <p:cNvSpPr/>
          <p:nvPr/>
        </p:nvSpPr>
        <p:spPr>
          <a:xfrm>
            <a:off x="548640" y="4023360"/>
            <a:ext cx="5440680" cy="2011680"/>
          </a:xfrm>
          <a:prstGeom prst="roundRect">
            <a:avLst>
              <a:gd name="adj" fmla="val 4545"/>
            </a:avLst>
          </a:prstGeom>
          <a:solidFill>
            <a:srgbClr val="FBE4E2"/>
          </a:solidFill>
          <a:ln w="12700">
            <a:solidFill>
              <a:srgbClr val="C0392B"/>
            </a:solidFill>
            <a:prstDash val="solid"/>
          </a:ln>
        </p:spPr>
      </p:sp>
      <p:sp>
        <p:nvSpPr>
          <p:cNvPr id="24" name="Text 22"/>
          <p:cNvSpPr txBox="1"/>
          <p:nvPr/>
        </p:nvSpPr>
        <p:spPr>
          <a:xfrm>
            <a:off x="777240"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5" name="Text 23"/>
          <p:cNvSpPr txBox="1"/>
          <p:nvPr/>
        </p:nvSpPr>
        <p:spPr>
          <a:xfrm>
            <a:off x="777240"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Do not admit</a:t>
            </a:r>
            <a:endParaRPr lang="en-US" sz="1600" dirty="0"/>
          </a:p>
        </p:txBody>
      </p:sp>
      <p:sp>
        <p:nvSpPr>
          <p:cNvPr id="26" name="Text 24"/>
          <p:cNvSpPr txBox="1"/>
          <p:nvPr/>
        </p:nvSpPr>
        <p:spPr>
          <a:xfrm>
            <a:off x="777240"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records forbid entry, or the QR is not open yet or has expired. The reason is shown on screen and recorded in the audit trail.</a:t>
            </a:r>
            <a:endParaRPr lang="en-US" sz="1500" dirty="0"/>
          </a:p>
        </p:txBody>
      </p:sp>
      <p:sp>
        <p:nvSpPr>
          <p:cNvPr id="27" name="card Officer refuses entry"/>
          <p:cNvSpPr/>
          <p:nvPr/>
        </p:nvSpPr>
        <p:spPr>
          <a:xfrm>
            <a:off x="6199632" y="4023360"/>
            <a:ext cx="5440680" cy="2011680"/>
          </a:xfrm>
          <a:prstGeom prst="roundRect">
            <a:avLst>
              <a:gd name="adj" fmla="val 4545"/>
            </a:avLst>
          </a:prstGeom>
          <a:solidFill>
            <a:srgbClr val="FBE4E2"/>
          </a:solidFill>
          <a:ln w="12700">
            <a:solidFill>
              <a:srgbClr val="C0392B"/>
            </a:solidFill>
            <a:prstDash val="solid"/>
          </a:ln>
        </p:spPr>
      </p:sp>
      <p:sp>
        <p:nvSpPr>
          <p:cNvPr id="28" name="Text 26"/>
          <p:cNvSpPr txBox="1"/>
          <p:nvPr/>
        </p:nvSpPr>
        <p:spPr>
          <a:xfrm>
            <a:off x="6428232"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9" name="Text 27"/>
          <p:cNvSpPr txBox="1"/>
          <p:nvPr/>
        </p:nvSpPr>
        <p:spPr>
          <a:xfrm>
            <a:off x="6428232"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Officer refuses entry</a:t>
            </a:r>
            <a:endParaRPr lang="en-US" sz="1600" dirty="0"/>
          </a:p>
        </p:txBody>
      </p:sp>
      <p:sp>
        <p:nvSpPr>
          <p:cNvPr id="30" name="Text 28"/>
          <p:cNvSpPr txBox="1"/>
          <p:nvPr/>
        </p:nvSpPr>
        <p:spPr>
          <a:xfrm>
            <a:off x="6428232"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person does not match their ID, or nobody can confirm they are expected. The reason is recorded. A refusal does not lock the person out.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step by step</a:t>
            </a:r>
            <a:endParaRPr lang="en-US" sz="3200" dirty="0"/>
          </a:p>
        </p:txBody>
      </p:sp>
      <p:sp>
        <p:nvSpPr>
          <p:cNvPr id="3" name="Shape 1"/>
          <p:cNvSpPr/>
          <p:nvPr/>
        </p:nvSpPr>
        <p:spPr>
          <a:xfrm>
            <a:off x="548640" y="1280160"/>
            <a:ext cx="5394960" cy="4754880"/>
          </a:xfrm>
          <a:prstGeom prst="roundRect">
            <a:avLst>
              <a:gd name="adj" fmla="val 2308"/>
            </a:avLst>
          </a:prstGeom>
          <a:solidFill>
            <a:srgbClr val="ECE9FA"/>
          </a:solidFill>
          <a:ln w="12700">
            <a:solidFill>
              <a:srgbClr val="6A5BC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Path A: planned arrival (lower panel)</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Upload the QR image the person brought.</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See who they are, the visit window, and the QR's entry and exit time with the time left.</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Preview the ID they uploaded and compare it with the person.</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Tick "I have compared the uploads with the documents presented".</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Press Grant Entry. The server checks the QR, site, window, approval, training, rules and blacklist, and records the decision.</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When they leave, Record exit.</a:t>
            </a:r>
            <a:endParaRPr lang="en-US" sz="1400" dirty="0"/>
          </a:p>
        </p:txBody>
      </p:sp>
      <p:sp>
        <p:nvSpPr>
          <p:cNvPr id="6" name="Shape 4"/>
          <p:cNvSpPr/>
          <p:nvPr/>
        </p:nvSpPr>
        <p:spPr>
          <a:xfrm>
            <a:off x="6245352" y="1280160"/>
            <a:ext cx="5394960" cy="4754880"/>
          </a:xfrm>
          <a:prstGeom prst="roundRect">
            <a:avLst>
              <a:gd name="adj" fmla="val 2308"/>
            </a:avLst>
          </a:prstGeom>
          <a:solidFill>
            <a:srgbClr val="FFE3D8"/>
          </a:solidFill>
          <a:ln w="12700">
            <a:solidFill>
              <a:srgbClr val="D85A30"/>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Path B: unexpected arrival (top panel)</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Scan the entry QR, upload its image, or type the 8-character reference.</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See name, company, rules confirmed, email verified, and the QR's entry and exit time with the time left.</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Press Open the document to compare. Check the ID and its expiry against the person.</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Let in, or Refuse entry with a reason and an optional note. Both are recorded.</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Too early or too late, an expired ID, outdated rules or a blacklisted person all stop entry with the reason shown.</a:t>
            </a:r>
            <a:endParaRPr lang="en-US" sz="1400" dirty="0"/>
          </a:p>
          <a:p>
            <a:pPr marL="342900" indent="-342900">
              <a:spcAft>
                <a:spcPts val="700"/>
              </a:spcAft>
              <a:buSzPct val="100000"/>
              <a:buChar char="•"/>
            </a:pPr>
            <a:r>
              <a:rPr lang="en-US" sz="1400" dirty="0">
                <a:solidFill>
                  <a:srgbClr val="8A2E10"/>
                </a:solidFill>
                <a:latin typeface="Calibri" pitchFamily="34" charset="0"/>
                <a:ea typeface="Calibri" pitchFamily="34" charset="-122"/>
                <a:cs typeface="Calibri" pitchFamily="34" charset="-120"/>
              </a:rPr>
              <a:t>When they leave, Record exit.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 site, exit and the audit trail</a:t>
            </a:r>
            <a:endParaRPr lang="en-US" sz="3200" dirty="0"/>
          </a:p>
        </p:txBody>
      </p:sp>
      <p:sp>
        <p:nvSpPr>
          <p:cNvPr id="3" name="card Who is on site"/>
          <p:cNvSpPr/>
          <p:nvPr/>
        </p:nvSpPr>
        <p:spPr>
          <a:xfrm>
            <a:off x="548640" y="1325880"/>
            <a:ext cx="3566160" cy="2148840"/>
          </a:xfrm>
          <a:prstGeom prst="roundRect">
            <a:avLst>
              <a:gd name="adj" fmla="val 4255"/>
            </a:avLst>
          </a:prstGeom>
          <a:solidFill>
            <a:srgbClr val="ECEEF2"/>
          </a:solidFill>
          <a:ln w="12700">
            <a:solidFill>
              <a:srgbClr val="6B7482"/>
            </a:solidFill>
            <a:prstDash val="solid"/>
          </a:ln>
        </p:spPr>
      </p:sp>
      <p:sp>
        <p:nvSpPr>
          <p:cNvPr id="4" name="Text 2"/>
          <p:cNvSpPr txBox="1"/>
          <p:nvPr/>
        </p:nvSpPr>
        <p:spPr>
          <a:xfrm>
            <a:off x="777240" y="1453896"/>
            <a:ext cx="31546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5" name="Text 3"/>
          <p:cNvSpPr txBox="1"/>
          <p:nvPr/>
        </p:nvSpPr>
        <p:spPr>
          <a:xfrm>
            <a:off x="777240" y="1709928"/>
            <a:ext cx="31546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Who is on site</a:t>
            </a:r>
            <a:endParaRPr lang="en-US" sz="1600" dirty="0"/>
          </a:p>
        </p:txBody>
      </p:sp>
      <p:sp>
        <p:nvSpPr>
          <p:cNvPr id="6" name="Text 4"/>
          <p:cNvSpPr txBox="1"/>
          <p:nvPr/>
        </p:nvSpPr>
        <p:spPr>
          <a:xfrm>
            <a:off x="777240" y="2112264"/>
            <a:ext cx="31546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One live roster covers both paths, refreshed every 15 seconds. Walk-up people are marked as walk-up arrivals.</a:t>
            </a:r>
            <a:endParaRPr lang="en-US" sz="1400" dirty="0"/>
          </a:p>
        </p:txBody>
      </p:sp>
      <p:sp>
        <p:nvSpPr>
          <p:cNvPr id="7" name="card Record exit"/>
          <p:cNvSpPr/>
          <p:nvPr/>
        </p:nvSpPr>
        <p:spPr>
          <a:xfrm>
            <a:off x="4297680" y="1325880"/>
            <a:ext cx="3566160" cy="2148840"/>
          </a:xfrm>
          <a:prstGeom prst="roundRect">
            <a:avLst>
              <a:gd name="adj" fmla="val 4255"/>
            </a:avLst>
          </a:prstGeom>
          <a:solidFill>
            <a:srgbClr val="FBEFD9"/>
          </a:solidFill>
          <a:ln w="12700">
            <a:solidFill>
              <a:srgbClr val="B7791F"/>
            </a:solidFill>
            <a:prstDash val="solid"/>
          </a:ln>
        </p:spPr>
      </p:sp>
      <p:sp>
        <p:nvSpPr>
          <p:cNvPr id="8" name="Text 6"/>
          <p:cNvSpPr txBox="1"/>
          <p:nvPr/>
        </p:nvSpPr>
        <p:spPr>
          <a:xfrm>
            <a:off x="4526280" y="1453896"/>
            <a:ext cx="31546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9" name="Text 7"/>
          <p:cNvSpPr txBox="1"/>
          <p:nvPr/>
        </p:nvSpPr>
        <p:spPr>
          <a:xfrm>
            <a:off x="4526280" y="1709928"/>
            <a:ext cx="31546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Record exit</a:t>
            </a:r>
            <a:endParaRPr lang="en-US" sz="1600" dirty="0"/>
          </a:p>
        </p:txBody>
      </p:sp>
      <p:sp>
        <p:nvSpPr>
          <p:cNvPr id="10" name="Text 8"/>
          <p:cNvSpPr txBox="1"/>
          <p:nvPr/>
        </p:nvSpPr>
        <p:spPr>
          <a:xfrm>
            <a:off x="4526280" y="2112264"/>
            <a:ext cx="3154680" cy="12801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presses Record exit, on the roster or at the kiosk, for both paths. Entry and exit times stay on record.</a:t>
            </a:r>
            <a:endParaRPr lang="en-US" sz="1400" dirty="0"/>
          </a:p>
        </p:txBody>
      </p:sp>
      <p:sp>
        <p:nvSpPr>
          <p:cNvPr id="11" name="card Renewals"/>
          <p:cNvSpPr/>
          <p:nvPr/>
        </p:nvSpPr>
        <p:spPr>
          <a:xfrm>
            <a:off x="8046720" y="1325880"/>
            <a:ext cx="3566160" cy="2148840"/>
          </a:xfrm>
          <a:prstGeom prst="roundRect">
            <a:avLst>
              <a:gd name="adj" fmla="val 4255"/>
            </a:avLst>
          </a:prstGeom>
          <a:solidFill>
            <a:srgbClr val="E2F1EC"/>
          </a:solidFill>
          <a:ln w="12700">
            <a:solidFill>
              <a:srgbClr val="2F7F6B"/>
            </a:solidFill>
            <a:prstDash val="solid"/>
          </a:ln>
        </p:spPr>
      </p:sp>
      <p:sp>
        <p:nvSpPr>
          <p:cNvPr id="12" name="Text 10"/>
          <p:cNvSpPr txBox="1"/>
          <p:nvPr/>
        </p:nvSpPr>
        <p:spPr>
          <a:xfrm>
            <a:off x="8275320" y="1453896"/>
            <a:ext cx="31546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13" name="Text 11"/>
          <p:cNvSpPr txBox="1"/>
          <p:nvPr/>
        </p:nvSpPr>
        <p:spPr>
          <a:xfrm>
            <a:off x="8275320" y="1709928"/>
            <a:ext cx="31546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Renewals</a:t>
            </a:r>
            <a:endParaRPr lang="en-US" sz="1600" dirty="0"/>
          </a:p>
        </p:txBody>
      </p:sp>
      <p:sp>
        <p:nvSpPr>
          <p:cNvPr id="14" name="Text 12"/>
          <p:cNvSpPr txBox="1"/>
          <p:nvPr/>
        </p:nvSpPr>
        <p:spPr>
          <a:xfrm>
            <a:off x="8275320" y="2112264"/>
            <a:ext cx="3154680" cy="128016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Expiring IDs are flagged and re-verified for Path A. A walk-up person who has left registers again.</a:t>
            </a:r>
            <a:endParaRPr lang="en-US" sz="1400" dirty="0"/>
          </a:p>
        </p:txBody>
      </p:sp>
      <p:sp>
        <p:nvSpPr>
          <p:cNvPr id="15" name="Text 13"/>
          <p:cNvSpPr txBox="1"/>
          <p:nvPr/>
        </p:nvSpPr>
        <p:spPr>
          <a:xfrm>
            <a:off x="548640" y="3749040"/>
            <a:ext cx="10972800" cy="411480"/>
          </a:xfrm>
          <a:prstGeom prst="rect">
            <a:avLst/>
          </a:prstGeom>
          <a:noFill/>
          <a:ln/>
        </p:spPr>
        <p:txBody>
          <a:bodyPr wrap="square" lIns="0" tIns="0" rIns="0" bIns="0" rtlCol="0" anchor="ctr"/>
          <a:lstStyle/>
          <a:p>
            <a:pPr indent="0" marL="0">
              <a:buNone/>
            </a:pPr>
            <a:r>
              <a:rPr lang="en-US" sz="2000" b="1" dirty="0">
                <a:solidFill>
                  <a:srgbClr val="D85A30"/>
                </a:solidFill>
                <a:latin typeface="Calibri" pitchFamily="34" charset="0"/>
                <a:ea typeface="Calibri" pitchFamily="34" charset="-122"/>
                <a:cs typeface="Calibri" pitchFamily="34" charset="-120"/>
              </a:rPr>
              <a:t>Everything is recorded in the audit trail</a:t>
            </a:r>
            <a:endParaRPr lang="en-US" sz="2000" dirty="0"/>
          </a:p>
        </p:txBody>
      </p:sp>
      <p:sp>
        <p:nvSpPr>
          <p:cNvPr id="16" name="Shape 14"/>
          <p:cNvSpPr/>
          <p:nvPr/>
        </p:nvSpPr>
        <p:spPr>
          <a:xfrm>
            <a:off x="548640" y="4343400"/>
            <a:ext cx="1737360" cy="685800"/>
          </a:xfrm>
          <a:prstGeom prst="roundRect">
            <a:avLst>
              <a:gd name="adj" fmla="val 13333"/>
            </a:avLst>
          </a:prstGeom>
          <a:solidFill>
            <a:srgbClr val="ECEEF2"/>
          </a:solidFill>
          <a:ln w="12700">
            <a:solidFill>
              <a:srgbClr val="6B7482"/>
            </a:solidFill>
            <a:prstDash val="solid"/>
          </a:ln>
        </p:spPr>
      </p:sp>
      <p:sp>
        <p:nvSpPr>
          <p:cNvPr id="17" name="Text 15"/>
          <p:cNvSpPr txBox="1"/>
          <p:nvPr/>
        </p:nvSpPr>
        <p:spPr>
          <a:xfrm>
            <a:off x="54864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Registered</a:t>
            </a:r>
            <a:endParaRPr lang="en-US" sz="1500" dirty="0"/>
          </a:p>
        </p:txBody>
      </p:sp>
      <p:sp>
        <p:nvSpPr>
          <p:cNvPr id="18" name="Shape 16"/>
          <p:cNvSpPr/>
          <p:nvPr/>
        </p:nvSpPr>
        <p:spPr>
          <a:xfrm>
            <a:off x="2404872" y="4343400"/>
            <a:ext cx="1737360" cy="685800"/>
          </a:xfrm>
          <a:prstGeom prst="roundRect">
            <a:avLst>
              <a:gd name="adj" fmla="val 13333"/>
            </a:avLst>
          </a:prstGeom>
          <a:solidFill>
            <a:srgbClr val="ECEEF2"/>
          </a:solidFill>
          <a:ln w="12700">
            <a:solidFill>
              <a:srgbClr val="6B7482"/>
            </a:solidFill>
            <a:prstDash val="solid"/>
          </a:ln>
        </p:spPr>
      </p:sp>
      <p:sp>
        <p:nvSpPr>
          <p:cNvPr id="19" name="Text 17"/>
          <p:cNvSpPr txBox="1"/>
          <p:nvPr/>
        </p:nvSpPr>
        <p:spPr>
          <a:xfrm>
            <a:off x="2404872"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Rules confirmed</a:t>
            </a:r>
            <a:endParaRPr lang="en-US" sz="1500" dirty="0"/>
          </a:p>
        </p:txBody>
      </p:sp>
      <p:sp>
        <p:nvSpPr>
          <p:cNvPr id="20" name="Shape 18"/>
          <p:cNvSpPr/>
          <p:nvPr/>
        </p:nvSpPr>
        <p:spPr>
          <a:xfrm>
            <a:off x="4261104" y="4343400"/>
            <a:ext cx="1737360" cy="685800"/>
          </a:xfrm>
          <a:prstGeom prst="roundRect">
            <a:avLst>
              <a:gd name="adj" fmla="val 13333"/>
            </a:avLst>
          </a:prstGeom>
          <a:solidFill>
            <a:srgbClr val="ECEEF2"/>
          </a:solidFill>
          <a:ln w="12700">
            <a:solidFill>
              <a:srgbClr val="6B7482"/>
            </a:solidFill>
            <a:prstDash val="solid"/>
          </a:ln>
        </p:spPr>
      </p:sp>
      <p:sp>
        <p:nvSpPr>
          <p:cNvPr id="21" name="Text 19"/>
          <p:cNvSpPr txBox="1"/>
          <p:nvPr/>
        </p:nvSpPr>
        <p:spPr>
          <a:xfrm>
            <a:off x="4261104"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Kiosk check</a:t>
            </a:r>
            <a:endParaRPr lang="en-US" sz="1500" dirty="0"/>
          </a:p>
        </p:txBody>
      </p:sp>
      <p:sp>
        <p:nvSpPr>
          <p:cNvPr id="22" name="Shape 20"/>
          <p:cNvSpPr/>
          <p:nvPr/>
        </p:nvSpPr>
        <p:spPr>
          <a:xfrm>
            <a:off x="6117336" y="4343400"/>
            <a:ext cx="1737360" cy="685800"/>
          </a:xfrm>
          <a:prstGeom prst="roundRect">
            <a:avLst>
              <a:gd name="adj" fmla="val 13333"/>
            </a:avLst>
          </a:prstGeom>
          <a:solidFill>
            <a:srgbClr val="ECEEF2"/>
          </a:solidFill>
          <a:ln w="12700">
            <a:solidFill>
              <a:srgbClr val="6B7482"/>
            </a:solidFill>
            <a:prstDash val="solid"/>
          </a:ln>
        </p:spPr>
      </p:sp>
      <p:sp>
        <p:nvSpPr>
          <p:cNvPr id="23" name="Text 21"/>
          <p:cNvSpPr txBox="1"/>
          <p:nvPr/>
        </p:nvSpPr>
        <p:spPr>
          <a:xfrm>
            <a:off x="6117336"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Admitted</a:t>
            </a:r>
            <a:endParaRPr lang="en-US" sz="1500" dirty="0"/>
          </a:p>
        </p:txBody>
      </p:sp>
      <p:sp>
        <p:nvSpPr>
          <p:cNvPr id="24" name="Shape 22"/>
          <p:cNvSpPr/>
          <p:nvPr/>
        </p:nvSpPr>
        <p:spPr>
          <a:xfrm>
            <a:off x="7973568" y="4343400"/>
            <a:ext cx="1737360" cy="685800"/>
          </a:xfrm>
          <a:prstGeom prst="roundRect">
            <a:avLst>
              <a:gd name="adj" fmla="val 13333"/>
            </a:avLst>
          </a:prstGeom>
          <a:solidFill>
            <a:srgbClr val="ECEEF2"/>
          </a:solidFill>
          <a:ln w="12700">
            <a:solidFill>
              <a:srgbClr val="6B7482"/>
            </a:solidFill>
            <a:prstDash val="solid"/>
          </a:ln>
        </p:spPr>
      </p:sp>
      <p:sp>
        <p:nvSpPr>
          <p:cNvPr id="25" name="Text 23"/>
          <p:cNvSpPr txBox="1"/>
          <p:nvPr/>
        </p:nvSpPr>
        <p:spPr>
          <a:xfrm>
            <a:off x="7973568"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Exited</a:t>
            </a:r>
            <a:endParaRPr lang="en-US" sz="1500" dirty="0"/>
          </a:p>
        </p:txBody>
      </p:sp>
      <p:sp>
        <p:nvSpPr>
          <p:cNvPr id="26" name="Shape 24"/>
          <p:cNvSpPr/>
          <p:nvPr/>
        </p:nvSpPr>
        <p:spPr>
          <a:xfrm>
            <a:off x="9829800" y="4343400"/>
            <a:ext cx="1737360" cy="685800"/>
          </a:xfrm>
          <a:prstGeom prst="roundRect">
            <a:avLst>
              <a:gd name="adj" fmla="val 13333"/>
            </a:avLst>
          </a:prstGeom>
          <a:solidFill>
            <a:srgbClr val="ECEEF2"/>
          </a:solidFill>
          <a:ln w="12700">
            <a:solidFill>
              <a:srgbClr val="6B7482"/>
            </a:solidFill>
            <a:prstDash val="solid"/>
          </a:ln>
        </p:spPr>
      </p:sp>
      <p:sp>
        <p:nvSpPr>
          <p:cNvPr id="27" name="Text 25"/>
          <p:cNvSpPr txBox="1"/>
          <p:nvPr/>
        </p:nvSpPr>
        <p:spPr>
          <a:xfrm>
            <a:off x="982980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Refused</a:t>
            </a:r>
            <a:endParaRPr lang="en-US" sz="1500" dirty="0"/>
          </a:p>
        </p:txBody>
      </p:sp>
      <p:sp>
        <p:nvSpPr>
          <p:cNvPr id="28" name="Text 26"/>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600" dirty="0">
                <a:solidFill>
                  <a:srgbClr val="556070"/>
                </a:solidFill>
                <a:latin typeface="Calibri" pitchFamily="34" charset="0"/>
                <a:ea typeface="Calibri" pitchFamily="34" charset="-122"/>
                <a:cs typeface="Calibri" pitchFamily="34" charset="-120"/>
              </a:rPr>
              <a:t>Each entry shows who did it and when. Staff see it on the People and Audit pages. Failed lookups record only the kind of code, never the code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Dashboard: who is on site, live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The dashboard refreshes every 15 seconds and shows the same counts for both paths.</a:t>
            </a:r>
            <a:endParaRPr lang="en-US" sz="1800" dirty="0"/>
          </a:p>
        </p:txBody>
      </p:sp>
      <p:sp>
        <p:nvSpPr>
          <p:cNvPr id="4" name="Text 2"/>
          <p:cNvSpPr txBox="1"/>
          <p:nvPr/>
        </p:nvSpPr>
        <p:spPr>
          <a:xfrm>
            <a:off x="548640" y="1691640"/>
            <a:ext cx="4114800" cy="548640"/>
          </a:xfrm>
          <a:prstGeom prst="rect">
            <a:avLst/>
          </a:prstGeom>
          <a:noFill/>
          <a:ln/>
        </p:spPr>
        <p:txBody>
          <a:bodyPr wrap="square" lIns="0" tIns="0" rIns="0" bIns="0" rtlCol="0" anchor="ctr"/>
          <a:lstStyle/>
          <a:p>
            <a:pPr indent="0" marL="0">
              <a:buNone/>
            </a:pPr>
            <a:endParaRPr lang="en-US" sz="1500" dirty="0"/>
          </a:p>
        </p:txBody>
      </p:sp>
      <p:sp>
        <p:nvSpPr>
          <p:cNvPr id="5" name="Text 3"/>
          <p:cNvSpPr txBox="1"/>
          <p:nvPr/>
        </p:nvSpPr>
        <p:spPr>
          <a:xfrm>
            <a:off x="4754880" y="1691640"/>
            <a:ext cx="210312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Planned: invited in advance</a:t>
            </a:r>
            <a:endParaRPr lang="en-US" sz="1500" dirty="0"/>
          </a:p>
        </p:txBody>
      </p:sp>
      <p:sp>
        <p:nvSpPr>
          <p:cNvPr id="6" name="Text 4"/>
          <p:cNvSpPr txBox="1"/>
          <p:nvPr/>
        </p:nvSpPr>
        <p:spPr>
          <a:xfrm>
            <a:off x="6949440" y="1691640"/>
            <a:ext cx="228600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Unexpected: walk-up arrivals</a:t>
            </a:r>
            <a:endParaRPr lang="en-US" sz="1500" dirty="0"/>
          </a:p>
        </p:txBody>
      </p:sp>
      <p:sp>
        <p:nvSpPr>
          <p:cNvPr id="7" name="Text 5"/>
          <p:cNvSpPr txBox="1"/>
          <p:nvPr/>
        </p:nvSpPr>
        <p:spPr>
          <a:xfrm>
            <a:off x="9326880" y="1691640"/>
            <a:ext cx="2286000" cy="54864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Total</a:t>
            </a:r>
            <a:endParaRPr lang="en-US" sz="1500" dirty="0"/>
          </a:p>
        </p:txBody>
      </p:sp>
      <p:sp>
        <p:nvSpPr>
          <p:cNvPr id="8" name="Shape 6"/>
          <p:cNvSpPr/>
          <p:nvPr/>
        </p:nvSpPr>
        <p:spPr>
          <a:xfrm>
            <a:off x="548640" y="2286000"/>
            <a:ext cx="11064240" cy="594360"/>
          </a:xfrm>
          <a:prstGeom prst="roundRect">
            <a:avLst>
              <a:gd name="adj" fmla="val 12308"/>
            </a:avLst>
          </a:prstGeom>
          <a:solidFill>
            <a:srgbClr val="F3F5F7"/>
          </a:solidFill>
          <a:ln w="12700">
            <a:solidFill>
              <a:srgbClr val="CBD0DA"/>
            </a:solidFill>
            <a:prstDash val="solid"/>
          </a:ln>
        </p:spPr>
      </p:sp>
      <p:sp>
        <p:nvSpPr>
          <p:cNvPr id="9" name="Text 7"/>
          <p:cNvSpPr txBox="1"/>
          <p:nvPr/>
        </p:nvSpPr>
        <p:spPr>
          <a:xfrm>
            <a:off x="731520" y="22860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On site now</a:t>
            </a:r>
            <a:endParaRPr lang="en-US" sz="1600" dirty="0"/>
          </a:p>
        </p:txBody>
      </p:sp>
      <p:sp>
        <p:nvSpPr>
          <p:cNvPr id="10" name="Text 8"/>
          <p:cNvSpPr txBox="1"/>
          <p:nvPr/>
        </p:nvSpPr>
        <p:spPr>
          <a:xfrm>
            <a:off x="4754880" y="22860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1" name="Text 9"/>
          <p:cNvSpPr txBox="1"/>
          <p:nvPr/>
        </p:nvSpPr>
        <p:spPr>
          <a:xfrm>
            <a:off x="694944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2" name="Text 10"/>
          <p:cNvSpPr txBox="1"/>
          <p:nvPr/>
        </p:nvSpPr>
        <p:spPr>
          <a:xfrm>
            <a:off x="932688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3" name="Shape 11"/>
          <p:cNvSpPr/>
          <p:nvPr/>
        </p:nvSpPr>
        <p:spPr>
          <a:xfrm>
            <a:off x="548640" y="2971800"/>
            <a:ext cx="11064240" cy="594360"/>
          </a:xfrm>
          <a:prstGeom prst="roundRect">
            <a:avLst>
              <a:gd name="adj" fmla="val 12308"/>
            </a:avLst>
          </a:prstGeom>
          <a:solidFill>
            <a:srgbClr val="F3F5F7"/>
          </a:solidFill>
          <a:ln w="12700">
            <a:solidFill>
              <a:srgbClr val="CBD0DA"/>
            </a:solidFill>
            <a:prstDash val="solid"/>
          </a:ln>
        </p:spPr>
      </p:sp>
      <p:sp>
        <p:nvSpPr>
          <p:cNvPr id="14" name="Text 12"/>
          <p:cNvSpPr txBox="1"/>
          <p:nvPr/>
        </p:nvSpPr>
        <p:spPr>
          <a:xfrm>
            <a:off x="731520" y="29718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Entered</a:t>
            </a:r>
            <a:endParaRPr lang="en-US" sz="1600" dirty="0"/>
          </a:p>
        </p:txBody>
      </p:sp>
      <p:sp>
        <p:nvSpPr>
          <p:cNvPr id="15" name="Text 13"/>
          <p:cNvSpPr txBox="1"/>
          <p:nvPr/>
        </p:nvSpPr>
        <p:spPr>
          <a:xfrm>
            <a:off x="4754880" y="29718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6" name="Text 14"/>
          <p:cNvSpPr txBox="1"/>
          <p:nvPr/>
        </p:nvSpPr>
        <p:spPr>
          <a:xfrm>
            <a:off x="694944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7" name="Text 15"/>
          <p:cNvSpPr txBox="1"/>
          <p:nvPr/>
        </p:nvSpPr>
        <p:spPr>
          <a:xfrm>
            <a:off x="932688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8" name="Shape 16"/>
          <p:cNvSpPr/>
          <p:nvPr/>
        </p:nvSpPr>
        <p:spPr>
          <a:xfrm>
            <a:off x="548640" y="3657600"/>
            <a:ext cx="11064240" cy="594360"/>
          </a:xfrm>
          <a:prstGeom prst="roundRect">
            <a:avLst>
              <a:gd name="adj" fmla="val 12308"/>
            </a:avLst>
          </a:prstGeom>
          <a:solidFill>
            <a:srgbClr val="F3F5F7"/>
          </a:solidFill>
          <a:ln w="12700">
            <a:solidFill>
              <a:srgbClr val="CBD0DA"/>
            </a:solidFill>
            <a:prstDash val="solid"/>
          </a:ln>
        </p:spPr>
      </p:sp>
      <p:sp>
        <p:nvSpPr>
          <p:cNvPr id="19" name="Text 17"/>
          <p:cNvSpPr txBox="1"/>
          <p:nvPr/>
        </p:nvSpPr>
        <p:spPr>
          <a:xfrm>
            <a:off x="731520" y="36576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Exited</a:t>
            </a:r>
            <a:endParaRPr lang="en-US" sz="1600" dirty="0"/>
          </a:p>
        </p:txBody>
      </p:sp>
      <p:sp>
        <p:nvSpPr>
          <p:cNvPr id="20" name="Text 18"/>
          <p:cNvSpPr txBox="1"/>
          <p:nvPr/>
        </p:nvSpPr>
        <p:spPr>
          <a:xfrm>
            <a:off x="4754880" y="36576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1" name="Text 19"/>
          <p:cNvSpPr txBox="1"/>
          <p:nvPr/>
        </p:nvSpPr>
        <p:spPr>
          <a:xfrm>
            <a:off x="694944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2" name="Text 20"/>
          <p:cNvSpPr txBox="1"/>
          <p:nvPr/>
        </p:nvSpPr>
        <p:spPr>
          <a:xfrm>
            <a:off x="932688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3" name="Shape 21"/>
          <p:cNvSpPr/>
          <p:nvPr/>
        </p:nvSpPr>
        <p:spPr>
          <a:xfrm>
            <a:off x="548640" y="4343400"/>
            <a:ext cx="11064240" cy="594360"/>
          </a:xfrm>
          <a:prstGeom prst="roundRect">
            <a:avLst>
              <a:gd name="adj" fmla="val 12308"/>
            </a:avLst>
          </a:prstGeom>
          <a:solidFill>
            <a:srgbClr val="F3F5F7"/>
          </a:solidFill>
          <a:ln w="12700">
            <a:solidFill>
              <a:srgbClr val="CBD0DA"/>
            </a:solidFill>
            <a:prstDash val="solid"/>
          </a:ln>
        </p:spPr>
      </p:sp>
      <p:sp>
        <p:nvSpPr>
          <p:cNvPr id="24" name="Text 22"/>
          <p:cNvSpPr txBox="1"/>
          <p:nvPr/>
        </p:nvSpPr>
        <p:spPr>
          <a:xfrm>
            <a:off x="731520" y="43434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Turned away or denied</a:t>
            </a:r>
            <a:endParaRPr lang="en-US" sz="1600" dirty="0"/>
          </a:p>
        </p:txBody>
      </p:sp>
      <p:sp>
        <p:nvSpPr>
          <p:cNvPr id="25" name="Text 23"/>
          <p:cNvSpPr txBox="1"/>
          <p:nvPr/>
        </p:nvSpPr>
        <p:spPr>
          <a:xfrm>
            <a:off x="4754880" y="43434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6" name="Text 24"/>
          <p:cNvSpPr txBox="1"/>
          <p:nvPr/>
        </p:nvSpPr>
        <p:spPr>
          <a:xfrm>
            <a:off x="694944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7" name="Text 25"/>
          <p:cNvSpPr txBox="1"/>
          <p:nvPr/>
        </p:nvSpPr>
        <p:spPr>
          <a:xfrm>
            <a:off x="932688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8" name="Shape 26"/>
          <p:cNvSpPr/>
          <p:nvPr/>
        </p:nvSpPr>
        <p:spPr>
          <a:xfrm>
            <a:off x="548640" y="5029200"/>
            <a:ext cx="11064240" cy="594360"/>
          </a:xfrm>
          <a:prstGeom prst="roundRect">
            <a:avLst>
              <a:gd name="adj" fmla="val 12308"/>
            </a:avLst>
          </a:prstGeom>
          <a:solidFill>
            <a:srgbClr val="FBEFD9"/>
          </a:solidFill>
          <a:ln w="12700">
            <a:solidFill>
              <a:srgbClr val="B7791F"/>
            </a:solidFill>
            <a:prstDash val="solid"/>
          </a:ln>
        </p:spPr>
      </p:sp>
      <p:sp>
        <p:nvSpPr>
          <p:cNvPr id="29" name="Text 27"/>
          <p:cNvSpPr txBox="1"/>
          <p:nvPr/>
        </p:nvSpPr>
        <p:spPr>
          <a:xfrm>
            <a:off x="731520" y="5029200"/>
            <a:ext cx="4023360" cy="5943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Overdue: still on site after their exit time</a:t>
            </a:r>
            <a:endParaRPr lang="en-US" sz="1600" dirty="0"/>
          </a:p>
        </p:txBody>
      </p:sp>
      <p:sp>
        <p:nvSpPr>
          <p:cNvPr id="30" name="Text 28"/>
          <p:cNvSpPr txBox="1"/>
          <p:nvPr/>
        </p:nvSpPr>
        <p:spPr>
          <a:xfrm>
            <a:off x="4754880" y="5029200"/>
            <a:ext cx="210312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Invited</a:t>
            </a:r>
            <a:endParaRPr lang="en-US" sz="1500" dirty="0"/>
          </a:p>
        </p:txBody>
      </p:sp>
      <p:sp>
        <p:nvSpPr>
          <p:cNvPr id="31" name="Text 29"/>
          <p:cNvSpPr txBox="1"/>
          <p:nvPr/>
        </p:nvSpPr>
        <p:spPr>
          <a:xfrm>
            <a:off x="694944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Walk-up</a:t>
            </a:r>
            <a:endParaRPr lang="en-US" sz="1500" dirty="0"/>
          </a:p>
        </p:txBody>
      </p:sp>
      <p:sp>
        <p:nvSpPr>
          <p:cNvPr id="32" name="Text 30"/>
          <p:cNvSpPr txBox="1"/>
          <p:nvPr/>
        </p:nvSpPr>
        <p:spPr>
          <a:xfrm>
            <a:off x="932688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Both</a:t>
            </a:r>
            <a:endParaRPr lang="en-US" sz="1500" dirty="0"/>
          </a:p>
        </p:txBody>
      </p:sp>
      <p:sp>
        <p:nvSpPr>
          <p:cNvPr id="33" name="Text 31"/>
          <p:cNvSpPr txBox="1"/>
          <p:nvPr/>
        </p:nvSpPr>
        <p:spPr>
          <a:xfrm>
            <a:off x="548640" y="5760720"/>
            <a:ext cx="10515600" cy="59436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Overdue people stay on the roster with an "Overdue by" badge and the time they should have left, for both paths.</a:t>
            </a:r>
            <a:endParaRPr lang="en-US" sz="1400" dirty="0"/>
          </a:p>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Choose a site at the top to see its own counts. Version 1's tiles, roster and site activity are unchanged.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Refusals and flags: what each one means</a:t>
            </a:r>
            <a:endParaRPr lang="en-US" sz="3200" dirty="0"/>
          </a:p>
        </p:txBody>
      </p:sp>
      <p:sp>
        <p:nvSpPr>
          <p:cNvPr id="3" name="Text 1"/>
          <p:cNvSpPr txBox="1"/>
          <p:nvPr/>
        </p:nvSpPr>
        <p:spPr>
          <a:xfrm>
            <a:off x="640080" y="1188720"/>
            <a:ext cx="260604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Reason</a:t>
            </a:r>
            <a:endParaRPr lang="en-US" sz="1200" dirty="0"/>
          </a:p>
        </p:txBody>
      </p:sp>
      <p:sp>
        <p:nvSpPr>
          <p:cNvPr id="4" name="Text 2"/>
          <p:cNvSpPr txBox="1"/>
          <p:nvPr/>
        </p:nvSpPr>
        <p:spPr>
          <a:xfrm>
            <a:off x="3383280" y="1188720"/>
            <a:ext cx="489204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What it means</a:t>
            </a:r>
            <a:endParaRPr lang="en-US" sz="1200" dirty="0"/>
          </a:p>
        </p:txBody>
      </p:sp>
      <p:sp>
        <p:nvSpPr>
          <p:cNvPr id="5" name="Text 3"/>
          <p:cNvSpPr txBox="1"/>
          <p:nvPr/>
        </p:nvSpPr>
        <p:spPr>
          <a:xfrm>
            <a:off x="8412480" y="1188720"/>
            <a:ext cx="318211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Where it shows</a:t>
            </a:r>
            <a:endParaRPr lang="en-US" sz="1200" dirty="0"/>
          </a:p>
        </p:txBody>
      </p:sp>
      <p:sp>
        <p:nvSpPr>
          <p:cNvPr id="6" name="Shape 4"/>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7" name="Text 5"/>
          <p:cNvSpPr txBox="1"/>
          <p:nvPr/>
        </p:nvSpPr>
        <p:spPr>
          <a:xfrm>
            <a:off x="640080" y="1572768"/>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QR not valid yet</a:t>
            </a:r>
            <a:endParaRPr lang="en-US" sz="1300" dirty="0"/>
          </a:p>
        </p:txBody>
      </p:sp>
      <p:sp>
        <p:nvSpPr>
          <p:cNvPr id="8" name="Text 6"/>
          <p:cNvSpPr txBox="1"/>
          <p:nvPr/>
        </p:nvSpPr>
        <p:spPr>
          <a:xfrm>
            <a:off x="3383280" y="1572768"/>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person arrived before the QR's entry time.</a:t>
            </a:r>
            <a:endParaRPr lang="en-US" sz="1300" dirty="0"/>
          </a:p>
        </p:txBody>
      </p:sp>
      <p:sp>
        <p:nvSpPr>
          <p:cNvPr id="9" name="Text 7"/>
          <p:cNvSpPr txBox="1"/>
          <p:nvPr/>
        </p:nvSpPr>
        <p:spPr>
          <a:xfrm>
            <a:off x="8412480" y="1572768"/>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 with the time it opens</a:t>
            </a:r>
            <a:endParaRPr lang="en-US" sz="1300" dirty="0"/>
          </a:p>
        </p:txBody>
      </p:sp>
      <p:sp>
        <p:nvSpPr>
          <p:cNvPr id="10" name="Shape 8"/>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1" name="Text 9"/>
          <p:cNvSpPr txBox="1"/>
          <p:nvPr/>
        </p:nvSpPr>
        <p:spPr>
          <a:xfrm>
            <a:off x="640080" y="2185416"/>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QR expired</a:t>
            </a:r>
            <a:endParaRPr lang="en-US" sz="1300" dirty="0"/>
          </a:p>
        </p:txBody>
      </p:sp>
      <p:sp>
        <p:nvSpPr>
          <p:cNvPr id="12" name="Text 10"/>
          <p:cNvSpPr txBox="1"/>
          <p:nvPr/>
        </p:nvSpPr>
        <p:spPr>
          <a:xfrm>
            <a:off x="3383280" y="2185416"/>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exit time has passed. The QR no longer works.</a:t>
            </a:r>
            <a:endParaRPr lang="en-US" sz="1300" dirty="0"/>
          </a:p>
        </p:txBody>
      </p:sp>
      <p:sp>
        <p:nvSpPr>
          <p:cNvPr id="13" name="Text 11"/>
          <p:cNvSpPr txBox="1"/>
          <p:nvPr/>
        </p:nvSpPr>
        <p:spPr>
          <a:xfrm>
            <a:off x="8412480" y="2185416"/>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a:t>
            </a:r>
            <a:endParaRPr lang="en-US" sz="1300" dirty="0"/>
          </a:p>
        </p:txBody>
      </p:sp>
      <p:sp>
        <p:nvSpPr>
          <p:cNvPr id="14" name="Shape 12"/>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5" name="Text 13"/>
          <p:cNvSpPr txBox="1"/>
          <p:nvPr/>
        </p:nvSpPr>
        <p:spPr>
          <a:xfrm>
            <a:off x="640080" y="2798064"/>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ID expired</a:t>
            </a:r>
            <a:endParaRPr lang="en-US" sz="1300" dirty="0"/>
          </a:p>
        </p:txBody>
      </p:sp>
      <p:sp>
        <p:nvSpPr>
          <p:cNvPr id="16" name="Text 14"/>
          <p:cNvSpPr txBox="1"/>
          <p:nvPr/>
        </p:nvSpPr>
        <p:spPr>
          <a:xfrm>
            <a:off x="3383280" y="2798064"/>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document's expiry date has passed (unexpected arrivals).</a:t>
            </a:r>
            <a:endParaRPr lang="en-US" sz="1300" dirty="0"/>
          </a:p>
        </p:txBody>
      </p:sp>
      <p:sp>
        <p:nvSpPr>
          <p:cNvPr id="17" name="Text 15"/>
          <p:cNvSpPr txBox="1"/>
          <p:nvPr/>
        </p:nvSpPr>
        <p:spPr>
          <a:xfrm>
            <a:off x="8412480" y="2798064"/>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Do not admit</a:t>
            </a:r>
            <a:endParaRPr lang="en-US" sz="1300" dirty="0"/>
          </a:p>
        </p:txBody>
      </p:sp>
      <p:sp>
        <p:nvSpPr>
          <p:cNvPr id="18" name="Shape 16"/>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19" name="Text 17"/>
          <p:cNvSpPr txBox="1"/>
          <p:nvPr/>
        </p:nvSpPr>
        <p:spPr>
          <a:xfrm>
            <a:off x="640080" y="3410712"/>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Rules outdated or not confirmed</a:t>
            </a:r>
            <a:endParaRPr lang="en-US" sz="1300" dirty="0"/>
          </a:p>
        </p:txBody>
      </p:sp>
      <p:sp>
        <p:nvSpPr>
          <p:cNvPr id="20" name="Text 18"/>
          <p:cNvSpPr txBox="1"/>
          <p:nvPr/>
        </p:nvSpPr>
        <p:spPr>
          <a:xfrm>
            <a:off x="3383280" y="3410712"/>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rules changed since the person confirmed, or never confirmed.</a:t>
            </a:r>
            <a:endParaRPr lang="en-US" sz="1300" dirty="0"/>
          </a:p>
        </p:txBody>
      </p:sp>
      <p:sp>
        <p:nvSpPr>
          <p:cNvPr id="21" name="Text 19"/>
          <p:cNvSpPr txBox="1"/>
          <p:nvPr/>
        </p:nvSpPr>
        <p:spPr>
          <a:xfrm>
            <a:off x="8412480" y="3410712"/>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and the People page</a:t>
            </a:r>
            <a:endParaRPr lang="en-US" sz="1300" dirty="0"/>
          </a:p>
        </p:txBody>
      </p:sp>
      <p:sp>
        <p:nvSpPr>
          <p:cNvPr id="22" name="Shape 20"/>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3" name="Text 21"/>
          <p:cNvSpPr txBox="1"/>
          <p:nvPr/>
        </p:nvSpPr>
        <p:spPr>
          <a:xfrm>
            <a:off x="640080" y="4023360"/>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Blocked or blacklisted</a:t>
            </a:r>
            <a:endParaRPr lang="en-US" sz="1300" dirty="0"/>
          </a:p>
        </p:txBody>
      </p:sp>
      <p:sp>
        <p:nvSpPr>
          <p:cNvPr id="24" name="Text 22"/>
          <p:cNvSpPr txBox="1"/>
          <p:nvPr/>
        </p:nvSpPr>
        <p:spPr>
          <a:xfrm>
            <a:off x="3383280" y="4023360"/>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person or their company is not allowed on site.</a:t>
            </a:r>
            <a:endParaRPr lang="en-US" sz="1300" dirty="0"/>
          </a:p>
        </p:txBody>
      </p:sp>
      <p:sp>
        <p:nvSpPr>
          <p:cNvPr id="25" name="Text 23"/>
          <p:cNvSpPr txBox="1"/>
          <p:nvPr/>
        </p:nvSpPr>
        <p:spPr>
          <a:xfrm>
            <a:off x="8412480" y="4023360"/>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 audit trail</a:t>
            </a:r>
            <a:endParaRPr lang="en-US" sz="1300" dirty="0"/>
          </a:p>
        </p:txBody>
      </p:sp>
      <p:sp>
        <p:nvSpPr>
          <p:cNvPr id="26" name="Shape 24"/>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27" name="Text 25"/>
          <p:cNvSpPr txBox="1"/>
          <p:nvPr/>
        </p:nvSpPr>
        <p:spPr>
          <a:xfrm>
            <a:off x="640080" y="4636008"/>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Already left</a:t>
            </a:r>
            <a:endParaRPr lang="en-US" sz="1300" dirty="0"/>
          </a:p>
        </p:txBody>
      </p:sp>
      <p:sp>
        <p:nvSpPr>
          <p:cNvPr id="28" name="Text 26"/>
          <p:cNvSpPr txBox="1"/>
          <p:nvPr/>
        </p:nvSpPr>
        <p:spPr>
          <a:xfrm>
            <a:off x="3383280" y="4636008"/>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They were recorded leaving and must register again.</a:t>
            </a:r>
            <a:endParaRPr lang="en-US" sz="1300" dirty="0"/>
          </a:p>
        </p:txBody>
      </p:sp>
      <p:sp>
        <p:nvSpPr>
          <p:cNvPr id="29" name="Text 27"/>
          <p:cNvSpPr txBox="1"/>
          <p:nvPr/>
        </p:nvSpPr>
        <p:spPr>
          <a:xfrm>
            <a:off x="8412480" y="4636008"/>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Kiosk</a:t>
            </a:r>
            <a:endParaRPr lang="en-US" sz="1300" dirty="0"/>
          </a:p>
        </p:txBody>
      </p:sp>
      <p:sp>
        <p:nvSpPr>
          <p:cNvPr id="30" name="Shape 28"/>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1" name="Text 29"/>
          <p:cNvSpPr txBox="1"/>
          <p:nvPr/>
        </p:nvSpPr>
        <p:spPr>
          <a:xfrm>
            <a:off x="640080" y="5248656"/>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Overdue</a:t>
            </a:r>
            <a:endParaRPr lang="en-US" sz="1300" dirty="0"/>
          </a:p>
        </p:txBody>
      </p:sp>
      <p:sp>
        <p:nvSpPr>
          <p:cNvPr id="32" name="Text 30"/>
          <p:cNvSpPr txBox="1"/>
          <p:nvPr/>
        </p:nvSpPr>
        <p:spPr>
          <a:xfrm>
            <a:off x="3383280" y="5248656"/>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Still on site after the QR's exit time. They stay counted as on site.</a:t>
            </a:r>
            <a:endParaRPr lang="en-US" sz="1300" dirty="0"/>
          </a:p>
        </p:txBody>
      </p:sp>
      <p:sp>
        <p:nvSpPr>
          <p:cNvPr id="33" name="Text 31"/>
          <p:cNvSpPr txBox="1"/>
          <p:nvPr/>
        </p:nvSpPr>
        <p:spPr>
          <a:xfrm>
            <a:off x="8412480" y="5248656"/>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Dashboard tile, table and roster badge</a:t>
            </a:r>
            <a:endParaRPr lang="en-US" sz="1300" dirty="0"/>
          </a:p>
        </p:txBody>
      </p:sp>
      <p:sp>
        <p:nvSpPr>
          <p:cNvPr id="34" name="Shape 32"/>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35" name="Text 33"/>
          <p:cNvSpPr txBox="1"/>
          <p:nvPr/>
        </p:nvSpPr>
        <p:spPr>
          <a:xfrm>
            <a:off x="640080" y="5861304"/>
            <a:ext cx="256032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Refused by the officer</a:t>
            </a:r>
            <a:endParaRPr lang="en-US" sz="1300" dirty="0"/>
          </a:p>
        </p:txBody>
      </p:sp>
      <p:sp>
        <p:nvSpPr>
          <p:cNvPr id="36" name="Text 34"/>
          <p:cNvSpPr txBox="1"/>
          <p:nvPr/>
        </p:nvSpPr>
        <p:spPr>
          <a:xfrm>
            <a:off x="3383280" y="5861304"/>
            <a:ext cx="484632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The officer turned them away, with a reason.</a:t>
            </a:r>
            <a:endParaRPr lang="en-US" sz="1300" dirty="0"/>
          </a:p>
        </p:txBody>
      </p:sp>
      <p:sp>
        <p:nvSpPr>
          <p:cNvPr id="37" name="Text 35"/>
          <p:cNvSpPr txBox="1"/>
          <p:nvPr/>
        </p:nvSpPr>
        <p:spPr>
          <a:xfrm>
            <a:off x="8412480" y="5861304"/>
            <a:ext cx="313639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Dashboard: Turned away or denied;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signs in, and what they see</a:t>
            </a:r>
            <a:endParaRPr lang="en-US" sz="3200" dirty="0"/>
          </a:p>
        </p:txBody>
      </p:sp>
      <p:sp>
        <p:nvSpPr>
          <p:cNvPr id="3" name="Text 1"/>
          <p:cNvSpPr txBox="1"/>
          <p:nvPr/>
        </p:nvSpPr>
        <p:spPr>
          <a:xfrm>
            <a:off x="548640" y="1143000"/>
            <a:ext cx="11064240" cy="548640"/>
          </a:xfrm>
          <a:prstGeom prst="rect">
            <a:avLst/>
          </a:prstGeom>
          <a:noFill/>
          <a:ln/>
        </p:spPr>
        <p:txBody>
          <a:bodyPr wrap="square" lIns="0" tIns="0" rIns="0" bIns="0" rtlCol="0" anchor="ctr"/>
          <a:lstStyle/>
          <a:p>
            <a:pPr indent="0" marL="0">
              <a:buNone/>
            </a:pPr>
            <a:r>
              <a:rPr lang="en-US" sz="1600" dirty="0">
                <a:solidFill>
                  <a:srgbClr val="556070"/>
                </a:solidFill>
                <a:latin typeface="Calibri" pitchFamily="34" charset="0"/>
                <a:ea typeface="Calibri" pitchFamily="34" charset="-122"/>
                <a:cs typeface="Calibri" pitchFamily="34" charset="-120"/>
              </a:rPr>
              <a:t>Visitors, drivers and walk-up people never sign in. They use an invitation link or the entrance QR. Only staff have accounts.</a:t>
            </a:r>
            <a:endParaRPr lang="en-US" sz="1600" dirty="0"/>
          </a:p>
        </p:txBody>
      </p:sp>
      <p:sp>
        <p:nvSpPr>
          <p:cNvPr id="4" name="Shape 2"/>
          <p:cNvSpPr/>
          <p:nvPr/>
        </p:nvSpPr>
        <p:spPr>
          <a:xfrm>
            <a:off x="548640" y="1828800"/>
            <a:ext cx="5394960" cy="4206240"/>
          </a:xfrm>
          <a:prstGeom prst="roundRect">
            <a:avLst>
              <a:gd name="adj" fmla="val 2609"/>
            </a:avLst>
          </a:prstGeom>
          <a:solidFill>
            <a:srgbClr val="E2F1EC"/>
          </a:solidFill>
          <a:ln w="12700">
            <a:solidFill>
              <a:srgbClr val="2F7F6B"/>
            </a:solidFill>
            <a:prstDash val="solid"/>
          </a:ln>
        </p:spPr>
      </p:sp>
      <p:sp>
        <p:nvSpPr>
          <p:cNvPr id="5" name="Text 3"/>
          <p:cNvSpPr txBox="1"/>
          <p:nvPr/>
        </p:nvSpPr>
        <p:spPr>
          <a:xfrm>
            <a:off x="777240" y="196596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Administrator</a:t>
            </a:r>
            <a:endParaRPr lang="en-US" sz="1700" dirty="0"/>
          </a:p>
        </p:txBody>
      </p:sp>
      <p:sp>
        <p:nvSpPr>
          <p:cNvPr id="6" name="Text 4"/>
          <p:cNvSpPr txBox="1"/>
          <p:nvPr/>
        </p:nvSpPr>
        <p:spPr>
          <a:xfrm>
            <a:off x="777240" y="2377440"/>
            <a:ext cx="4937760" cy="35661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Every screen: Overview, Invitations, People, Companies, Walk-up arrivals, Visits, Gate kiosk, Audit trail, Users and Settings.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Adds people, resends invitations, deactivates and reactivates, and sends password resets.</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Sets how long access lasts for each site.</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Cannot deactivate their own account or the last active administrator.</a:t>
            </a:r>
            <a:endParaRPr lang="en-US" sz="1500" dirty="0"/>
          </a:p>
        </p:txBody>
      </p:sp>
      <p:sp>
        <p:nvSpPr>
          <p:cNvPr id="7" name="Shape 5"/>
          <p:cNvSpPr/>
          <p:nvPr/>
        </p:nvSpPr>
        <p:spPr>
          <a:xfrm>
            <a:off x="6245352" y="1828800"/>
            <a:ext cx="5394960" cy="4206240"/>
          </a:xfrm>
          <a:prstGeom prst="roundRect">
            <a:avLst>
              <a:gd name="adj" fmla="val 2609"/>
            </a:avLst>
          </a:prstGeom>
          <a:solidFill>
            <a:srgbClr val="FBEFD9"/>
          </a:solidFill>
          <a:ln w="12700">
            <a:solidFill>
              <a:srgbClr val="B7791F"/>
            </a:solidFill>
            <a:prstDash val="solid"/>
          </a:ln>
        </p:spPr>
      </p:sp>
      <p:sp>
        <p:nvSpPr>
          <p:cNvPr id="8" name="Text 6"/>
          <p:cNvSpPr txBox="1"/>
          <p:nvPr/>
        </p:nvSpPr>
        <p:spPr>
          <a:xfrm>
            <a:off x="6473952" y="1965960"/>
            <a:ext cx="4937760" cy="365760"/>
          </a:xfrm>
          <a:prstGeom prst="rect">
            <a:avLst/>
          </a:prstGeom>
          <a:noFill/>
          <a:ln/>
        </p:spPr>
        <p:txBody>
          <a:bodyPr wrap="square" lIns="0" tIns="0" rIns="0" bIns="0" rtlCol="0" anchor="ctr"/>
          <a:lstStyle/>
          <a:p>
            <a:pPr indent="0" marL="0">
              <a:buNone/>
            </a:pPr>
            <a:r>
              <a:rPr lang="en-US" sz="1700" b="1" dirty="0">
                <a:solidFill>
                  <a:srgbClr val="573906"/>
                </a:solidFill>
                <a:latin typeface="Calibri" pitchFamily="34" charset="0"/>
                <a:ea typeface="Calibri" pitchFamily="34" charset="-122"/>
                <a:cs typeface="Calibri" pitchFamily="34" charset="-120"/>
              </a:rPr>
              <a:t>Gate operator</a:t>
            </a:r>
            <a:endParaRPr lang="en-US" sz="1700" dirty="0"/>
          </a:p>
        </p:txBody>
      </p:sp>
      <p:sp>
        <p:nvSpPr>
          <p:cNvPr id="9" name="Text 7"/>
          <p:cNvSpPr txBox="1"/>
          <p:nvPr/>
        </p:nvSpPr>
        <p:spPr>
          <a:xfrm>
            <a:off x="6473952" y="2377440"/>
            <a:ext cx="4937760" cy="35661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Uses the Gate kiosk for both paths: check the QR, let in, refuse, record exit.</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Sees the on-site roster and the people they have to check.</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Every action is stored under their own name, so the audit trail says who let someone in.</a:t>
            </a:r>
            <a:endParaRPr lang="en-US" sz="1500" dirty="0"/>
          </a:p>
          <a:p>
            <a:pPr marL="342900" indent="-342900">
              <a:spcAft>
                <a:spcPts val="700"/>
              </a:spcAft>
              <a:buSzPct val="100000"/>
              <a:buChar char="•"/>
            </a:pPr>
            <a:r>
              <a:rPr lang="en-US" sz="1500" dirty="0">
                <a:solidFill>
                  <a:srgbClr val="573906"/>
                </a:solidFill>
                <a:latin typeface="Calibri" pitchFamily="34" charset="0"/>
                <a:ea typeface="Calibri" pitchFamily="34" charset="-122"/>
                <a:cs typeface="Calibri" pitchFamily="34" charset="-120"/>
              </a:rPr>
              <a:t>Planned next: a narrower menu with only the kiosk, and a short idle sign-out at the booth.</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Adding a person, with no shared password</a:t>
            </a:r>
            <a:endParaRPr lang="en-US" sz="3200" dirty="0"/>
          </a:p>
        </p:txBody>
      </p:sp>
      <p:sp>
        <p:nvSpPr>
          <p:cNvPr id="3" name="Shape 1"/>
          <p:cNvSpPr/>
          <p:nvPr/>
        </p:nvSpPr>
        <p:spPr>
          <a:xfrm>
            <a:off x="548640" y="1371600"/>
            <a:ext cx="1984248" cy="3108960"/>
          </a:xfrm>
          <a:prstGeom prst="roundRect">
            <a:avLst>
              <a:gd name="adj" fmla="val 4608"/>
            </a:avLst>
          </a:prstGeom>
          <a:solidFill>
            <a:srgbClr val="E2F1EC"/>
          </a:solidFill>
          <a:ln w="12700">
            <a:solidFill>
              <a:srgbClr val="2F7F6B"/>
            </a:solidFill>
            <a:prstDash val="solid"/>
          </a:ln>
        </p:spPr>
      </p:sp>
      <p:sp>
        <p:nvSpPr>
          <p:cNvPr id="4" name="Shape 2"/>
          <p:cNvSpPr/>
          <p:nvPr/>
        </p:nvSpPr>
        <p:spPr>
          <a:xfrm>
            <a:off x="685800" y="1508760"/>
            <a:ext cx="347472" cy="347472"/>
          </a:xfrm>
          <a:prstGeom prst="ellipse">
            <a:avLst/>
          </a:prstGeom>
          <a:solidFill>
            <a:srgbClr val="2F7F6B"/>
          </a:solidFill>
          <a:ln w="12700">
            <a:solidFill>
              <a:srgbClr val="2F7F6B"/>
            </a:solidFill>
            <a:prstDash val="solid"/>
          </a:ln>
        </p:spPr>
      </p:sp>
      <p:sp>
        <p:nvSpPr>
          <p:cNvPr id="5" name="Text 3"/>
          <p:cNvSpPr txBox="1"/>
          <p:nvPr/>
        </p:nvSpPr>
        <p:spPr>
          <a:xfrm>
            <a:off x="685800"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115568" y="1554480"/>
            <a:ext cx="1325880" cy="256032"/>
          </a:xfrm>
          <a:prstGeom prst="rect">
            <a:avLst/>
          </a:prstGeom>
          <a:noFill/>
          <a:ln/>
        </p:spPr>
        <p:txBody>
          <a:bodyPr wrap="square" lIns="0" tIns="0" rIns="0" bIns="0" rtlCol="0" anchor="ctr"/>
          <a:lstStyle/>
          <a:p>
            <a:pPr indent="0" marL="0">
              <a:buNone/>
            </a:pPr>
            <a:r>
              <a:rPr lang="en-US" sz="1000" b="1" spc="100" kern="0" dirty="0">
                <a:solidFill>
                  <a:srgbClr val="2F7F6B"/>
                </a:solidFill>
                <a:latin typeface="Calibri" pitchFamily="34" charset="0"/>
                <a:ea typeface="Calibri" pitchFamily="34" charset="-122"/>
                <a:cs typeface="Calibri" pitchFamily="34" charset="-120"/>
              </a:rPr>
              <a:t>RENEWI STAFF</a:t>
            </a:r>
            <a:endParaRPr lang="en-US" sz="1000" dirty="0"/>
          </a:p>
        </p:txBody>
      </p:sp>
      <p:sp>
        <p:nvSpPr>
          <p:cNvPr id="7" name="Text 5"/>
          <p:cNvSpPr txBox="1"/>
          <p:nvPr/>
        </p:nvSpPr>
        <p:spPr>
          <a:xfrm>
            <a:off x="685800" y="1938528"/>
            <a:ext cx="1709928" cy="502920"/>
          </a:xfrm>
          <a:prstGeom prst="rect">
            <a:avLst/>
          </a:prstGeom>
          <a:noFill/>
          <a:ln/>
        </p:spPr>
        <p:txBody>
          <a:bodyPr wrap="square" lIns="0" tIns="0" rIns="0" bIns="0" rtlCol="0" anchor="t"/>
          <a:lstStyle/>
          <a:p>
            <a:pPr indent="0" marL="0">
              <a:buNone/>
            </a:pPr>
            <a:r>
              <a:rPr lang="en-US" sz="1500" b="1" dirty="0">
                <a:solidFill>
                  <a:srgbClr val="14463B"/>
                </a:solidFill>
                <a:latin typeface="Calibri" pitchFamily="34" charset="0"/>
                <a:ea typeface="Calibri" pitchFamily="34" charset="-122"/>
                <a:cs typeface="Calibri" pitchFamily="34" charset="-120"/>
              </a:rPr>
              <a:t>An administrator adds them</a:t>
            </a:r>
            <a:endParaRPr lang="en-US" sz="1500" dirty="0"/>
          </a:p>
        </p:txBody>
      </p:sp>
      <p:sp>
        <p:nvSpPr>
          <p:cNvPr id="8" name="Text 6"/>
          <p:cNvSpPr txBox="1"/>
          <p:nvPr/>
        </p:nvSpPr>
        <p:spPr>
          <a:xfrm>
            <a:off x="685800" y="2468880"/>
            <a:ext cx="1709928" cy="1920240"/>
          </a:xfrm>
          <a:prstGeom prst="rect">
            <a:avLst/>
          </a:prstGeom>
          <a:noFill/>
          <a:ln/>
        </p:spPr>
        <p:txBody>
          <a:bodyPr wrap="square" lIns="0" tIns="0" rIns="0" bIns="0" rtlCol="0" anchor="t"/>
          <a:lstStyle/>
          <a:p>
            <a:pPr indent="0" marL="0">
              <a:buNone/>
            </a:pPr>
            <a:r>
              <a:rPr lang="en-US" sz="1300" dirty="0">
                <a:solidFill>
                  <a:srgbClr val="14463B"/>
                </a:solidFill>
                <a:latin typeface="Calibri" pitchFamily="34" charset="0"/>
                <a:ea typeface="Calibri" pitchFamily="34" charset="-122"/>
                <a:cs typeface="Calibri" pitchFamily="34" charset="-120"/>
              </a:rPr>
              <a:t>Users, Add a person: name, work email and role (administrator or gate operator).</a:t>
            </a:r>
            <a:endParaRPr lang="en-US" sz="1300" dirty="0"/>
          </a:p>
        </p:txBody>
      </p:sp>
      <p:sp>
        <p:nvSpPr>
          <p:cNvPr id="9" name="Shape 7"/>
          <p:cNvSpPr/>
          <p:nvPr/>
        </p:nvSpPr>
        <p:spPr>
          <a:xfrm>
            <a:off x="2551176" y="2926080"/>
            <a:ext cx="256032" cy="0"/>
          </a:xfrm>
          <a:prstGeom prst="line">
            <a:avLst/>
          </a:prstGeom>
          <a:noFill/>
          <a:ln w="19050">
            <a:solidFill>
              <a:srgbClr val="6B7482"/>
            </a:solidFill>
            <a:prstDash val="solid"/>
            <a:tailEnd type="triangle"/>
          </a:ln>
        </p:spPr>
      </p:sp>
      <p:sp>
        <p:nvSpPr>
          <p:cNvPr id="10" name="Shape 8"/>
          <p:cNvSpPr/>
          <p:nvPr/>
        </p:nvSpPr>
        <p:spPr>
          <a:xfrm>
            <a:off x="2825496" y="1371600"/>
            <a:ext cx="1984248" cy="3108960"/>
          </a:xfrm>
          <a:prstGeom prst="roundRect">
            <a:avLst>
              <a:gd name="adj" fmla="val 4608"/>
            </a:avLst>
          </a:prstGeom>
          <a:solidFill>
            <a:srgbClr val="ECEEF2"/>
          </a:solidFill>
          <a:ln w="12700">
            <a:solidFill>
              <a:srgbClr val="6B7482"/>
            </a:solidFill>
            <a:prstDash val="solid"/>
          </a:ln>
        </p:spPr>
      </p:sp>
      <p:sp>
        <p:nvSpPr>
          <p:cNvPr id="11" name="Shape 9"/>
          <p:cNvSpPr/>
          <p:nvPr/>
        </p:nvSpPr>
        <p:spPr>
          <a:xfrm>
            <a:off x="2962656" y="1508760"/>
            <a:ext cx="347472" cy="347472"/>
          </a:xfrm>
          <a:prstGeom prst="ellipse">
            <a:avLst/>
          </a:prstGeom>
          <a:solidFill>
            <a:srgbClr val="6B7482"/>
          </a:solidFill>
          <a:ln w="12700">
            <a:solidFill>
              <a:srgbClr val="6B7482"/>
            </a:solidFill>
            <a:prstDash val="solid"/>
          </a:ln>
        </p:spPr>
      </p:sp>
      <p:sp>
        <p:nvSpPr>
          <p:cNvPr id="12" name="Text 10"/>
          <p:cNvSpPr txBox="1"/>
          <p:nvPr/>
        </p:nvSpPr>
        <p:spPr>
          <a:xfrm>
            <a:off x="2962656"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392424" y="1554480"/>
            <a:ext cx="1325880" cy="256032"/>
          </a:xfrm>
          <a:prstGeom prst="rect">
            <a:avLst/>
          </a:prstGeom>
          <a:noFill/>
          <a:ln/>
        </p:spPr>
        <p:txBody>
          <a:bodyPr wrap="square" lIns="0" tIns="0" rIns="0" bIns="0" rtlCol="0" anchor="ctr"/>
          <a:lstStyle/>
          <a:p>
            <a:pPr indent="0" marL="0">
              <a:buNone/>
            </a:pPr>
            <a:r>
              <a:rPr lang="en-US" sz="1000" b="1" spc="100" kern="0" dirty="0">
                <a:solidFill>
                  <a:srgbClr val="6B7482"/>
                </a:solidFill>
                <a:latin typeface="Calibri" pitchFamily="34" charset="0"/>
                <a:ea typeface="Calibri" pitchFamily="34" charset="-122"/>
                <a:cs typeface="Calibri" pitchFamily="34" charset="-120"/>
              </a:rPr>
              <a:t>THE SYSTEM</a:t>
            </a:r>
            <a:endParaRPr lang="en-US" sz="1000" dirty="0"/>
          </a:p>
        </p:txBody>
      </p:sp>
      <p:sp>
        <p:nvSpPr>
          <p:cNvPr id="14" name="Text 12"/>
          <p:cNvSpPr txBox="1"/>
          <p:nvPr/>
        </p:nvSpPr>
        <p:spPr>
          <a:xfrm>
            <a:off x="2962656" y="1938528"/>
            <a:ext cx="1709928" cy="502920"/>
          </a:xfrm>
          <a:prstGeom prst="rect">
            <a:avLst/>
          </a:prstGeom>
          <a:noFill/>
          <a:ln/>
        </p:spPr>
        <p:txBody>
          <a:bodyPr wrap="square" lIns="0" tIns="0" rIns="0" bIns="0" rtlCol="0" anchor="t"/>
          <a:lstStyle/>
          <a:p>
            <a:pPr indent="0" marL="0">
              <a:buNone/>
            </a:pPr>
            <a:r>
              <a:rPr lang="en-US" sz="1500" b="1" dirty="0">
                <a:solidFill>
                  <a:srgbClr val="232831"/>
                </a:solidFill>
                <a:latin typeface="Calibri" pitchFamily="34" charset="0"/>
                <a:ea typeface="Calibri" pitchFamily="34" charset="-122"/>
                <a:cs typeface="Calibri" pitchFamily="34" charset="-120"/>
              </a:rPr>
              <a:t>The invitation is emailed</a:t>
            </a:r>
            <a:endParaRPr lang="en-US" sz="1500" dirty="0"/>
          </a:p>
        </p:txBody>
      </p:sp>
      <p:sp>
        <p:nvSpPr>
          <p:cNvPr id="15" name="Text 13"/>
          <p:cNvSpPr txBox="1"/>
          <p:nvPr/>
        </p:nvSpPr>
        <p:spPr>
          <a:xfrm>
            <a:off x="2962656" y="2468880"/>
            <a:ext cx="1709928" cy="1920240"/>
          </a:xfrm>
          <a:prstGeom prst="rect">
            <a:avLst/>
          </a:prstGeom>
          <a:noFill/>
          <a:ln/>
        </p:spPr>
        <p:txBody>
          <a:bodyPr wrap="square" lIns="0" tIns="0" rIns="0" bIns="0" rtlCol="0" anchor="t"/>
          <a:lstStyle/>
          <a:p>
            <a:pPr indent="0" marL="0">
              <a:buNone/>
            </a:pPr>
            <a:r>
              <a:rPr lang="en-US" sz="1300" dirty="0">
                <a:solidFill>
                  <a:srgbClr val="232831"/>
                </a:solidFill>
                <a:latin typeface="Calibri" pitchFamily="34" charset="0"/>
                <a:ea typeface="Calibri" pitchFamily="34" charset="-122"/>
                <a:cs typeface="Calibri" pitchFamily="34" charset="-120"/>
              </a:rPr>
              <a:t>A one-time link, valid 48 hours. Only a hash of it is stored. The administrator never sees it.</a:t>
            </a:r>
            <a:endParaRPr lang="en-US" sz="1300" dirty="0"/>
          </a:p>
        </p:txBody>
      </p:sp>
      <p:sp>
        <p:nvSpPr>
          <p:cNvPr id="16" name="Shape 14"/>
          <p:cNvSpPr/>
          <p:nvPr/>
        </p:nvSpPr>
        <p:spPr>
          <a:xfrm>
            <a:off x="4828032" y="2926080"/>
            <a:ext cx="256032" cy="0"/>
          </a:xfrm>
          <a:prstGeom prst="line">
            <a:avLst/>
          </a:prstGeom>
          <a:noFill/>
          <a:ln w="19050">
            <a:solidFill>
              <a:srgbClr val="6B7482"/>
            </a:solidFill>
            <a:prstDash val="solid"/>
            <a:tailEnd type="triangle"/>
          </a:ln>
        </p:spPr>
      </p:sp>
      <p:sp>
        <p:nvSpPr>
          <p:cNvPr id="17" name="Shape 15"/>
          <p:cNvSpPr/>
          <p:nvPr/>
        </p:nvSpPr>
        <p:spPr>
          <a:xfrm>
            <a:off x="5102352" y="1371600"/>
            <a:ext cx="1984248" cy="3108960"/>
          </a:xfrm>
          <a:prstGeom prst="roundRect">
            <a:avLst>
              <a:gd name="adj" fmla="val 4608"/>
            </a:avLst>
          </a:prstGeom>
          <a:solidFill>
            <a:srgbClr val="ECE9FA"/>
          </a:solidFill>
          <a:ln w="12700">
            <a:solidFill>
              <a:srgbClr val="6A5BC2"/>
            </a:solidFill>
            <a:prstDash val="solid"/>
          </a:ln>
        </p:spPr>
      </p:sp>
      <p:sp>
        <p:nvSpPr>
          <p:cNvPr id="18" name="Shape 16"/>
          <p:cNvSpPr/>
          <p:nvPr/>
        </p:nvSpPr>
        <p:spPr>
          <a:xfrm>
            <a:off x="5239512" y="1508760"/>
            <a:ext cx="347472" cy="347472"/>
          </a:xfrm>
          <a:prstGeom prst="ellipse">
            <a:avLst/>
          </a:prstGeom>
          <a:solidFill>
            <a:srgbClr val="6A5BC2"/>
          </a:solidFill>
          <a:ln w="12700">
            <a:solidFill>
              <a:srgbClr val="6A5BC2"/>
            </a:solidFill>
            <a:prstDash val="solid"/>
          </a:ln>
        </p:spPr>
      </p:sp>
      <p:sp>
        <p:nvSpPr>
          <p:cNvPr id="19" name="Text 17"/>
          <p:cNvSpPr txBox="1"/>
          <p:nvPr/>
        </p:nvSpPr>
        <p:spPr>
          <a:xfrm>
            <a:off x="5239512"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5669280" y="1554480"/>
            <a:ext cx="1325880" cy="256032"/>
          </a:xfrm>
          <a:prstGeom prst="rect">
            <a:avLst/>
          </a:prstGeom>
          <a:noFill/>
          <a:ln/>
        </p:spPr>
        <p:txBody>
          <a:bodyPr wrap="square" lIns="0" tIns="0" rIns="0" bIns="0" rtlCol="0" anchor="ctr"/>
          <a:lstStyle/>
          <a:p>
            <a:pPr indent="0" marL="0">
              <a:buNone/>
            </a:pPr>
            <a:r>
              <a:rPr lang="en-US" sz="1000" b="1" spc="100" kern="0" dirty="0">
                <a:solidFill>
                  <a:srgbClr val="6A5BC2"/>
                </a:solidFill>
                <a:latin typeface="Calibri" pitchFamily="34" charset="0"/>
                <a:ea typeface="Calibri" pitchFamily="34" charset="-122"/>
                <a:cs typeface="Calibri" pitchFamily="34" charset="-120"/>
              </a:rPr>
              <a:t>THE PERSON</a:t>
            </a:r>
            <a:endParaRPr lang="en-US" sz="1000" dirty="0"/>
          </a:p>
        </p:txBody>
      </p:sp>
      <p:sp>
        <p:nvSpPr>
          <p:cNvPr id="21" name="Text 19"/>
          <p:cNvSpPr txBox="1"/>
          <p:nvPr/>
        </p:nvSpPr>
        <p:spPr>
          <a:xfrm>
            <a:off x="5239512" y="1938528"/>
            <a:ext cx="1709928" cy="502920"/>
          </a:xfrm>
          <a:prstGeom prst="rect">
            <a:avLst/>
          </a:prstGeom>
          <a:noFill/>
          <a:ln/>
        </p:spPr>
        <p:txBody>
          <a:bodyPr wrap="square" lIns="0" tIns="0" rIns="0" bIns="0" rtlCol="0" anchor="t"/>
          <a:lstStyle/>
          <a:p>
            <a:pPr indent="0" marL="0">
              <a:buNone/>
            </a:pPr>
            <a:r>
              <a:rPr lang="en-US" sz="1500" b="1" dirty="0">
                <a:solidFill>
                  <a:srgbClr val="2D2570"/>
                </a:solidFill>
                <a:latin typeface="Calibri" pitchFamily="34" charset="0"/>
                <a:ea typeface="Calibri" pitchFamily="34" charset="-122"/>
                <a:cs typeface="Calibri" pitchFamily="34" charset="-120"/>
              </a:rPr>
              <a:t>They open the link</a:t>
            </a:r>
            <a:endParaRPr lang="en-US" sz="1500" dirty="0"/>
          </a:p>
        </p:txBody>
      </p:sp>
      <p:sp>
        <p:nvSpPr>
          <p:cNvPr id="22" name="Text 20"/>
          <p:cNvSpPr txBox="1"/>
          <p:nvPr/>
        </p:nvSpPr>
        <p:spPr>
          <a:xfrm>
            <a:off x="5239512" y="2468880"/>
            <a:ext cx="1709928" cy="1920240"/>
          </a:xfrm>
          <a:prstGeom prst="rect">
            <a:avLst/>
          </a:prstGeom>
          <a:noFill/>
          <a:ln/>
        </p:spPr>
        <p:txBody>
          <a:bodyPr wrap="square" lIns="0" tIns="0" rIns="0" bIns="0" rtlCol="0" anchor="t"/>
          <a:lstStyle/>
          <a:p>
            <a:pPr indent="0" marL="0">
              <a:buNone/>
            </a:pPr>
            <a:r>
              <a:rPr lang="en-US" sz="1300" dirty="0">
                <a:solidFill>
                  <a:srgbClr val="2D2570"/>
                </a:solidFill>
                <a:latin typeface="Calibri" pitchFamily="34" charset="0"/>
                <a:ea typeface="Calibri" pitchFamily="34" charset="-122"/>
                <a:cs typeface="Calibri" pitchFamily="34" charset="-120"/>
              </a:rPr>
              <a:t>The page shows their name, email and role. The link is removed from the address bar.</a:t>
            </a:r>
            <a:endParaRPr lang="en-US" sz="1300" dirty="0"/>
          </a:p>
        </p:txBody>
      </p:sp>
      <p:sp>
        <p:nvSpPr>
          <p:cNvPr id="23" name="Shape 21"/>
          <p:cNvSpPr/>
          <p:nvPr/>
        </p:nvSpPr>
        <p:spPr>
          <a:xfrm>
            <a:off x="7104888" y="2926080"/>
            <a:ext cx="256032" cy="0"/>
          </a:xfrm>
          <a:prstGeom prst="line">
            <a:avLst/>
          </a:prstGeom>
          <a:noFill/>
          <a:ln w="19050">
            <a:solidFill>
              <a:srgbClr val="6B7482"/>
            </a:solidFill>
            <a:prstDash val="solid"/>
            <a:tailEnd type="triangle"/>
          </a:ln>
        </p:spPr>
      </p:sp>
      <p:sp>
        <p:nvSpPr>
          <p:cNvPr id="24" name="Shape 22"/>
          <p:cNvSpPr/>
          <p:nvPr/>
        </p:nvSpPr>
        <p:spPr>
          <a:xfrm>
            <a:off x="7379208" y="1371600"/>
            <a:ext cx="1984248" cy="3108960"/>
          </a:xfrm>
          <a:prstGeom prst="roundRect">
            <a:avLst>
              <a:gd name="adj" fmla="val 4608"/>
            </a:avLst>
          </a:prstGeom>
          <a:solidFill>
            <a:srgbClr val="ECE9FA"/>
          </a:solidFill>
          <a:ln w="12700">
            <a:solidFill>
              <a:srgbClr val="6A5BC2"/>
            </a:solidFill>
            <a:prstDash val="solid"/>
          </a:ln>
        </p:spPr>
      </p:sp>
      <p:sp>
        <p:nvSpPr>
          <p:cNvPr id="25" name="Shape 23"/>
          <p:cNvSpPr/>
          <p:nvPr/>
        </p:nvSpPr>
        <p:spPr>
          <a:xfrm>
            <a:off x="7516368" y="1508760"/>
            <a:ext cx="347472" cy="347472"/>
          </a:xfrm>
          <a:prstGeom prst="ellipse">
            <a:avLst/>
          </a:prstGeom>
          <a:solidFill>
            <a:srgbClr val="6A5BC2"/>
          </a:solidFill>
          <a:ln w="12700">
            <a:solidFill>
              <a:srgbClr val="6A5BC2"/>
            </a:solidFill>
            <a:prstDash val="solid"/>
          </a:ln>
        </p:spPr>
      </p:sp>
      <p:sp>
        <p:nvSpPr>
          <p:cNvPr id="26" name="Text 24"/>
          <p:cNvSpPr txBox="1"/>
          <p:nvPr/>
        </p:nvSpPr>
        <p:spPr>
          <a:xfrm>
            <a:off x="7516368"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946136" y="1554480"/>
            <a:ext cx="1325880" cy="256032"/>
          </a:xfrm>
          <a:prstGeom prst="rect">
            <a:avLst/>
          </a:prstGeom>
          <a:noFill/>
          <a:ln/>
        </p:spPr>
        <p:txBody>
          <a:bodyPr wrap="square" lIns="0" tIns="0" rIns="0" bIns="0" rtlCol="0" anchor="ctr"/>
          <a:lstStyle/>
          <a:p>
            <a:pPr indent="0" marL="0">
              <a:buNone/>
            </a:pPr>
            <a:r>
              <a:rPr lang="en-US" sz="1000" b="1" spc="100" kern="0" dirty="0">
                <a:solidFill>
                  <a:srgbClr val="6A5BC2"/>
                </a:solidFill>
                <a:latin typeface="Calibri" pitchFamily="34" charset="0"/>
                <a:ea typeface="Calibri" pitchFamily="34" charset="-122"/>
                <a:cs typeface="Calibri" pitchFamily="34" charset="-120"/>
              </a:rPr>
              <a:t>THE PERSON</a:t>
            </a:r>
            <a:endParaRPr lang="en-US" sz="1000" dirty="0"/>
          </a:p>
        </p:txBody>
      </p:sp>
      <p:sp>
        <p:nvSpPr>
          <p:cNvPr id="28" name="Text 26"/>
          <p:cNvSpPr txBox="1"/>
          <p:nvPr/>
        </p:nvSpPr>
        <p:spPr>
          <a:xfrm>
            <a:off x="7516368" y="1938528"/>
            <a:ext cx="1709928" cy="502920"/>
          </a:xfrm>
          <a:prstGeom prst="rect">
            <a:avLst/>
          </a:prstGeom>
          <a:noFill/>
          <a:ln/>
        </p:spPr>
        <p:txBody>
          <a:bodyPr wrap="square" lIns="0" tIns="0" rIns="0" bIns="0" rtlCol="0" anchor="t"/>
          <a:lstStyle/>
          <a:p>
            <a:pPr indent="0" marL="0">
              <a:buNone/>
            </a:pPr>
            <a:r>
              <a:rPr lang="en-US" sz="1500" b="1" dirty="0">
                <a:solidFill>
                  <a:srgbClr val="2D2570"/>
                </a:solidFill>
                <a:latin typeface="Calibri" pitchFamily="34" charset="0"/>
                <a:ea typeface="Calibri" pitchFamily="34" charset="-122"/>
                <a:cs typeface="Calibri" pitchFamily="34" charset="-120"/>
              </a:rPr>
              <a:t>They choose a password</a:t>
            </a:r>
            <a:endParaRPr lang="en-US" sz="1500" dirty="0"/>
          </a:p>
        </p:txBody>
      </p:sp>
      <p:sp>
        <p:nvSpPr>
          <p:cNvPr id="29" name="Text 27"/>
          <p:cNvSpPr txBox="1"/>
          <p:nvPr/>
        </p:nvSpPr>
        <p:spPr>
          <a:xfrm>
            <a:off x="7516368" y="2468880"/>
            <a:ext cx="1709928" cy="1920240"/>
          </a:xfrm>
          <a:prstGeom prst="rect">
            <a:avLst/>
          </a:prstGeom>
          <a:noFill/>
          <a:ln/>
        </p:spPr>
        <p:txBody>
          <a:bodyPr wrap="square" lIns="0" tIns="0" rIns="0" bIns="0" rtlCol="0" anchor="t"/>
          <a:lstStyle/>
          <a:p>
            <a:pPr indent="0" marL="0">
              <a:buNone/>
            </a:pPr>
            <a:r>
              <a:rPr lang="en-US" sz="1300" dirty="0">
                <a:solidFill>
                  <a:srgbClr val="2D2570"/>
                </a:solidFill>
                <a:latin typeface="Calibri" pitchFamily="34" charset="0"/>
                <a:ea typeface="Calibri" pitchFamily="34" charset="-122"/>
                <a:cs typeface="Calibri" pitchFamily="34" charset="-120"/>
              </a:rPr>
              <a:t>At least 12 characters, letters with numbers or symbols, no email name. A weak one keeps the link.</a:t>
            </a:r>
            <a:endParaRPr lang="en-US" sz="1300" dirty="0"/>
          </a:p>
        </p:txBody>
      </p:sp>
      <p:sp>
        <p:nvSpPr>
          <p:cNvPr id="30" name="Shape 28"/>
          <p:cNvSpPr/>
          <p:nvPr/>
        </p:nvSpPr>
        <p:spPr>
          <a:xfrm>
            <a:off x="9381744" y="2926080"/>
            <a:ext cx="256032" cy="0"/>
          </a:xfrm>
          <a:prstGeom prst="line">
            <a:avLst/>
          </a:prstGeom>
          <a:noFill/>
          <a:ln w="19050">
            <a:solidFill>
              <a:srgbClr val="6B7482"/>
            </a:solidFill>
            <a:prstDash val="solid"/>
            <a:tailEnd type="triangle"/>
          </a:ln>
        </p:spPr>
      </p:sp>
      <p:sp>
        <p:nvSpPr>
          <p:cNvPr id="31" name="Shape 29"/>
          <p:cNvSpPr/>
          <p:nvPr/>
        </p:nvSpPr>
        <p:spPr>
          <a:xfrm>
            <a:off x="9656064" y="1371600"/>
            <a:ext cx="1984248" cy="3108960"/>
          </a:xfrm>
          <a:prstGeom prst="roundRect">
            <a:avLst>
              <a:gd name="adj" fmla="val 4608"/>
            </a:avLst>
          </a:prstGeom>
          <a:solidFill>
            <a:srgbClr val="ECEEF2"/>
          </a:solidFill>
          <a:ln w="12700">
            <a:solidFill>
              <a:srgbClr val="6B7482"/>
            </a:solidFill>
            <a:prstDash val="solid"/>
          </a:ln>
        </p:spPr>
      </p:sp>
      <p:sp>
        <p:nvSpPr>
          <p:cNvPr id="32" name="Shape 30"/>
          <p:cNvSpPr/>
          <p:nvPr/>
        </p:nvSpPr>
        <p:spPr>
          <a:xfrm>
            <a:off x="9793224" y="1508760"/>
            <a:ext cx="347472" cy="347472"/>
          </a:xfrm>
          <a:prstGeom prst="ellipse">
            <a:avLst/>
          </a:prstGeom>
          <a:solidFill>
            <a:srgbClr val="6B7482"/>
          </a:solidFill>
          <a:ln w="12700">
            <a:solidFill>
              <a:srgbClr val="6B7482"/>
            </a:solidFill>
            <a:prstDash val="solid"/>
          </a:ln>
        </p:spPr>
      </p:sp>
      <p:sp>
        <p:nvSpPr>
          <p:cNvPr id="33" name="Text 31"/>
          <p:cNvSpPr txBox="1"/>
          <p:nvPr/>
        </p:nvSpPr>
        <p:spPr>
          <a:xfrm>
            <a:off x="9793224" y="1508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4" name="Text 32"/>
          <p:cNvSpPr txBox="1"/>
          <p:nvPr/>
        </p:nvSpPr>
        <p:spPr>
          <a:xfrm>
            <a:off x="10222992" y="1554480"/>
            <a:ext cx="1325880" cy="256032"/>
          </a:xfrm>
          <a:prstGeom prst="rect">
            <a:avLst/>
          </a:prstGeom>
          <a:noFill/>
          <a:ln/>
        </p:spPr>
        <p:txBody>
          <a:bodyPr wrap="square" lIns="0" tIns="0" rIns="0" bIns="0" rtlCol="0" anchor="ctr"/>
          <a:lstStyle/>
          <a:p>
            <a:pPr indent="0" marL="0">
              <a:buNone/>
            </a:pPr>
            <a:r>
              <a:rPr lang="en-US" sz="1000" b="1" spc="100" kern="0" dirty="0">
                <a:solidFill>
                  <a:srgbClr val="6B7482"/>
                </a:solidFill>
                <a:latin typeface="Calibri" pitchFamily="34" charset="0"/>
                <a:ea typeface="Calibri" pitchFamily="34" charset="-122"/>
                <a:cs typeface="Calibri" pitchFamily="34" charset="-120"/>
              </a:rPr>
              <a:t>THE SYSTEM</a:t>
            </a:r>
            <a:endParaRPr lang="en-US" sz="1000" dirty="0"/>
          </a:p>
        </p:txBody>
      </p:sp>
      <p:sp>
        <p:nvSpPr>
          <p:cNvPr id="35" name="Text 33"/>
          <p:cNvSpPr txBox="1"/>
          <p:nvPr/>
        </p:nvSpPr>
        <p:spPr>
          <a:xfrm>
            <a:off x="9793224" y="1938528"/>
            <a:ext cx="1709928" cy="502920"/>
          </a:xfrm>
          <a:prstGeom prst="rect">
            <a:avLst/>
          </a:prstGeom>
          <a:noFill/>
          <a:ln/>
        </p:spPr>
        <p:txBody>
          <a:bodyPr wrap="square" lIns="0" tIns="0" rIns="0" bIns="0" rtlCol="0" anchor="t"/>
          <a:lstStyle/>
          <a:p>
            <a:pPr indent="0" marL="0">
              <a:buNone/>
            </a:pPr>
            <a:r>
              <a:rPr lang="en-US" sz="1500" b="1" dirty="0">
                <a:solidFill>
                  <a:srgbClr val="232831"/>
                </a:solidFill>
                <a:latin typeface="Calibri" pitchFamily="34" charset="0"/>
                <a:ea typeface="Calibri" pitchFamily="34" charset="-122"/>
                <a:cs typeface="Calibri" pitchFamily="34" charset="-120"/>
              </a:rPr>
              <a:t>The account is active</a:t>
            </a:r>
            <a:endParaRPr lang="en-US" sz="1500" dirty="0"/>
          </a:p>
        </p:txBody>
      </p:sp>
      <p:sp>
        <p:nvSpPr>
          <p:cNvPr id="36" name="Text 34"/>
          <p:cNvSpPr txBox="1"/>
          <p:nvPr/>
        </p:nvSpPr>
        <p:spPr>
          <a:xfrm>
            <a:off x="9793224" y="2468880"/>
            <a:ext cx="1709928" cy="1920240"/>
          </a:xfrm>
          <a:prstGeom prst="rect">
            <a:avLst/>
          </a:prstGeom>
          <a:noFill/>
          <a:ln/>
        </p:spPr>
        <p:txBody>
          <a:bodyPr wrap="square" lIns="0" tIns="0" rIns="0" bIns="0" rtlCol="0" anchor="t"/>
          <a:lstStyle/>
          <a:p>
            <a:pPr indent="0" marL="0">
              <a:buNone/>
            </a:pPr>
            <a:r>
              <a:rPr lang="en-US" sz="1300" dirty="0">
                <a:solidFill>
                  <a:srgbClr val="232831"/>
                </a:solidFill>
                <a:latin typeface="Calibri" pitchFamily="34" charset="0"/>
                <a:ea typeface="Calibri" pitchFamily="34" charset="-122"/>
                <a:cs typeface="Calibri" pitchFamily="34" charset="-120"/>
              </a:rPr>
              <a:t>They appear in Users as Active. The audit trail records who invited whom and when it was activated.</a:t>
            </a:r>
            <a:endParaRPr lang="en-US" sz="1300" dirty="0"/>
          </a:p>
        </p:txBody>
      </p:sp>
      <p:sp>
        <p:nvSpPr>
          <p:cNvPr id="37" name="Text 35"/>
          <p:cNvSpPr txBox="1"/>
          <p:nvPr/>
        </p:nvSpPr>
        <p:spPr>
          <a:xfrm>
            <a:off x="548640" y="4846320"/>
            <a:ext cx="11064240" cy="13716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Resend invitation: a new link replaces the old one, which stops working.</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Deactivate: sign-in is blocked at once and their sessions end. The account stays so the audit trail keeps their name.</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Signing in safely</a:t>
            </a:r>
            <a:endParaRPr lang="en-US" sz="3200" dirty="0"/>
          </a:p>
        </p:txBody>
      </p:sp>
      <p:sp>
        <p:nvSpPr>
          <p:cNvPr id="3" name="Shape 1"/>
          <p:cNvSpPr/>
          <p:nvPr/>
        </p:nvSpPr>
        <p:spPr>
          <a:xfrm>
            <a:off x="548640" y="1280160"/>
            <a:ext cx="5394960" cy="4754880"/>
          </a:xfrm>
          <a:prstGeom prst="roundRect">
            <a:avLst>
              <a:gd name="adj" fmla="val 2308"/>
            </a:avLst>
          </a:prstGeom>
          <a:solidFill>
            <a:srgbClr val="ECEEF2"/>
          </a:solidFill>
          <a:ln w="12700">
            <a:solidFill>
              <a:srgbClr val="6B7482"/>
            </a:solidFill>
            <a:prstDash val="solid"/>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232831"/>
                </a:solidFill>
                <a:latin typeface="Calibri" pitchFamily="34" charset="0"/>
                <a:ea typeface="Calibri" pitchFamily="34" charset="-122"/>
                <a:cs typeface="Calibri" pitchFamily="34" charset="-120"/>
              </a:rPr>
              <a:t>What happens</a:t>
            </a:r>
            <a:endParaRPr lang="en-US" sz="1700" dirty="0"/>
          </a:p>
        </p:txBody>
      </p:sp>
      <p:sp>
        <p:nvSpPr>
          <p:cNvPr id="5" name="Text 3"/>
          <p:cNvSpPr txBox="1"/>
          <p:nvPr/>
        </p:nvSpPr>
        <p:spPr>
          <a:xfrm>
            <a:off x="777240"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Staff sign in with their work email and password.</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Five wrong passwords lock the account for 15 minutes. A limit per connection also applies.</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The answer is always the same: invalid email or password, or temporarily locked. It never says which, so it cannot be used to find staff emails.</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A deactivated or not yet activated account cannot sign in.</a:t>
            </a:r>
            <a:endParaRPr lang="en-US" sz="1500" dirty="0"/>
          </a:p>
          <a:p>
            <a:pPr marL="342900" indent="-342900">
              <a:spcAft>
                <a:spcPts val="700"/>
              </a:spcAft>
              <a:buSzPct val="100000"/>
              <a:buChar char="•"/>
            </a:pPr>
            <a:r>
              <a:rPr lang="en-US" sz="1500" dirty="0">
                <a:solidFill>
                  <a:srgbClr val="232831"/>
                </a:solidFill>
                <a:latin typeface="Calibri" pitchFamily="34" charset="0"/>
                <a:ea typeface="Calibri" pitchFamily="34" charset="-122"/>
                <a:cs typeface="Calibri" pitchFamily="34" charset="-120"/>
              </a:rPr>
              <a:t>The session is a signed cookie the page cannot read.</a:t>
            </a:r>
            <a:endParaRPr lang="en-US" sz="1500" dirty="0"/>
          </a:p>
        </p:txBody>
      </p:sp>
      <p:sp>
        <p:nvSpPr>
          <p:cNvPr id="6" name="Shape 4"/>
          <p:cNvSpPr/>
          <p:nvPr/>
        </p:nvSpPr>
        <p:spPr>
          <a:xfrm>
            <a:off x="6245352" y="1280160"/>
            <a:ext cx="5394960" cy="4754880"/>
          </a:xfrm>
          <a:prstGeom prst="roundRect">
            <a:avLst>
              <a:gd name="adj" fmla="val 2308"/>
            </a:avLst>
          </a:prstGeom>
          <a:solidFill>
            <a:srgbClr val="E2F1EC"/>
          </a:solidFill>
          <a:ln w="12700">
            <a:solidFill>
              <a:srgbClr val="2F7F6B"/>
            </a:solidFill>
            <a:prstDash val="solid"/>
          </a:ln>
        </p:spPr>
      </p:sp>
      <p:sp>
        <p:nvSpPr>
          <p:cNvPr id="7" name="Text 5"/>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What is recorded</a:t>
            </a:r>
            <a:endParaRPr lang="en-US" sz="1700" dirty="0"/>
          </a:p>
        </p:txBody>
      </p:sp>
      <p:sp>
        <p:nvSpPr>
          <p:cNvPr id="8" name="Text 6"/>
          <p:cNvSpPr txBox="1"/>
          <p:nvPr/>
        </p:nvSpPr>
        <p:spPr>
          <a:xfrm>
            <a:off x="6473952" y="1828800"/>
            <a:ext cx="4937760" cy="4114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auth.login for every sign-in, with who.</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auth.login_failed for every refused attempt, with the reason.</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auth.locked when an account is locked.</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user.invited, user.activated, user.deactivated, user.reactivated.</a:t>
            </a:r>
            <a:endParaRPr lang="en-US" sz="1500" dirty="0"/>
          </a:p>
          <a:p>
            <a:pPr marL="342900" indent="-342900">
              <a:spcAft>
                <a:spcPts val="700"/>
              </a:spcAft>
              <a:buSzPct val="100000"/>
              <a:buChar char="•"/>
            </a:pPr>
            <a:r>
              <a:rPr lang="en-US" sz="1500" dirty="0">
                <a:solidFill>
                  <a:srgbClr val="14463B"/>
                </a:solidFill>
                <a:latin typeface="Calibri" pitchFamily="34" charset="0"/>
                <a:ea typeface="Calibri" pitchFamily="34" charset="-122"/>
                <a:cs typeface="Calibri" pitchFamily="34" charset="-120"/>
              </a:rPr>
              <a:t>auth.password_reset, auth.password_changed and user.reset_sent.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Forgot password, reset and change</a:t>
            </a:r>
            <a:endParaRPr lang="en-US" sz="3200" dirty="0"/>
          </a:p>
        </p:txBody>
      </p:sp>
      <p:sp>
        <p:nvSpPr>
          <p:cNvPr id="3" name="Shape 1"/>
          <p:cNvSpPr/>
          <p:nvPr/>
        </p:nvSpPr>
        <p:spPr>
          <a:xfrm>
            <a:off x="548640" y="1280160"/>
            <a:ext cx="3566160" cy="4754880"/>
          </a:xfrm>
          <a:prstGeom prst="roundRect">
            <a:avLst>
              <a:gd name="adj" fmla="val 3077"/>
            </a:avLst>
          </a:prstGeom>
          <a:solidFill>
            <a:srgbClr val="ECE9FA"/>
          </a:solidFill>
          <a:ln w="12700">
            <a:solidFill>
              <a:srgbClr val="6A5BC2"/>
            </a:solidFill>
            <a:prstDash val="solid"/>
          </a:ln>
        </p:spPr>
      </p:sp>
      <p:sp>
        <p:nvSpPr>
          <p:cNvPr id="4" name="Text 2"/>
          <p:cNvSpPr txBox="1"/>
          <p:nvPr/>
        </p:nvSpPr>
        <p:spPr>
          <a:xfrm>
            <a:off x="777240" y="1417320"/>
            <a:ext cx="3108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Forgot password</a:t>
            </a:r>
            <a:endParaRPr lang="en-US" sz="1700" dirty="0"/>
          </a:p>
        </p:txBody>
      </p:sp>
      <p:sp>
        <p:nvSpPr>
          <p:cNvPr id="5" name="Text 3"/>
          <p:cNvSpPr txBox="1"/>
          <p:nvPr/>
        </p:nvSpPr>
        <p:spPr>
          <a:xfrm>
            <a:off x="777240"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Enter the email on the sign-in page.</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The page always says: if that email belongs to an account, we sent a link.</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A real account gets a link that works once and lasts 1 hour. At most 3 an hour.</a:t>
            </a:r>
            <a:endParaRPr lang="en-US" sz="1400" dirty="0"/>
          </a:p>
          <a:p>
            <a:pPr marL="342900" indent="-342900">
              <a:spcAft>
                <a:spcPts val="700"/>
              </a:spcAft>
              <a:buSzPct val="100000"/>
              <a:buChar char="•"/>
            </a:pPr>
            <a:r>
              <a:rPr lang="en-US" sz="1400" dirty="0">
                <a:solidFill>
                  <a:srgbClr val="2D2570"/>
                </a:solidFill>
                <a:latin typeface="Calibri" pitchFamily="34" charset="0"/>
                <a:ea typeface="Calibri" pitchFamily="34" charset="-122"/>
                <a:cs typeface="Calibri" pitchFamily="34" charset="-120"/>
              </a:rPr>
              <a:t>A newer link replaces the older one.</a:t>
            </a:r>
            <a:endParaRPr lang="en-US" sz="1400" dirty="0"/>
          </a:p>
        </p:txBody>
      </p:sp>
      <p:sp>
        <p:nvSpPr>
          <p:cNvPr id="6" name="Shape 4"/>
          <p:cNvSpPr/>
          <p:nvPr/>
        </p:nvSpPr>
        <p:spPr>
          <a:xfrm>
            <a:off x="4315968" y="1280160"/>
            <a:ext cx="3566160" cy="4754880"/>
          </a:xfrm>
          <a:prstGeom prst="roundRect">
            <a:avLst>
              <a:gd name="adj" fmla="val 3077"/>
            </a:avLst>
          </a:prstGeom>
          <a:solidFill>
            <a:srgbClr val="E2F1EC"/>
          </a:solidFill>
          <a:ln w="12700">
            <a:solidFill>
              <a:srgbClr val="2F7F6B"/>
            </a:solidFill>
            <a:prstDash val="solid"/>
          </a:ln>
        </p:spPr>
      </p:sp>
      <p:sp>
        <p:nvSpPr>
          <p:cNvPr id="7" name="Text 5"/>
          <p:cNvSpPr txBox="1"/>
          <p:nvPr/>
        </p:nvSpPr>
        <p:spPr>
          <a:xfrm>
            <a:off x="4544568" y="1417320"/>
            <a:ext cx="3108960" cy="365760"/>
          </a:xfrm>
          <a:prstGeom prst="rect">
            <a:avLst/>
          </a:prstGeom>
          <a:noFill/>
          <a:ln/>
        </p:spPr>
        <p:txBody>
          <a:bodyPr wrap="square" lIns="0" tIns="0" rIns="0" bIns="0" rtlCol="0" anchor="ctr"/>
          <a:lstStyle/>
          <a:p>
            <a:pPr indent="0" marL="0">
              <a:buNone/>
            </a:pPr>
            <a:r>
              <a:rPr lang="en-US" sz="1700" b="1" dirty="0">
                <a:solidFill>
                  <a:srgbClr val="14463B"/>
                </a:solidFill>
                <a:latin typeface="Calibri" pitchFamily="34" charset="0"/>
                <a:ea typeface="Calibri" pitchFamily="34" charset="-122"/>
                <a:cs typeface="Calibri" pitchFamily="34" charset="-120"/>
              </a:rPr>
              <a:t>Reset</a:t>
            </a:r>
            <a:endParaRPr lang="en-US" sz="1700" dirty="0"/>
          </a:p>
        </p:txBody>
      </p:sp>
      <p:sp>
        <p:nvSpPr>
          <p:cNvPr id="8" name="Text 6"/>
          <p:cNvSpPr txBox="1"/>
          <p:nvPr/>
        </p:nvSpPr>
        <p:spPr>
          <a:xfrm>
            <a:off x="4544568"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They open the link and choose a new password, with live rules.</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Every open session of that account ends.</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They are emailed: your password was changed.</a:t>
            </a:r>
            <a:endParaRPr lang="en-US" sz="1400" dirty="0"/>
          </a:p>
          <a:p>
            <a:pPr marL="342900" indent="-342900">
              <a:spcAft>
                <a:spcPts val="700"/>
              </a:spcAft>
              <a:buSzPct val="100000"/>
              <a:buChar char="•"/>
            </a:pPr>
            <a:r>
              <a:rPr lang="en-US" sz="1400" dirty="0">
                <a:solidFill>
                  <a:srgbClr val="14463B"/>
                </a:solidFill>
                <a:latin typeface="Calibri" pitchFamily="34" charset="0"/>
                <a:ea typeface="Calibri" pitchFamily="34" charset="-122"/>
                <a:cs typeface="Calibri" pitchFamily="34" charset="-120"/>
              </a:rPr>
              <a:t>An administrator can also press Send password reset. The link goes to the person only.</a:t>
            </a:r>
            <a:endParaRPr lang="en-US" sz="1400" dirty="0"/>
          </a:p>
        </p:txBody>
      </p:sp>
      <p:sp>
        <p:nvSpPr>
          <p:cNvPr id="9" name="Shape 7"/>
          <p:cNvSpPr/>
          <p:nvPr/>
        </p:nvSpPr>
        <p:spPr>
          <a:xfrm>
            <a:off x="8074152" y="1280160"/>
            <a:ext cx="3566160" cy="4754880"/>
          </a:xfrm>
          <a:prstGeom prst="roundRect">
            <a:avLst>
              <a:gd name="adj" fmla="val 3077"/>
            </a:avLst>
          </a:prstGeom>
          <a:solidFill>
            <a:srgbClr val="FBEFD9"/>
          </a:solidFill>
          <a:ln w="12700">
            <a:solidFill>
              <a:srgbClr val="B7791F"/>
            </a:solidFill>
            <a:prstDash val="solid"/>
          </a:ln>
        </p:spPr>
      </p:sp>
      <p:sp>
        <p:nvSpPr>
          <p:cNvPr id="10" name="Text 8"/>
          <p:cNvSpPr txBox="1"/>
          <p:nvPr/>
        </p:nvSpPr>
        <p:spPr>
          <a:xfrm>
            <a:off x="8302752" y="1417320"/>
            <a:ext cx="3108960" cy="365760"/>
          </a:xfrm>
          <a:prstGeom prst="rect">
            <a:avLst/>
          </a:prstGeom>
          <a:noFill/>
          <a:ln/>
        </p:spPr>
        <p:txBody>
          <a:bodyPr wrap="square" lIns="0" tIns="0" rIns="0" bIns="0" rtlCol="0" anchor="ctr"/>
          <a:lstStyle/>
          <a:p>
            <a:pPr indent="0" marL="0">
              <a:buNone/>
            </a:pPr>
            <a:r>
              <a:rPr lang="en-US" sz="1700" b="1" dirty="0">
                <a:solidFill>
                  <a:srgbClr val="573906"/>
                </a:solidFill>
                <a:latin typeface="Calibri" pitchFamily="34" charset="0"/>
                <a:ea typeface="Calibri" pitchFamily="34" charset="-122"/>
                <a:cs typeface="Calibri" pitchFamily="34" charset="-120"/>
              </a:rPr>
              <a:t>Change your own</a:t>
            </a:r>
            <a:endParaRPr lang="en-US" sz="1700" dirty="0"/>
          </a:p>
        </p:txBody>
      </p:sp>
      <p:sp>
        <p:nvSpPr>
          <p:cNvPr id="11" name="Text 9"/>
          <p:cNvSpPr txBox="1"/>
          <p:nvPr/>
        </p:nvSpPr>
        <p:spPr>
          <a:xfrm>
            <a:off x="8302752" y="1828800"/>
            <a:ext cx="3154680" cy="41148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Change password in the sidebar.</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Needs the current password, and a new one that meets the rules.</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This browser stays signed in. Other browsers are signed out.</a:t>
            </a:r>
            <a:endParaRPr lang="en-US" sz="1400" dirty="0"/>
          </a:p>
          <a:p>
            <a:pPr marL="342900" indent="-342900">
              <a:spcAft>
                <a:spcPts val="700"/>
              </a:spcAft>
              <a:buSzPct val="100000"/>
              <a:buChar char="•"/>
            </a:pPr>
            <a:r>
              <a:rPr lang="en-US" sz="1400" dirty="0">
                <a:solidFill>
                  <a:srgbClr val="573906"/>
                </a:solidFill>
                <a:latin typeface="Calibri" pitchFamily="34" charset="0"/>
                <a:ea typeface="Calibri" pitchFamily="34" charset="-122"/>
                <a:cs typeface="Calibri" pitchFamily="34" charset="-120"/>
              </a:rPr>
              <a:t>A notice is emailed.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life-saving rules confirmation</a:t>
            </a:r>
            <a:endParaRPr lang="en-US" sz="32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What is stored when someone confirms</a:t>
            </a:r>
            <a:endParaRPr lang="en-US" sz="1800" dirty="0"/>
          </a:p>
        </p:txBody>
      </p:sp>
      <p:sp>
        <p:nvSpPr>
          <p:cNvPr id="4" name="Shape 2"/>
          <p:cNvSpPr/>
          <p:nvPr/>
        </p:nvSpPr>
        <p:spPr>
          <a:xfrm>
            <a:off x="548640" y="1737360"/>
            <a:ext cx="5852160" cy="896112"/>
          </a:xfrm>
          <a:prstGeom prst="roundRect">
            <a:avLst>
              <a:gd name="adj" fmla="val 10204"/>
            </a:avLst>
          </a:prstGeom>
          <a:solidFill>
            <a:srgbClr val="ECE9FA"/>
          </a:solidFill>
          <a:ln w="12700">
            <a:solidFill>
              <a:srgbClr val="6A5BC2"/>
            </a:solidFill>
            <a:prstDash val="solid"/>
          </a:ln>
        </p:spPr>
      </p:sp>
      <p:sp>
        <p:nvSpPr>
          <p:cNvPr id="5" name="Text 3"/>
          <p:cNvSpPr txBox="1"/>
          <p:nvPr/>
        </p:nvSpPr>
        <p:spPr>
          <a:xfrm>
            <a:off x="777240" y="182880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exact statement they ticked</a:t>
            </a:r>
            <a:endParaRPr lang="en-US" sz="1700" dirty="0"/>
          </a:p>
        </p:txBody>
      </p:sp>
      <p:sp>
        <p:nvSpPr>
          <p:cNvPr id="6" name="Text 4"/>
          <p:cNvSpPr txBox="1"/>
          <p:nvPr/>
        </p:nvSpPr>
        <p:spPr>
          <a:xfrm>
            <a:off x="777240" y="219456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the wording in English or Dutch, as shown</a:t>
            </a:r>
            <a:endParaRPr lang="en-US" sz="1400" dirty="0"/>
          </a:p>
        </p:txBody>
      </p:sp>
      <p:sp>
        <p:nvSpPr>
          <p:cNvPr id="7" name="Shape 5"/>
          <p:cNvSpPr/>
          <p:nvPr/>
        </p:nvSpPr>
        <p:spPr>
          <a:xfrm>
            <a:off x="548640" y="2788920"/>
            <a:ext cx="5852160" cy="896112"/>
          </a:xfrm>
          <a:prstGeom prst="roundRect">
            <a:avLst>
              <a:gd name="adj" fmla="val 10204"/>
            </a:avLst>
          </a:prstGeom>
          <a:solidFill>
            <a:srgbClr val="ECE9FA"/>
          </a:solidFill>
          <a:ln w="12700">
            <a:solidFill>
              <a:srgbClr val="6A5BC2"/>
            </a:solidFill>
            <a:prstDash val="solid"/>
          </a:ln>
        </p:spPr>
      </p:sp>
      <p:sp>
        <p:nvSpPr>
          <p:cNvPr id="8" name="Text 6"/>
          <p:cNvSpPr txBox="1"/>
          <p:nvPr/>
        </p:nvSpPr>
        <p:spPr>
          <a:xfrm>
            <a:off x="777240" y="288036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rules version</a:t>
            </a:r>
            <a:endParaRPr lang="en-US" sz="1700" dirty="0"/>
          </a:p>
        </p:txBody>
      </p:sp>
      <p:sp>
        <p:nvSpPr>
          <p:cNvPr id="9" name="Text 7"/>
          <p:cNvSpPr txBox="1"/>
          <p:nvPr/>
        </p:nvSpPr>
        <p:spPr>
          <a:xfrm>
            <a:off x="777240" y="324612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so a later change to the rules is visible</a:t>
            </a:r>
            <a:endParaRPr lang="en-US" sz="1400" dirty="0"/>
          </a:p>
        </p:txBody>
      </p:sp>
      <p:sp>
        <p:nvSpPr>
          <p:cNvPr id="10" name="Shape 8"/>
          <p:cNvSpPr/>
          <p:nvPr/>
        </p:nvSpPr>
        <p:spPr>
          <a:xfrm>
            <a:off x="548640" y="3840480"/>
            <a:ext cx="5852160" cy="896112"/>
          </a:xfrm>
          <a:prstGeom prst="roundRect">
            <a:avLst>
              <a:gd name="adj" fmla="val 10204"/>
            </a:avLst>
          </a:prstGeom>
          <a:solidFill>
            <a:srgbClr val="ECE9FA"/>
          </a:solidFill>
          <a:ln w="12700">
            <a:solidFill>
              <a:srgbClr val="6A5BC2"/>
            </a:solidFill>
            <a:prstDash val="solid"/>
          </a:ln>
        </p:spPr>
      </p:sp>
      <p:sp>
        <p:nvSpPr>
          <p:cNvPr id="11" name="Text 9"/>
          <p:cNvSpPr txBox="1"/>
          <p:nvPr/>
        </p:nvSpPr>
        <p:spPr>
          <a:xfrm>
            <a:off x="777240" y="393192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time and the method</a:t>
            </a:r>
            <a:endParaRPr lang="en-US" sz="1700" dirty="0"/>
          </a:p>
        </p:txBody>
      </p:sp>
      <p:sp>
        <p:nvSpPr>
          <p:cNvPr id="12" name="Text 10"/>
          <p:cNvSpPr txBox="1"/>
          <p:nvPr/>
        </p:nvSpPr>
        <p:spPr>
          <a:xfrm>
            <a:off x="777240" y="429768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invitation or walk-up QR</a:t>
            </a:r>
            <a:endParaRPr lang="en-US" sz="1400" dirty="0"/>
          </a:p>
        </p:txBody>
      </p:sp>
      <p:sp>
        <p:nvSpPr>
          <p:cNvPr id="13" name="Shape 11"/>
          <p:cNvSpPr/>
          <p:nvPr/>
        </p:nvSpPr>
        <p:spPr>
          <a:xfrm>
            <a:off x="548640" y="4892040"/>
            <a:ext cx="5852160" cy="896112"/>
          </a:xfrm>
          <a:prstGeom prst="roundRect">
            <a:avLst>
              <a:gd name="adj" fmla="val 10204"/>
            </a:avLst>
          </a:prstGeom>
          <a:solidFill>
            <a:srgbClr val="ECE9FA"/>
          </a:solidFill>
          <a:ln w="12700">
            <a:solidFill>
              <a:srgbClr val="6A5BC2"/>
            </a:solidFill>
            <a:prstDash val="solid"/>
          </a:ln>
        </p:spPr>
      </p:sp>
      <p:sp>
        <p:nvSpPr>
          <p:cNvPr id="14" name="Text 12"/>
          <p:cNvSpPr txBox="1"/>
          <p:nvPr/>
        </p:nvSpPr>
        <p:spPr>
          <a:xfrm>
            <a:off x="777240" y="498348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Who the person is</a:t>
            </a:r>
            <a:endParaRPr lang="en-US" sz="1700" dirty="0"/>
          </a:p>
        </p:txBody>
      </p:sp>
      <p:sp>
        <p:nvSpPr>
          <p:cNvPr id="15" name="Text 13"/>
          <p:cNvSpPr txBox="1"/>
          <p:nvPr/>
        </p:nvSpPr>
        <p:spPr>
          <a:xfrm>
            <a:off x="777240" y="534924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linked to their person record</a:t>
            </a:r>
            <a:endParaRPr lang="en-US" sz="1400" dirty="0"/>
          </a:p>
        </p:txBody>
      </p:sp>
      <p:sp>
        <p:nvSpPr>
          <p:cNvPr id="16" name="Shape 14"/>
          <p:cNvSpPr/>
          <p:nvPr/>
        </p:nvSpPr>
        <p:spPr>
          <a:xfrm>
            <a:off x="6766560" y="1737360"/>
            <a:ext cx="4873752" cy="4069080"/>
          </a:xfrm>
          <a:prstGeom prst="roundRect">
            <a:avLst>
              <a:gd name="adj" fmla="val 2697"/>
            </a:avLst>
          </a:prstGeom>
          <a:solidFill>
            <a:srgbClr val="FBEFD9"/>
          </a:solidFill>
          <a:ln w="12700">
            <a:solidFill>
              <a:srgbClr val="B7791F"/>
            </a:solidFill>
            <a:prstDash val="solid"/>
          </a:ln>
        </p:spPr>
      </p:sp>
      <p:sp>
        <p:nvSpPr>
          <p:cNvPr id="17" name="Text 15"/>
          <p:cNvSpPr txBox="1"/>
          <p:nvPr/>
        </p:nvSpPr>
        <p:spPr>
          <a:xfrm>
            <a:off x="7040880" y="1920240"/>
            <a:ext cx="4389120" cy="411480"/>
          </a:xfrm>
          <a:prstGeom prst="rect">
            <a:avLst/>
          </a:prstGeom>
          <a:noFill/>
          <a:ln/>
        </p:spPr>
        <p:txBody>
          <a:bodyPr wrap="square" lIns="0" tIns="0" rIns="0" bIns="0" rtlCol="0" anchor="ctr"/>
          <a:lstStyle/>
          <a:p>
            <a:pPr indent="0" marL="0">
              <a:buNone/>
            </a:pPr>
            <a:r>
              <a:rPr lang="en-US" sz="2000" b="1" dirty="0">
                <a:solidFill>
                  <a:srgbClr val="573906"/>
                </a:solidFill>
                <a:latin typeface="Calibri" pitchFamily="34" charset="0"/>
                <a:ea typeface="Calibri" pitchFamily="34" charset="-122"/>
                <a:cs typeface="Calibri" pitchFamily="34" charset="-120"/>
              </a:rPr>
              <a:t>What the gate does with it</a:t>
            </a:r>
            <a:endParaRPr lang="en-US" sz="2000" dirty="0"/>
          </a:p>
        </p:txBody>
      </p:sp>
      <p:sp>
        <p:nvSpPr>
          <p:cNvPr id="18" name="Text 16"/>
          <p:cNvSpPr txBox="1"/>
          <p:nvPr/>
        </p:nvSpPr>
        <p:spPr>
          <a:xfrm>
            <a:off x="7040880" y="2468880"/>
            <a:ext cx="4389120"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Checks it on every entry, for both paths.</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Refuses entry if it is missing or the rules have changed since.</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Shows the officer the result and the reason before they decide.</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Demo script: planned arrival</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15087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Screen</a:t>
            </a:r>
            <a:endParaRPr lang="en-US" sz="1200" dirty="0"/>
          </a:p>
        </p:txBody>
      </p:sp>
      <p:sp>
        <p:nvSpPr>
          <p:cNvPr id="5" name="Text 3"/>
          <p:cNvSpPr txBox="1"/>
          <p:nvPr/>
        </p:nvSpPr>
        <p:spPr>
          <a:xfrm>
            <a:off x="4389120" y="1188720"/>
            <a:ext cx="72054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Enter or click</a:t>
            </a:r>
            <a:endParaRPr lang="en-US" sz="1200" dirty="0"/>
          </a:p>
        </p:txBody>
      </p:sp>
      <p:sp>
        <p:nvSpPr>
          <p:cNvPr id="6" name="Shape 4"/>
          <p:cNvSpPr/>
          <p:nvPr/>
        </p:nvSpPr>
        <p:spPr>
          <a:xfrm>
            <a:off x="548640" y="1572768"/>
            <a:ext cx="11091672" cy="612648"/>
          </a:xfrm>
          <a:prstGeom prst="roundRect">
            <a:avLst>
              <a:gd name="adj" fmla="val 8955"/>
            </a:avLst>
          </a:prstGeom>
          <a:solidFill>
            <a:srgbClr val="F3F5F7"/>
          </a:solidFill>
          <a:ln w="9525">
            <a:solidFill>
              <a:srgbClr val="E1E5EA"/>
            </a:solidFill>
            <a:prstDash val="solid"/>
          </a:ln>
        </p:spPr>
      </p:sp>
      <p:sp>
        <p:nvSpPr>
          <p:cNvPr id="7" name="Text 5"/>
          <p:cNvSpPr txBox="1"/>
          <p:nvPr/>
        </p:nvSpPr>
        <p:spPr>
          <a:xfrm>
            <a:off x="640080" y="1572768"/>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1  Invite</a:t>
            </a:r>
            <a:endParaRPr lang="en-US" sz="1300" dirty="0"/>
          </a:p>
        </p:txBody>
      </p:sp>
      <p:sp>
        <p:nvSpPr>
          <p:cNvPr id="8" name="Text 6"/>
          <p:cNvSpPr txBox="1"/>
          <p:nvPr/>
        </p:nvSpPr>
        <p:spPr>
          <a:xfrm>
            <a:off x="2743200" y="1572768"/>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Invitations</a:t>
            </a:r>
            <a:endParaRPr lang="en-US" sz="1300" dirty="0"/>
          </a:p>
        </p:txBody>
      </p:sp>
      <p:sp>
        <p:nvSpPr>
          <p:cNvPr id="9" name="Text 7"/>
          <p:cNvSpPr txBox="1"/>
          <p:nvPr/>
        </p:nvSpPr>
        <p:spPr>
          <a:xfrm>
            <a:off x="4389120" y="1572768"/>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Site Vlaardingen, Maintenance contractor, your own email, company Delta Maintenance B.V., purpose Scheduled maintenance support. Keep the pre-filled times.</a:t>
            </a:r>
            <a:endParaRPr lang="en-US" sz="1300" dirty="0"/>
          </a:p>
        </p:txBody>
      </p:sp>
      <p:sp>
        <p:nvSpPr>
          <p:cNvPr id="10" name="Shape 8"/>
          <p:cNvSpPr/>
          <p:nvPr/>
        </p:nvSpPr>
        <p:spPr>
          <a:xfrm>
            <a:off x="548640" y="2249424"/>
            <a:ext cx="11091672" cy="612648"/>
          </a:xfrm>
          <a:prstGeom prst="roundRect">
            <a:avLst>
              <a:gd name="adj" fmla="val 8955"/>
            </a:avLst>
          </a:prstGeom>
          <a:solidFill>
            <a:srgbClr val="FFFFFF"/>
          </a:solidFill>
          <a:ln w="9525">
            <a:solidFill>
              <a:srgbClr val="E1E5EA"/>
            </a:solidFill>
            <a:prstDash val="solid"/>
          </a:ln>
        </p:spPr>
      </p:sp>
      <p:sp>
        <p:nvSpPr>
          <p:cNvPr id="11" name="Text 9"/>
          <p:cNvSpPr txBox="1"/>
          <p:nvPr/>
        </p:nvSpPr>
        <p:spPr>
          <a:xfrm>
            <a:off x="640080" y="2249424"/>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2  Register</a:t>
            </a:r>
            <a:endParaRPr lang="en-US" sz="1300" dirty="0"/>
          </a:p>
        </p:txBody>
      </p:sp>
      <p:sp>
        <p:nvSpPr>
          <p:cNvPr id="12" name="Text 10"/>
          <p:cNvSpPr txBox="1"/>
          <p:nvPr/>
        </p:nvSpPr>
        <p:spPr>
          <a:xfrm>
            <a:off x="2743200" y="2249424"/>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Email link</a:t>
            </a:r>
            <a:endParaRPr lang="en-US" sz="1300" dirty="0"/>
          </a:p>
        </p:txBody>
      </p:sp>
      <p:sp>
        <p:nvSpPr>
          <p:cNvPr id="13" name="Text 11"/>
          <p:cNvSpPr txBox="1"/>
          <p:nvPr/>
        </p:nvSpPr>
        <p:spPr>
          <a:xfrm>
            <a:off x="4389120" y="2249424"/>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Name Demo Participant, ID file demo-id-card.png, expiry 2031-01-01, tick the rules.</a:t>
            </a:r>
            <a:endParaRPr lang="en-US" sz="1300" dirty="0"/>
          </a:p>
        </p:txBody>
      </p:sp>
      <p:sp>
        <p:nvSpPr>
          <p:cNvPr id="14" name="Shape 12"/>
          <p:cNvSpPr/>
          <p:nvPr/>
        </p:nvSpPr>
        <p:spPr>
          <a:xfrm>
            <a:off x="548640" y="2926080"/>
            <a:ext cx="11091672" cy="612648"/>
          </a:xfrm>
          <a:prstGeom prst="roundRect">
            <a:avLst>
              <a:gd name="adj" fmla="val 8955"/>
            </a:avLst>
          </a:prstGeom>
          <a:solidFill>
            <a:srgbClr val="F3F5F7"/>
          </a:solidFill>
          <a:ln w="9525">
            <a:solidFill>
              <a:srgbClr val="E1E5EA"/>
            </a:solidFill>
            <a:prstDash val="solid"/>
          </a:ln>
        </p:spPr>
      </p:sp>
      <p:sp>
        <p:nvSpPr>
          <p:cNvPr id="15" name="Text 13"/>
          <p:cNvSpPr txBox="1"/>
          <p:nvPr/>
        </p:nvSpPr>
        <p:spPr>
          <a:xfrm>
            <a:off x="640080" y="2926080"/>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3  Verify</a:t>
            </a:r>
            <a:endParaRPr lang="en-US" sz="1300" dirty="0"/>
          </a:p>
        </p:txBody>
      </p:sp>
      <p:sp>
        <p:nvSpPr>
          <p:cNvPr id="16" name="Text 14"/>
          <p:cNvSpPr txBox="1"/>
          <p:nvPr/>
        </p:nvSpPr>
        <p:spPr>
          <a:xfrm>
            <a:off x="2743200" y="2926080"/>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Invitations</a:t>
            </a:r>
            <a:endParaRPr lang="en-US" sz="1300" dirty="0"/>
          </a:p>
        </p:txBody>
      </p:sp>
      <p:sp>
        <p:nvSpPr>
          <p:cNvPr id="17" name="Text 15"/>
          <p:cNvSpPr txBox="1"/>
          <p:nvPr/>
        </p:nvSpPr>
        <p:spPr>
          <a:xfrm>
            <a:off x="4389120" y="2926080"/>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Preview the ID, then Verify evidence: name and expiry match.</a:t>
            </a:r>
            <a:endParaRPr lang="en-US" sz="1300" dirty="0"/>
          </a:p>
        </p:txBody>
      </p:sp>
      <p:sp>
        <p:nvSpPr>
          <p:cNvPr id="18" name="Shape 16"/>
          <p:cNvSpPr/>
          <p:nvPr/>
        </p:nvSpPr>
        <p:spPr>
          <a:xfrm>
            <a:off x="548640" y="3602736"/>
            <a:ext cx="11091672" cy="612648"/>
          </a:xfrm>
          <a:prstGeom prst="roundRect">
            <a:avLst>
              <a:gd name="adj" fmla="val 8955"/>
            </a:avLst>
          </a:prstGeom>
          <a:solidFill>
            <a:srgbClr val="FFFFFF"/>
          </a:solidFill>
          <a:ln w="9525">
            <a:solidFill>
              <a:srgbClr val="E1E5EA"/>
            </a:solidFill>
            <a:prstDash val="solid"/>
          </a:ln>
        </p:spPr>
      </p:sp>
      <p:sp>
        <p:nvSpPr>
          <p:cNvPr id="19" name="Text 17"/>
          <p:cNvSpPr txBox="1"/>
          <p:nvPr/>
        </p:nvSpPr>
        <p:spPr>
          <a:xfrm>
            <a:off x="640080" y="3602736"/>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4  Train and approve</a:t>
            </a:r>
            <a:endParaRPr lang="en-US" sz="1300" dirty="0"/>
          </a:p>
        </p:txBody>
      </p:sp>
      <p:sp>
        <p:nvSpPr>
          <p:cNvPr id="20" name="Text 18"/>
          <p:cNvSpPr txBox="1"/>
          <p:nvPr/>
        </p:nvSpPr>
        <p:spPr>
          <a:xfrm>
            <a:off x="2743200" y="3602736"/>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Visits</a:t>
            </a:r>
            <a:endParaRPr lang="en-US" sz="1300" dirty="0"/>
          </a:p>
        </p:txBody>
      </p:sp>
      <p:sp>
        <p:nvSpPr>
          <p:cNvPr id="21" name="Text 19"/>
          <p:cNvSpPr txBox="1"/>
          <p:nvPr/>
        </p:nvSpPr>
        <p:spPr>
          <a:xfrm>
            <a:off x="4389120" y="3602736"/>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Tick SHEQ Basics and Site Rules, Submit, Create approval evaluation, Approve eligible snapshot.</a:t>
            </a:r>
            <a:endParaRPr lang="en-US" sz="1300" dirty="0"/>
          </a:p>
        </p:txBody>
      </p:sp>
      <p:sp>
        <p:nvSpPr>
          <p:cNvPr id="22" name="Shape 20"/>
          <p:cNvSpPr/>
          <p:nvPr/>
        </p:nvSpPr>
        <p:spPr>
          <a:xfrm>
            <a:off x="548640" y="4279392"/>
            <a:ext cx="11091672" cy="612648"/>
          </a:xfrm>
          <a:prstGeom prst="roundRect">
            <a:avLst>
              <a:gd name="adj" fmla="val 8955"/>
            </a:avLst>
          </a:prstGeom>
          <a:solidFill>
            <a:srgbClr val="F3F5F7"/>
          </a:solidFill>
          <a:ln w="9525">
            <a:solidFill>
              <a:srgbClr val="E1E5EA"/>
            </a:solidFill>
            <a:prstDash val="solid"/>
          </a:ln>
        </p:spPr>
      </p:sp>
      <p:sp>
        <p:nvSpPr>
          <p:cNvPr id="23" name="Text 21"/>
          <p:cNvSpPr txBox="1"/>
          <p:nvPr/>
        </p:nvSpPr>
        <p:spPr>
          <a:xfrm>
            <a:off x="640080" y="4279392"/>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5  Issue the QR</a:t>
            </a:r>
            <a:endParaRPr lang="en-US" sz="1300" dirty="0"/>
          </a:p>
        </p:txBody>
      </p:sp>
      <p:sp>
        <p:nvSpPr>
          <p:cNvPr id="24" name="Text 22"/>
          <p:cNvSpPr txBox="1"/>
          <p:nvPr/>
        </p:nvSpPr>
        <p:spPr>
          <a:xfrm>
            <a:off x="2743200" y="4279392"/>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Visits</a:t>
            </a:r>
            <a:endParaRPr lang="en-US" sz="1300" dirty="0"/>
          </a:p>
        </p:txBody>
      </p:sp>
      <p:sp>
        <p:nvSpPr>
          <p:cNvPr id="25" name="Text 23"/>
          <p:cNvSpPr txBox="1"/>
          <p:nvPr/>
        </p:nvSpPr>
        <p:spPr>
          <a:xfrm>
            <a:off x="4389120" y="4279392"/>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Entry now, exit 2.5 hours later. Try 3.5 hours to see the limit. Download the QR.</a:t>
            </a:r>
            <a:endParaRPr lang="en-US" sz="1300" dirty="0"/>
          </a:p>
        </p:txBody>
      </p:sp>
      <p:sp>
        <p:nvSpPr>
          <p:cNvPr id="26" name="Shape 24"/>
          <p:cNvSpPr/>
          <p:nvPr/>
        </p:nvSpPr>
        <p:spPr>
          <a:xfrm>
            <a:off x="548640" y="4956048"/>
            <a:ext cx="11091672" cy="612648"/>
          </a:xfrm>
          <a:prstGeom prst="roundRect">
            <a:avLst>
              <a:gd name="adj" fmla="val 8955"/>
            </a:avLst>
          </a:prstGeom>
          <a:solidFill>
            <a:srgbClr val="FFFFFF"/>
          </a:solidFill>
          <a:ln w="9525">
            <a:solidFill>
              <a:srgbClr val="E1E5EA"/>
            </a:solidFill>
            <a:prstDash val="solid"/>
          </a:ln>
        </p:spPr>
      </p:sp>
      <p:sp>
        <p:nvSpPr>
          <p:cNvPr id="27" name="Text 25"/>
          <p:cNvSpPr txBox="1"/>
          <p:nvPr/>
        </p:nvSpPr>
        <p:spPr>
          <a:xfrm>
            <a:off x="640080" y="4956048"/>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6  Gate</a:t>
            </a:r>
            <a:endParaRPr lang="en-US" sz="1300" dirty="0"/>
          </a:p>
        </p:txBody>
      </p:sp>
      <p:sp>
        <p:nvSpPr>
          <p:cNvPr id="28" name="Text 26"/>
          <p:cNvSpPr txBox="1"/>
          <p:nvPr/>
        </p:nvSpPr>
        <p:spPr>
          <a:xfrm>
            <a:off x="2743200" y="4956048"/>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29" name="Text 27"/>
          <p:cNvSpPr txBox="1"/>
          <p:nvPr/>
        </p:nvSpPr>
        <p:spPr>
          <a:xfrm>
            <a:off x="4389120" y="4956048"/>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Upload the QR, Preview the ID, tick the comparison box, Grant Entry.</a:t>
            </a:r>
            <a:endParaRPr lang="en-US" sz="1300" dirty="0"/>
          </a:p>
        </p:txBody>
      </p:sp>
      <p:sp>
        <p:nvSpPr>
          <p:cNvPr id="30" name="Shape 28"/>
          <p:cNvSpPr/>
          <p:nvPr/>
        </p:nvSpPr>
        <p:spPr>
          <a:xfrm>
            <a:off x="548640" y="5632704"/>
            <a:ext cx="11091672" cy="612648"/>
          </a:xfrm>
          <a:prstGeom prst="roundRect">
            <a:avLst>
              <a:gd name="adj" fmla="val 8955"/>
            </a:avLst>
          </a:prstGeom>
          <a:solidFill>
            <a:srgbClr val="F3F5F7"/>
          </a:solidFill>
          <a:ln w="9525">
            <a:solidFill>
              <a:srgbClr val="E1E5EA"/>
            </a:solidFill>
            <a:prstDash val="solid"/>
          </a:ln>
        </p:spPr>
      </p:sp>
      <p:sp>
        <p:nvSpPr>
          <p:cNvPr id="31" name="Text 29"/>
          <p:cNvSpPr txBox="1"/>
          <p:nvPr/>
        </p:nvSpPr>
        <p:spPr>
          <a:xfrm>
            <a:off x="640080" y="5632704"/>
            <a:ext cx="1920240" cy="612648"/>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7  Dashboard</a:t>
            </a:r>
            <a:endParaRPr lang="en-US" sz="1300" dirty="0"/>
          </a:p>
        </p:txBody>
      </p:sp>
      <p:sp>
        <p:nvSpPr>
          <p:cNvPr id="32" name="Text 30"/>
          <p:cNvSpPr txBox="1"/>
          <p:nvPr/>
        </p:nvSpPr>
        <p:spPr>
          <a:xfrm>
            <a:off x="2743200" y="5632704"/>
            <a:ext cx="1463040"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Overview</a:t>
            </a:r>
            <a:endParaRPr lang="en-US" sz="1300" dirty="0"/>
          </a:p>
        </p:txBody>
      </p:sp>
      <p:sp>
        <p:nvSpPr>
          <p:cNvPr id="33" name="Text 31"/>
          <p:cNvSpPr txBox="1"/>
          <p:nvPr/>
        </p:nvSpPr>
        <p:spPr>
          <a:xfrm>
            <a:off x="4389120" y="5632704"/>
            <a:ext cx="7159752" cy="612648"/>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Planned: on site 1. Then Record exit and watch it drop.</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Demo script: unexpected arrival</a:t>
            </a:r>
            <a:endParaRPr lang="en-US" sz="3200" dirty="0"/>
          </a:p>
        </p:txBody>
      </p:sp>
      <p:sp>
        <p:nvSpPr>
          <p:cNvPr id="3" name="Text 1"/>
          <p:cNvSpPr txBox="1"/>
          <p:nvPr/>
        </p:nvSpPr>
        <p:spPr>
          <a:xfrm>
            <a:off x="64008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Step</a:t>
            </a:r>
            <a:endParaRPr lang="en-US" sz="1200" dirty="0"/>
          </a:p>
        </p:txBody>
      </p:sp>
      <p:sp>
        <p:nvSpPr>
          <p:cNvPr id="4" name="Text 2"/>
          <p:cNvSpPr txBox="1"/>
          <p:nvPr/>
        </p:nvSpPr>
        <p:spPr>
          <a:xfrm>
            <a:off x="2743200" y="1188720"/>
            <a:ext cx="1965960"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Screen</a:t>
            </a:r>
            <a:endParaRPr lang="en-US" sz="1200" dirty="0"/>
          </a:p>
        </p:txBody>
      </p:sp>
      <p:sp>
        <p:nvSpPr>
          <p:cNvPr id="5" name="Text 3"/>
          <p:cNvSpPr txBox="1"/>
          <p:nvPr/>
        </p:nvSpPr>
        <p:spPr>
          <a:xfrm>
            <a:off x="4846320" y="1188720"/>
            <a:ext cx="6748272" cy="347472"/>
          </a:xfrm>
          <a:prstGeom prst="rect">
            <a:avLst/>
          </a:prstGeom>
          <a:noFill/>
          <a:ln/>
        </p:spPr>
        <p:txBody>
          <a:bodyPr wrap="square" lIns="0" tIns="0" rIns="0" bIns="0" rtlCol="0" anchor="ctr"/>
          <a:lstStyle/>
          <a:p>
            <a:pPr indent="0" marL="0">
              <a:buNone/>
            </a:pPr>
            <a:r>
              <a:rPr lang="en-US" sz="1200" b="1" dirty="0">
                <a:solidFill>
                  <a:srgbClr val="556070"/>
                </a:solidFill>
                <a:latin typeface="Calibri" pitchFamily="34" charset="0"/>
                <a:ea typeface="Calibri" pitchFamily="34" charset="-122"/>
                <a:cs typeface="Calibri" pitchFamily="34" charset="-120"/>
              </a:rPr>
              <a:t>Enter or click</a:t>
            </a:r>
            <a:endParaRPr lang="en-US" sz="1200" dirty="0"/>
          </a:p>
        </p:txBody>
      </p:sp>
      <p:sp>
        <p:nvSpPr>
          <p:cNvPr id="6" name="Shape 4"/>
          <p:cNvSpPr/>
          <p:nvPr/>
        </p:nvSpPr>
        <p:spPr>
          <a:xfrm>
            <a:off x="548640" y="1572768"/>
            <a:ext cx="11091672" cy="548640"/>
          </a:xfrm>
          <a:prstGeom prst="roundRect">
            <a:avLst>
              <a:gd name="adj" fmla="val 10000"/>
            </a:avLst>
          </a:prstGeom>
          <a:solidFill>
            <a:srgbClr val="F3F5F7"/>
          </a:solidFill>
          <a:ln w="9525">
            <a:solidFill>
              <a:srgbClr val="E1E5EA"/>
            </a:solidFill>
            <a:prstDash val="solid"/>
          </a:ln>
        </p:spPr>
      </p:sp>
      <p:sp>
        <p:nvSpPr>
          <p:cNvPr id="7" name="Text 5"/>
          <p:cNvSpPr txBox="1"/>
          <p:nvPr/>
        </p:nvSpPr>
        <p:spPr>
          <a:xfrm>
            <a:off x="640080" y="1572768"/>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1  Entrance sign</a:t>
            </a:r>
            <a:endParaRPr lang="en-US" sz="1300" dirty="0"/>
          </a:p>
        </p:txBody>
      </p:sp>
      <p:sp>
        <p:nvSpPr>
          <p:cNvPr id="8" name="Text 6"/>
          <p:cNvSpPr txBox="1"/>
          <p:nvPr/>
        </p:nvSpPr>
        <p:spPr>
          <a:xfrm>
            <a:off x="2743200" y="1572768"/>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Walk-up arrivals</a:t>
            </a:r>
            <a:endParaRPr lang="en-US" sz="1300" dirty="0"/>
          </a:p>
        </p:txBody>
      </p:sp>
      <p:sp>
        <p:nvSpPr>
          <p:cNvPr id="9" name="Text 7"/>
          <p:cNvSpPr txBox="1"/>
          <p:nvPr/>
        </p:nvSpPr>
        <p:spPr>
          <a:xfrm>
            <a:off x="4846320" y="1572768"/>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Show the entrance QR and its link.</a:t>
            </a:r>
            <a:endParaRPr lang="en-US" sz="1300" dirty="0"/>
          </a:p>
        </p:txBody>
      </p:sp>
      <p:sp>
        <p:nvSpPr>
          <p:cNvPr id="10" name="Shape 8"/>
          <p:cNvSpPr/>
          <p:nvPr/>
        </p:nvSpPr>
        <p:spPr>
          <a:xfrm>
            <a:off x="548640" y="2185416"/>
            <a:ext cx="11091672" cy="548640"/>
          </a:xfrm>
          <a:prstGeom prst="roundRect">
            <a:avLst>
              <a:gd name="adj" fmla="val 10000"/>
            </a:avLst>
          </a:prstGeom>
          <a:solidFill>
            <a:srgbClr val="FFFFFF"/>
          </a:solidFill>
          <a:ln w="9525">
            <a:solidFill>
              <a:srgbClr val="E1E5EA"/>
            </a:solidFill>
            <a:prstDash val="solid"/>
          </a:ln>
        </p:spPr>
      </p:sp>
      <p:sp>
        <p:nvSpPr>
          <p:cNvPr id="11" name="Text 9"/>
          <p:cNvSpPr txBox="1"/>
          <p:nvPr/>
        </p:nvSpPr>
        <p:spPr>
          <a:xfrm>
            <a:off x="640080" y="2185416"/>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2  Register</a:t>
            </a:r>
            <a:endParaRPr lang="en-US" sz="1300" dirty="0"/>
          </a:p>
        </p:txBody>
      </p:sp>
      <p:sp>
        <p:nvSpPr>
          <p:cNvPr id="12" name="Text 10"/>
          <p:cNvSpPr txBox="1"/>
          <p:nvPr/>
        </p:nvSpPr>
        <p:spPr>
          <a:xfrm>
            <a:off x="2743200" y="2185416"/>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13" name="Text 11"/>
          <p:cNvSpPr txBox="1"/>
          <p:nvPr/>
        </p:nvSpPr>
        <p:spPr>
          <a:xfrm>
            <a:off x="4846320" y="2185416"/>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Name, company, your email, a category, the ID file and expiry 2031-01-01, preview it, tick the rules.</a:t>
            </a:r>
            <a:endParaRPr lang="en-US" sz="1300" dirty="0"/>
          </a:p>
        </p:txBody>
      </p:sp>
      <p:sp>
        <p:nvSpPr>
          <p:cNvPr id="14" name="Shape 12"/>
          <p:cNvSpPr/>
          <p:nvPr/>
        </p:nvSpPr>
        <p:spPr>
          <a:xfrm>
            <a:off x="548640" y="2798064"/>
            <a:ext cx="11091672" cy="548640"/>
          </a:xfrm>
          <a:prstGeom prst="roundRect">
            <a:avLst>
              <a:gd name="adj" fmla="val 10000"/>
            </a:avLst>
          </a:prstGeom>
          <a:solidFill>
            <a:srgbClr val="F3F5F7"/>
          </a:solidFill>
          <a:ln w="9525">
            <a:solidFill>
              <a:srgbClr val="E1E5EA"/>
            </a:solidFill>
            <a:prstDash val="solid"/>
          </a:ln>
        </p:spPr>
      </p:sp>
      <p:sp>
        <p:nvSpPr>
          <p:cNvPr id="15" name="Text 13"/>
          <p:cNvSpPr txBox="1"/>
          <p:nvPr/>
        </p:nvSpPr>
        <p:spPr>
          <a:xfrm>
            <a:off x="640080" y="2798064"/>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3  Email code</a:t>
            </a:r>
            <a:endParaRPr lang="en-US" sz="1300" dirty="0"/>
          </a:p>
        </p:txBody>
      </p:sp>
      <p:sp>
        <p:nvSpPr>
          <p:cNvPr id="16" name="Text 14"/>
          <p:cNvSpPr txBox="1"/>
          <p:nvPr/>
        </p:nvSpPr>
        <p:spPr>
          <a:xfrm>
            <a:off x="2743200" y="2798064"/>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17" name="Text 15"/>
          <p:cNvSpPr txBox="1"/>
          <p:nvPr/>
        </p:nvSpPr>
        <p:spPr>
          <a:xfrm>
            <a:off x="4846320" y="2798064"/>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Enter the 6-digit code from your inbox. Try a wrong one first.</a:t>
            </a:r>
            <a:endParaRPr lang="en-US" sz="1300" dirty="0"/>
          </a:p>
        </p:txBody>
      </p:sp>
      <p:sp>
        <p:nvSpPr>
          <p:cNvPr id="18" name="Shape 16"/>
          <p:cNvSpPr/>
          <p:nvPr/>
        </p:nvSpPr>
        <p:spPr>
          <a:xfrm>
            <a:off x="548640" y="3410712"/>
            <a:ext cx="11091672" cy="548640"/>
          </a:xfrm>
          <a:prstGeom prst="roundRect">
            <a:avLst>
              <a:gd name="adj" fmla="val 10000"/>
            </a:avLst>
          </a:prstGeom>
          <a:solidFill>
            <a:srgbClr val="FFFFFF"/>
          </a:solidFill>
          <a:ln w="9525">
            <a:solidFill>
              <a:srgbClr val="E1E5EA"/>
            </a:solidFill>
            <a:prstDash val="solid"/>
          </a:ln>
        </p:spPr>
      </p:sp>
      <p:sp>
        <p:nvSpPr>
          <p:cNvPr id="19" name="Text 17"/>
          <p:cNvSpPr txBox="1"/>
          <p:nvPr/>
        </p:nvSpPr>
        <p:spPr>
          <a:xfrm>
            <a:off x="640080" y="3410712"/>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4  Receipt</a:t>
            </a:r>
            <a:endParaRPr lang="en-US" sz="1300" dirty="0"/>
          </a:p>
        </p:txBody>
      </p:sp>
      <p:sp>
        <p:nvSpPr>
          <p:cNvPr id="20" name="Text 18"/>
          <p:cNvSpPr txBox="1"/>
          <p:nvPr/>
        </p:nvSpPr>
        <p:spPr>
          <a:xfrm>
            <a:off x="2743200" y="3410712"/>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Registration page</a:t>
            </a:r>
            <a:endParaRPr lang="en-US" sz="1300" dirty="0"/>
          </a:p>
        </p:txBody>
      </p:sp>
      <p:sp>
        <p:nvSpPr>
          <p:cNvPr id="21" name="Text 19"/>
          <p:cNvSpPr txBox="1"/>
          <p:nvPr/>
        </p:nvSpPr>
        <p:spPr>
          <a:xfrm>
            <a:off x="4846320" y="3410712"/>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QR, 8-character reference, Entry from and Exit by. A copy is emailed.</a:t>
            </a:r>
            <a:endParaRPr lang="en-US" sz="1300" dirty="0"/>
          </a:p>
        </p:txBody>
      </p:sp>
      <p:sp>
        <p:nvSpPr>
          <p:cNvPr id="22" name="Shape 20"/>
          <p:cNvSpPr/>
          <p:nvPr/>
        </p:nvSpPr>
        <p:spPr>
          <a:xfrm>
            <a:off x="548640" y="4023360"/>
            <a:ext cx="11091672" cy="548640"/>
          </a:xfrm>
          <a:prstGeom prst="roundRect">
            <a:avLst>
              <a:gd name="adj" fmla="val 10000"/>
            </a:avLst>
          </a:prstGeom>
          <a:solidFill>
            <a:srgbClr val="F3F5F7"/>
          </a:solidFill>
          <a:ln w="9525">
            <a:solidFill>
              <a:srgbClr val="E1E5EA"/>
            </a:solidFill>
            <a:prstDash val="solid"/>
          </a:ln>
        </p:spPr>
      </p:sp>
      <p:sp>
        <p:nvSpPr>
          <p:cNvPr id="23" name="Text 21"/>
          <p:cNvSpPr txBox="1"/>
          <p:nvPr/>
        </p:nvSpPr>
        <p:spPr>
          <a:xfrm>
            <a:off x="640080" y="4023360"/>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5  Too early</a:t>
            </a:r>
            <a:endParaRPr lang="en-US" sz="1300" dirty="0"/>
          </a:p>
        </p:txBody>
      </p:sp>
      <p:sp>
        <p:nvSpPr>
          <p:cNvPr id="24" name="Text 22"/>
          <p:cNvSpPr txBox="1"/>
          <p:nvPr/>
        </p:nvSpPr>
        <p:spPr>
          <a:xfrm>
            <a:off x="2743200" y="4023360"/>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 top panel</a:t>
            </a:r>
            <a:endParaRPr lang="en-US" sz="1300" dirty="0"/>
          </a:p>
        </p:txBody>
      </p:sp>
      <p:sp>
        <p:nvSpPr>
          <p:cNvPr id="25" name="Text 23"/>
          <p:cNvSpPr txBox="1"/>
          <p:nvPr/>
        </p:nvSpPr>
        <p:spPr>
          <a:xfrm>
            <a:off x="4846320" y="4023360"/>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Type the reference, Check. Do not admit: not valid yet, with the time it opens.</a:t>
            </a:r>
            <a:endParaRPr lang="en-US" sz="1300" dirty="0"/>
          </a:p>
        </p:txBody>
      </p:sp>
      <p:sp>
        <p:nvSpPr>
          <p:cNvPr id="26" name="Shape 24"/>
          <p:cNvSpPr/>
          <p:nvPr/>
        </p:nvSpPr>
        <p:spPr>
          <a:xfrm>
            <a:off x="548640" y="4636008"/>
            <a:ext cx="11091672" cy="548640"/>
          </a:xfrm>
          <a:prstGeom prst="roundRect">
            <a:avLst>
              <a:gd name="adj" fmla="val 10000"/>
            </a:avLst>
          </a:prstGeom>
          <a:solidFill>
            <a:srgbClr val="FFFFFF"/>
          </a:solidFill>
          <a:ln w="9525">
            <a:solidFill>
              <a:srgbClr val="E1E5EA"/>
            </a:solidFill>
            <a:prstDash val="solid"/>
          </a:ln>
        </p:spPr>
      </p:sp>
      <p:sp>
        <p:nvSpPr>
          <p:cNvPr id="27" name="Text 25"/>
          <p:cNvSpPr txBox="1"/>
          <p:nvPr/>
        </p:nvSpPr>
        <p:spPr>
          <a:xfrm>
            <a:off x="640080" y="4636008"/>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6  Open the ID</a:t>
            </a:r>
            <a:endParaRPr lang="en-US" sz="1300" dirty="0"/>
          </a:p>
        </p:txBody>
      </p:sp>
      <p:sp>
        <p:nvSpPr>
          <p:cNvPr id="28" name="Text 26"/>
          <p:cNvSpPr txBox="1"/>
          <p:nvPr/>
        </p:nvSpPr>
        <p:spPr>
          <a:xfrm>
            <a:off x="2743200" y="4636008"/>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29" name="Text 27"/>
          <p:cNvSpPr txBox="1"/>
          <p:nvPr/>
        </p:nvSpPr>
        <p:spPr>
          <a:xfrm>
            <a:off x="4846320" y="4636008"/>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Open the document to compare. Check the expiry.</a:t>
            </a:r>
            <a:endParaRPr lang="en-US" sz="1300" dirty="0"/>
          </a:p>
        </p:txBody>
      </p:sp>
      <p:sp>
        <p:nvSpPr>
          <p:cNvPr id="30" name="Shape 28"/>
          <p:cNvSpPr/>
          <p:nvPr/>
        </p:nvSpPr>
        <p:spPr>
          <a:xfrm>
            <a:off x="548640" y="5248656"/>
            <a:ext cx="11091672" cy="548640"/>
          </a:xfrm>
          <a:prstGeom prst="roundRect">
            <a:avLst>
              <a:gd name="adj" fmla="val 10000"/>
            </a:avLst>
          </a:prstGeom>
          <a:solidFill>
            <a:srgbClr val="F3F5F7"/>
          </a:solidFill>
          <a:ln w="9525">
            <a:solidFill>
              <a:srgbClr val="E1E5EA"/>
            </a:solidFill>
            <a:prstDash val="solid"/>
          </a:ln>
        </p:spPr>
      </p:sp>
      <p:sp>
        <p:nvSpPr>
          <p:cNvPr id="31" name="Text 29"/>
          <p:cNvSpPr txBox="1"/>
          <p:nvPr/>
        </p:nvSpPr>
        <p:spPr>
          <a:xfrm>
            <a:off x="640080" y="5248656"/>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7  Let in</a:t>
            </a:r>
            <a:endParaRPr lang="en-US" sz="1300" dirty="0"/>
          </a:p>
        </p:txBody>
      </p:sp>
      <p:sp>
        <p:nvSpPr>
          <p:cNvPr id="32" name="Text 30"/>
          <p:cNvSpPr txBox="1"/>
          <p:nvPr/>
        </p:nvSpPr>
        <p:spPr>
          <a:xfrm>
            <a:off x="2743200" y="5248656"/>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Gate kiosk</a:t>
            </a:r>
            <a:endParaRPr lang="en-US" sz="1300" dirty="0"/>
          </a:p>
        </p:txBody>
      </p:sp>
      <p:sp>
        <p:nvSpPr>
          <p:cNvPr id="33" name="Text 31"/>
          <p:cNvSpPr txBox="1"/>
          <p:nvPr/>
        </p:nvSpPr>
        <p:spPr>
          <a:xfrm>
            <a:off x="4846320" y="5248656"/>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Check again after the delay, then Let in. Dashboard: unexpected on site +1.</a:t>
            </a:r>
            <a:endParaRPr lang="en-US" sz="1300" dirty="0"/>
          </a:p>
        </p:txBody>
      </p:sp>
      <p:sp>
        <p:nvSpPr>
          <p:cNvPr id="34" name="Shape 32"/>
          <p:cNvSpPr/>
          <p:nvPr/>
        </p:nvSpPr>
        <p:spPr>
          <a:xfrm>
            <a:off x="548640" y="5861304"/>
            <a:ext cx="11091672" cy="548640"/>
          </a:xfrm>
          <a:prstGeom prst="roundRect">
            <a:avLst>
              <a:gd name="adj" fmla="val 10000"/>
            </a:avLst>
          </a:prstGeom>
          <a:solidFill>
            <a:srgbClr val="FFFFFF"/>
          </a:solidFill>
          <a:ln w="9525">
            <a:solidFill>
              <a:srgbClr val="E1E5EA"/>
            </a:solidFill>
            <a:prstDash val="solid"/>
          </a:ln>
        </p:spPr>
      </p:sp>
      <p:sp>
        <p:nvSpPr>
          <p:cNvPr id="35" name="Text 33"/>
          <p:cNvSpPr txBox="1"/>
          <p:nvPr/>
        </p:nvSpPr>
        <p:spPr>
          <a:xfrm>
            <a:off x="640080" y="5861304"/>
            <a:ext cx="1920240" cy="548640"/>
          </a:xfrm>
          <a:prstGeom prst="rect">
            <a:avLst/>
          </a:prstGeom>
          <a:noFill/>
          <a:ln/>
        </p:spPr>
        <p:txBody>
          <a:bodyPr wrap="square" lIns="0" tIns="0" rIns="0" bIns="0" rtlCol="0" anchor="ctr"/>
          <a:lstStyle/>
          <a:p>
            <a:pPr indent="0" marL="0">
              <a:buNone/>
            </a:pPr>
            <a:r>
              <a:rPr lang="en-US" sz="1300" b="1" dirty="0">
                <a:solidFill>
                  <a:srgbClr val="0E3B3F"/>
                </a:solidFill>
                <a:latin typeface="Calibri" pitchFamily="34" charset="0"/>
                <a:ea typeface="Calibri" pitchFamily="34" charset="-122"/>
                <a:cs typeface="Calibri" pitchFamily="34" charset="-120"/>
              </a:rPr>
              <a:t>8  Exit</a:t>
            </a:r>
            <a:endParaRPr lang="en-US" sz="1300" dirty="0"/>
          </a:p>
        </p:txBody>
      </p:sp>
      <p:sp>
        <p:nvSpPr>
          <p:cNvPr id="36" name="Text 34"/>
          <p:cNvSpPr txBox="1"/>
          <p:nvPr/>
        </p:nvSpPr>
        <p:spPr>
          <a:xfrm>
            <a:off x="2743200" y="5861304"/>
            <a:ext cx="1920240"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Roster or kiosk</a:t>
            </a:r>
            <a:endParaRPr lang="en-US" sz="1300" dirty="0"/>
          </a:p>
        </p:txBody>
      </p:sp>
      <p:sp>
        <p:nvSpPr>
          <p:cNvPr id="37" name="Text 35"/>
          <p:cNvSpPr txBox="1"/>
          <p:nvPr/>
        </p:nvSpPr>
        <p:spPr>
          <a:xfrm>
            <a:off x="4846320" y="5861304"/>
            <a:ext cx="6702552" cy="548640"/>
          </a:xfrm>
          <a:prstGeom prst="rect">
            <a:avLst/>
          </a:prstGeom>
          <a:noFill/>
          <a:ln/>
        </p:spPr>
        <p:txBody>
          <a:bodyPr wrap="square" lIns="0" tIns="0" rIns="0" bIns="0" rtlCol="0" anchor="ctr"/>
          <a:lstStyle/>
          <a:p>
            <a:pPr indent="0" marL="0">
              <a:buNone/>
            </a:pPr>
            <a:r>
              <a:rPr lang="en-US" sz="1300" dirty="0">
                <a:solidFill>
                  <a:srgbClr val="1B1F27"/>
                </a:solidFill>
                <a:latin typeface="Calibri" pitchFamily="34" charset="0"/>
                <a:ea typeface="Calibri" pitchFamily="34" charset="-122"/>
                <a:cs typeface="Calibri" pitchFamily="34" charset="-120"/>
              </a:rPr>
              <a:t>Record exit. Then open the audit trail.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works today and what Renewi decides</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822960" y="1463040"/>
            <a:ext cx="4846320" cy="411480"/>
          </a:xfrm>
          <a:prstGeom prst="rect">
            <a:avLst/>
          </a:prstGeom>
          <a:noFill/>
          <a:ln/>
        </p:spPr>
        <p:txBody>
          <a:bodyPr wrap="square" lIns="0" tIns="0" rIns="0" bIns="0" rtlCol="0" anchor="ctr"/>
          <a:lstStyle/>
          <a:p>
            <a:pPr indent="0" marL="0">
              <a:buNone/>
            </a:pPr>
            <a:r>
              <a:rPr lang="en-US" sz="2000" b="1" dirty="0">
                <a:solidFill>
                  <a:srgbClr val="14463B"/>
                </a:solidFill>
                <a:latin typeface="Calibri" pitchFamily="34" charset="0"/>
                <a:ea typeface="Calibri" pitchFamily="34" charset="-122"/>
                <a:cs typeface="Calibri" pitchFamily="34" charset="-120"/>
              </a:rPr>
              <a:t>Working in the demo</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Both paths, end to end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Real emails: invitation, code and entry QR</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Entry and exit times on every QR, set by an admin</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Staff accounts by invitation, sign-in with lockout, reset and change password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Unexpected arrivals upload an ID and its expiry</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Kiosk check, let in, refuse and exit, on both paths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Live dashboard, planned and unexpected, with overdue flags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Full audit trail</a:t>
            </a:r>
            <a:endParaRPr lang="en-US" sz="1700" dirty="0"/>
          </a:p>
        </p:txBody>
      </p:sp>
      <p:sp>
        <p:nvSpPr>
          <p:cNvPr id="6" name="Shape 4"/>
          <p:cNvSpPr/>
          <p:nvPr/>
        </p:nvSpPr>
        <p:spPr>
          <a:xfrm>
            <a:off x="6245352" y="1280160"/>
            <a:ext cx="5394960" cy="4754880"/>
          </a:xfrm>
          <a:prstGeom prst="roundRect">
            <a:avLst>
              <a:gd name="adj" fmla="val 2308"/>
            </a:avLst>
          </a:prstGeom>
          <a:solidFill>
            <a:srgbClr val="FFFFFF"/>
          </a:solidFill>
          <a:ln w="15875">
            <a:solidFill>
              <a:srgbClr val="D85A30"/>
            </a:solidFill>
            <a:prstDash val="dash"/>
          </a:ln>
        </p:spPr>
      </p:sp>
      <p:sp>
        <p:nvSpPr>
          <p:cNvPr id="7" name="Text 5"/>
          <p:cNvSpPr txBox="1"/>
          <p:nvPr/>
        </p:nvSpPr>
        <p:spPr>
          <a:xfrm>
            <a:off x="6519672" y="14630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For Renewi to decide</a:t>
            </a:r>
            <a:endParaRPr lang="en-US" sz="2000" dirty="0"/>
          </a:p>
        </p:txBody>
      </p:sp>
      <p:sp>
        <p:nvSpPr>
          <p:cNvPr id="8" name="Text 6"/>
          <p:cNvSpPr txBox="1"/>
          <p:nvPr/>
        </p:nvSpPr>
        <p:spPr>
          <a:xfrm>
            <a:off x="6519672"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Who may use Path B, and how an arrival is known to be expected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Approved rules wording, with a legal review of the Dutch text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Whether unexpected arrivals must upload an ID (built, and it can be switched off)</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How long records are kept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Staff sign-in: company single sign-on, or accounts inside the app (built, with the authenticator code still to come)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82296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Next steps</a:t>
            </a:r>
            <a:endParaRPr lang="en-US" sz="4000" dirty="0"/>
          </a:p>
        </p:txBody>
      </p:sp>
      <p:sp>
        <p:nvSpPr>
          <p:cNvPr id="3" name="Shape 1"/>
          <p:cNvSpPr/>
          <p:nvPr/>
        </p:nvSpPr>
        <p:spPr>
          <a:xfrm>
            <a:off x="731520" y="2057400"/>
            <a:ext cx="685800" cy="685800"/>
          </a:xfrm>
          <a:prstGeom prst="ellipse">
            <a:avLst/>
          </a:prstGeom>
          <a:solidFill>
            <a:srgbClr val="D85A30"/>
          </a:solidFill>
          <a:ln w="12700">
            <a:solidFill>
              <a:srgbClr val="D85A30"/>
            </a:solidFill>
            <a:prstDash val="solid"/>
          </a:ln>
        </p:spPr>
      </p:sp>
      <p:sp>
        <p:nvSpPr>
          <p:cNvPr id="4" name="Text 2"/>
          <p:cNvSpPr txBox="1"/>
          <p:nvPr/>
        </p:nvSpPr>
        <p:spPr>
          <a:xfrm>
            <a:off x="731520" y="20574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20116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Walk through the demo scripts</a:t>
            </a:r>
            <a:endParaRPr lang="en-US" sz="2400" dirty="0"/>
          </a:p>
        </p:txBody>
      </p:sp>
      <p:sp>
        <p:nvSpPr>
          <p:cNvPr id="6" name="Text 4"/>
          <p:cNvSpPr txBox="1"/>
          <p:nvPr/>
        </p:nvSpPr>
        <p:spPr>
          <a:xfrm>
            <a:off x="1737360" y="24688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Both paths, end to end, with the data on the demo slides.</a:t>
            </a:r>
            <a:endParaRPr lang="en-US" sz="1700" dirty="0"/>
          </a:p>
        </p:txBody>
      </p:sp>
      <p:sp>
        <p:nvSpPr>
          <p:cNvPr id="7" name="Shape 5"/>
          <p:cNvSpPr/>
          <p:nvPr/>
        </p:nvSpPr>
        <p:spPr>
          <a:xfrm>
            <a:off x="731520" y="3429000"/>
            <a:ext cx="685800" cy="685800"/>
          </a:xfrm>
          <a:prstGeom prst="ellipse">
            <a:avLst/>
          </a:prstGeom>
          <a:solidFill>
            <a:srgbClr val="D85A30"/>
          </a:solidFill>
          <a:ln w="12700">
            <a:solidFill>
              <a:srgbClr val="D85A30"/>
            </a:solidFill>
            <a:prstDash val="solid"/>
          </a:ln>
        </p:spPr>
      </p:sp>
      <p:sp>
        <p:nvSpPr>
          <p:cNvPr id="8" name="Text 6"/>
          <p:cNvSpPr txBox="1"/>
          <p:nvPr/>
        </p:nvSpPr>
        <p:spPr>
          <a:xfrm>
            <a:off x="731520" y="3429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1737360" y="33832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Renewi answers the open questions</a:t>
            </a:r>
            <a:endParaRPr lang="en-US" sz="2400" dirty="0"/>
          </a:p>
        </p:txBody>
      </p:sp>
      <p:sp>
        <p:nvSpPr>
          <p:cNvPr id="10" name="Text 8"/>
          <p:cNvSpPr txBox="1"/>
          <p:nvPr/>
        </p:nvSpPr>
        <p:spPr>
          <a:xfrm>
            <a:off x="1737360" y="38404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Who may use Path B, the rules wording, photo ID and record retention.</a:t>
            </a:r>
            <a:endParaRPr lang="en-US" sz="1700" dirty="0"/>
          </a:p>
        </p:txBody>
      </p:sp>
      <p:sp>
        <p:nvSpPr>
          <p:cNvPr id="11" name="Shape 9"/>
          <p:cNvSpPr/>
          <p:nvPr/>
        </p:nvSpPr>
        <p:spPr>
          <a:xfrm>
            <a:off x="731520" y="4800600"/>
            <a:ext cx="685800" cy="685800"/>
          </a:xfrm>
          <a:prstGeom prst="ellipse">
            <a:avLst/>
          </a:prstGeom>
          <a:solidFill>
            <a:srgbClr val="D85A30"/>
          </a:solidFill>
          <a:ln w="12700">
            <a:solidFill>
              <a:srgbClr val="D85A30"/>
            </a:solidFill>
            <a:prstDash val="solid"/>
          </a:ln>
        </p:spPr>
      </p:sp>
      <p:sp>
        <p:nvSpPr>
          <p:cNvPr id="12" name="Text 10"/>
          <p:cNvSpPr txBox="1"/>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1737360" y="47548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Finish staff access and host it</a:t>
            </a:r>
            <a:endParaRPr lang="en-US" sz="2400" dirty="0"/>
          </a:p>
        </p:txBody>
      </p:sp>
      <p:sp>
        <p:nvSpPr>
          <p:cNvPr id="14" name="Text 12"/>
          <p:cNvSpPr txBox="1"/>
          <p:nvPr/>
        </p:nvSpPr>
        <p:spPr>
          <a:xfrm>
            <a:off x="1737360" y="52120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Authenticator code, idle sign-out, gate operator menu, role changes, hosting.</a:t>
            </a:r>
            <a:endParaRPr lang="en-US" sz="1700" dirty="0"/>
          </a:p>
        </p:txBody>
      </p:sp>
    </p:spTree>
  </p:cSld>
  <p:clrMapOvr>
    <a:masterClrMapping/>
  </p:clrMapOvr>
</p:sld>
</file>

<file path=ppt/theme/theme1.xml><?xml version="1.0" encoding="utf-8"?>
<a:theme xmlns:a="http://schemas.openxmlformats.org/drawingml/2006/main" name="Renewi Site Access">
  <a:themeElements>
    <a:clrScheme name="Renewi Site Access">
      <a:dk1>
        <a:srgbClr val="1B1F27"/>
      </a:dk1>
      <a:lt1>
        <a:srgbClr val="FFFFFF"/>
      </a:lt1>
      <a:dk2>
        <a:srgbClr val="0E3B3F"/>
      </a:dk2>
      <a:lt2>
        <a:srgbClr val="F3F5F7"/>
      </a:lt2>
      <a:accent1>
        <a:srgbClr val="2F7F6B"/>
      </a:accent1>
      <a:accent2>
        <a:srgbClr val="6A5BC2"/>
      </a:accent2>
      <a:accent3>
        <a:srgbClr val="6B7482"/>
      </a:accent3>
      <a:accent4>
        <a:srgbClr val="B7791F"/>
      </a:accent4>
      <a:accent5>
        <a:srgbClr val="C0392B"/>
      </a:accent5>
      <a:accent6>
        <a:srgbClr val="D85A30"/>
      </a:accent6>
      <a:hlink>
        <a:srgbClr val="2F7F6B"/>
      </a:hlink>
      <a:folHlink>
        <a:srgbClr val="6A5BC2"/>
      </a:folHlink>
    </a:clrScheme>
    <a:fontScheme name="Renewi Site Access">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&amp; Visitor Site Access: Version 2</dc:title>
  <dc:subject>PptxGenJS Presentation</dc:subject>
  <dc:creator>DigitalT3</dc:creator>
  <cp:lastModifiedBy>DigitalT3</cp:lastModifiedBy>
  <cp:revision>1</cp:revision>
  <dcterms:created xsi:type="dcterms:W3CDTF">2026-10-13T07:42:08Z</dcterms:created>
  <dcterms:modified xsi:type="dcterms:W3CDTF">2026-10-13T07:42:09Z</dcterms:modified>
</cp:coreProperties>
</file>